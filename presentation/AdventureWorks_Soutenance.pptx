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81" r:id="rId4"/>
    <p:sldId id="259" r:id="rId5"/>
    <p:sldId id="290" r:id="rId6"/>
    <p:sldId id="279" r:id="rId7"/>
    <p:sldId id="262" r:id="rId8"/>
    <p:sldId id="263" r:id="rId9"/>
    <p:sldId id="282" r:id="rId10"/>
    <p:sldId id="278" r:id="rId11"/>
    <p:sldId id="287" r:id="rId12"/>
    <p:sldId id="267" r:id="rId13"/>
    <p:sldId id="268" r:id="rId14"/>
    <p:sldId id="269" r:id="rId15"/>
    <p:sldId id="284" r:id="rId16"/>
    <p:sldId id="271" r:id="rId17"/>
    <p:sldId id="273" r:id="rId18"/>
    <p:sldId id="288"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3" d="100"/>
          <a:sy n="83" d="100"/>
        </p:scale>
        <p:origin x="56" y="3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2324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vous présenter mon projet final : une analyse supply chain sur le jeu de données AdventureWorks. L'objectif est de comprendre comment les fournisseurs et les stocks pèsent sur la marge, depuis l'achat jusqu'à la vente.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problématique relie trois maillons de la chaîne : les fournisseurs, le stock et la marge. Pour chacun j'ai défini des indicateurs mesurables. L'idée est de suivre un produit depuis son achat jusqu'à sa vente.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suivi une démarche classique de data analyst en sept étapes. La suite de la présentation reprend exactement cet ordre.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jeu de données couvre trois domaines : achat, produit et vente. Attention aux périodes : les achats vont jusqu'en septembre 2025, les ventes s'arrêtent en juin 2025, et le stock n'est qu'une photo à date. J'en tiens compte dans les analyses.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fichiers bruts n'avaient pas d'en-têtes et certains avaient des séparateurs particuliers. J'ai tout nettoyé avec pandas, chargé dans SQLite, exposé via une API FastAPI, puis exporté en Parquet pour Power BI. L'EDA a validé les 11 contrôles d'intégrité. Point important : le chiffre d'affaires doit intégrer la remise, sinon la marge est fausse sur environ 29 000 lignes. Enfin, dans Power Query, j'ai retiré la table Person et les colonnes techniques : les données personnelles n'étaient pas nécessaires à l'analyse, c'est le principe de minimisation du RGPD.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d'analyser, j'ai classé les 504 produits selon leur flux, à partir des indicateurs makeflag et finishedgoodsflag et de la présence d'achats ou de ventes. C'est essentiel pour la suite : le prix d'achat ne peut être comparé au prix de vente que pour les 76 produits achetés puis revendus.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produit est la seule dimension commune aux achats, au stock et aux ventes : c'est lui qui permet de relier les trois axes. Deux corrections ont été décisives : convertir les dates texte pour relier la table de dates, et ajouter la relation entre détail et en-tête de vente, sans laquelle le CA ne se filtrait ni par pays ni par client.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six indicateurs qui portent l'analyse. La couverture de stock est calculée en jours car c'est plus parlant que la rotation sur trois ans. Le stock étant une photo à date, la couverture se calcule sur toute la période. Le dernier indicateur compare la marge calculée au coût standard et la marge recalculée avec le prix d'achat réel, uniquement sur les produits achetés puis revendus.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Ici je passe sur Power BI pour une démonstration. Chaque page a la même structure : navigation à gauche, filtres Année et Catégorie, six KPI en haut et un sous-titre qui donne le constat de chaque visuel. Le filtre Pays n'existe que sur la page Vente, car les achats et les stocks ne sont pas rattachés à un territoire. Je commence par les pages Achat, Produit et Vente, puis je termine par la Vue d'ensemble qui répond à la problématique.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achats : 63,8 millions sur la période, 86 fournisseurs réellement actifs sur 104 référencés. Le délai est très homogène, autour de 9 jours, et les retards par rapport à la date prévue sont quasi inexistants. La vraie différence entre fournisseurs se joue sur la qualité : le premier fournisseur en volume a un taux de rejet de 5,2 %, et quatre des dix premiers dépassent 5 %. Ces dix premiers appartiennent tous au segment « Gros volumes » issu du clustering, celui qui a le taux de rejet le plus élevé.</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stock représente 20 millions, avec 225 jours de couverture, soit une rotation d'environ 1,6 par an. Les composants sont les plus lents : 436 jours. Les achats ont fortement augmenté en 2024-2025 ; attention, les ventes ne sont disponibles que jusqu'en juin 2025, donc la comparaison sur 2025 est partielle. Enfin, 77 produits sont sous leur seuil de réapprovisionnement et 29 produits finis n'ont jamais été vendus.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ventes atteignent 110 millions de CA net, mais la marge n'est que de 8,5 %. En 2024, le CA progresse de 38 % et la marge de 4,8 points ; au premier semestre 2025, la croissance ralentit à +7 % à période comparable. Le marché est très concentré sur les États-Unis. Le canal en ligne apporte beaucoup de commandes mais de petits paniers ; les revendeurs apportent l'essentiel du chiffre. Certains produits sont vendus à perte, notamment les maillots.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résultat principal. La marge du dashboard est calculée au coût standard. Si je la recalcule avec le prix réellement payé aux fournisseurs, sur les 76 produits revendus, elle passe de 27,7 % à 18,3 %. Les composants, achetés 75 % au-dessus du coût standard, deviennent vendus à perte. Pour les accessoires, l'écart vient des pneus et chambres à air, parfois achetés plus cher que leur prix de vente. Et l'écart se creuse : moins 10,4 points en 2024, moins 14,2 points au premier semestre 2025.</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répondre à la problématique : la performance fournisseur influence la marge surtout par le prix d'achat, pas par le délai. Le stock pèse en immobilisant du capital, en particulier sur les composants. Et côté fournisseurs, le point de vigilance est la qualité plutôt que les délais.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ces constats je tire quatre actions. La première, et la plus rentable, est la renégociation des prix d'achat sur les composants et les pneus. Ensuite un suivi qualité des gros fournisseurs, un ajustement des stocks de composants, et une revue des produits vendus à perte ou jamais vendus.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modèle : une segmentation des 104 fournisseurs du référentiel. Elle est hybride. Le K-Means porte sur les 79 fournisseurs ayant au moins 30 lignes d'achat, pour que les taux soient fiables, avec quatre variables standardisées : taux de rejet, taux de réception, quantité moyenne par ligne et nombre de produits. Il fait ressortir trois profils, dont 44 fournisseurs spécialisés à gros volumes qui ont le taux de rejet le plus élevé. Les 25 autres sont classés par règle métier : 18 n'ont jamais reçu de commande, 7 ont un historique trop court. Cette segmentation est reprise dans le dashboard, page Achat.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veux être transparente sur les limites. La plus importante : la marge est calculée au coût standard, fixe. J'ai essayé d'intégrer la nomenclature BillOfMaterials pour calculer un coût matière réel par vélo, mais les achats sont exprimés en cartons et la nomenclature en unités, sans facteur de conversion : le résultat était inexploitable. Avec ces données supplémentaires, on pourrait relier directement le prix des composants à la marge des vélos.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pour votre attention. Je suis disponible pour vos questions, et je peux rouvrir le dashboard si vous souhaitez voir un point en détail.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1F2A2E"/>
                </a:solidFill>
                <a:latin typeface="Rubik" pitchFamily="34" charset="0"/>
                <a:ea typeface="Rubik" pitchFamily="34" charset="-122"/>
                <a:cs typeface="Rubi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99841"/>
            <a:ext cx="10566400" cy="4145359"/>
          </a:xfrm>
          <a:prstGeom prst="rect">
            <a:avLst/>
          </a:prstGeom>
          <a:noFill/>
          <a:ln/>
        </p:spPr>
        <p:txBody>
          <a:bodyPr wrap="square" lIns="0" tIns="0" rIns="0" bIns="0" rtlCol="0" anchor="t"/>
          <a:lstStyle>
            <a:lvl1pPr marL="0" indent="0" algn="l">
              <a:lnSpc>
                <a:spcPct val="140000"/>
              </a:lnSpc>
              <a:buNone/>
              <a:defRPr lang="en-US" sz="1600" dirty="0">
                <a:solidFill>
                  <a:srgbClr val="1F2A2E"/>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1F2A2E"/>
                </a:solidFill>
                <a:latin typeface="Rubik" pitchFamily="34" charset="0"/>
                <a:ea typeface="Rubik" pitchFamily="34" charset="-122"/>
                <a:cs typeface="Rubi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99841"/>
            <a:ext cx="10566400" cy="4145359"/>
          </a:xfrm>
          <a:prstGeom prst="rect">
            <a:avLst/>
          </a:prstGeom>
          <a:noFill/>
          <a:ln/>
        </p:spPr>
        <p:txBody>
          <a:bodyPr wrap="square" lIns="0" tIns="0" rIns="0" bIns="0" rtlCol="0" anchor="t"/>
          <a:lstStyle>
            <a:lvl1pPr marL="0" indent="0" algn="l">
              <a:lnSpc>
                <a:spcPct val="140000"/>
              </a:lnSpc>
              <a:buNone/>
              <a:defRPr lang="en-US" sz="1600" dirty="0">
                <a:solidFill>
                  <a:srgbClr val="1F2A2E"/>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B4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7DBE9A"/>
                </a:solidFill>
                <a:latin typeface="IBM Plex Sans" pitchFamily="34" charset="0"/>
                <a:ea typeface="IBM Plex Sans" pitchFamily="34" charset="-122"/>
                <a:cs typeface="IBM Plex Sans" pitchFamily="34" charset="-120"/>
              </a:rPr>
              <a:t>PROJET FINAL · WILD CODE SCHOOL</a:t>
            </a:r>
            <a:endParaRPr lang="en-US" sz="1400" dirty="0"/>
          </a:p>
        </p:txBody>
      </p:sp>
      <p:sp>
        <p:nvSpPr>
          <p:cNvPr id="3" name="Shape 1"/>
          <p:cNvSpPr/>
          <p:nvPr/>
        </p:nvSpPr>
        <p:spPr>
          <a:xfrm>
            <a:off x="812800" y="1214090"/>
            <a:ext cx="762000" cy="50800"/>
          </a:xfrm>
          <a:prstGeom prst="roundRect">
            <a:avLst>
              <a:gd name="adj" fmla="val 50000"/>
            </a:avLst>
          </a:prstGeom>
          <a:solidFill>
            <a:srgbClr val="7DBE9A"/>
          </a:solidFill>
          <a:ln/>
        </p:spPr>
        <p:txBody>
          <a:bodyPr/>
          <a:lstStyle/>
          <a:p>
            <a:endParaRPr lang="fr-FR"/>
          </a:p>
        </p:txBody>
      </p:sp>
      <p:sp>
        <p:nvSpPr>
          <p:cNvPr id="4" name="Text 2"/>
          <p:cNvSpPr>
            <a:spLocks noGrp="1"/>
          </p:cNvSpPr>
          <p:nvPr>
            <p:ph type="title"/>
          </p:nvPr>
        </p:nvSpPr>
        <p:spPr>
          <a:xfrm>
            <a:off x="812800" y="2636540"/>
            <a:ext cx="10883392" cy="1254720"/>
          </a:xfrm>
          <a:prstGeom prst="rect">
            <a:avLst/>
          </a:prstGeom>
          <a:noFill/>
          <a:ln/>
        </p:spPr>
        <p:txBody>
          <a:bodyPr wrap="square" lIns="0" tIns="0" rIns="0" bIns="0" rtlCol="0" anchor="t">
            <a:normAutofit/>
          </a:bodyPr>
          <a:lstStyle/>
          <a:p>
            <a:pPr marL="0" indent="0" algn="l">
              <a:lnSpc>
                <a:spcPts val="4840"/>
              </a:lnSpc>
              <a:buNone/>
            </a:pPr>
            <a:r>
              <a:rPr lang="en-US" sz="4400" b="1" i="0" dirty="0">
                <a:solidFill>
                  <a:srgbClr val="F4F6F5"/>
                </a:solidFill>
                <a:latin typeface="Rubik" pitchFamily="34" charset="0"/>
                <a:ea typeface="Rubik" pitchFamily="34" charset="-122"/>
                <a:cs typeface="Rubik" pitchFamily="34" charset="-120"/>
              </a:rPr>
              <a:t>Performance fournisseurs, </a:t>
            </a:r>
            <a:br>
              <a:rPr lang="en-US" sz="4400" b="1" i="0" dirty="0">
                <a:solidFill>
                  <a:srgbClr val="F4F6F5"/>
                </a:solidFill>
                <a:latin typeface="Rubik" pitchFamily="34" charset="0"/>
                <a:ea typeface="Rubik" pitchFamily="34" charset="-122"/>
                <a:cs typeface="Rubik" pitchFamily="34" charset="-120"/>
              </a:rPr>
            </a:br>
            <a:r>
              <a:rPr lang="en-US" sz="4400" b="1" i="0" dirty="0">
                <a:solidFill>
                  <a:srgbClr val="F4F6F5"/>
                </a:solidFill>
                <a:latin typeface="Rubik" pitchFamily="34" charset="0"/>
                <a:ea typeface="Rubik" pitchFamily="34" charset="-122"/>
                <a:cs typeface="Rubik" pitchFamily="34" charset="-120"/>
              </a:rPr>
              <a:t>rotation des stocks et marge commerciale</a:t>
            </a:r>
            <a:endParaRPr lang="en-US" sz="4400" dirty="0"/>
          </a:p>
        </p:txBody>
      </p:sp>
      <p:sp>
        <p:nvSpPr>
          <p:cNvPr id="5" name="Text 3"/>
          <p:cNvSpPr/>
          <p:nvPr/>
        </p:nvSpPr>
        <p:spPr>
          <a:xfrm>
            <a:off x="812800" y="4577060"/>
            <a:ext cx="10883392" cy="34543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FD8D5"/>
                </a:solidFill>
                <a:latin typeface="IBM Plex Sans" pitchFamily="34" charset="0"/>
                <a:ea typeface="IBM Plex Sans" pitchFamily="34" charset="-122"/>
                <a:cs typeface="IBM Plex Sans" pitchFamily="34" charset="-120"/>
              </a:rPr>
              <a:t>Analyse supply chain AdventureWorks — de l'achat jusqu'à la vente</a:t>
            </a:r>
            <a:endParaRPr lang="en-US" sz="1800" dirty="0"/>
          </a:p>
        </p:txBody>
      </p:sp>
      <p:sp>
        <p:nvSpPr>
          <p:cNvPr id="6" name="Text 4"/>
          <p:cNvSpPr/>
          <p:nvPr/>
        </p:nvSpPr>
        <p:spPr>
          <a:xfrm>
            <a:off x="812800" y="5760740"/>
            <a:ext cx="3389888" cy="309860"/>
          </a:xfrm>
          <a:prstGeom prst="rect">
            <a:avLst/>
          </a:prstGeom>
          <a:noFill/>
          <a:ln/>
        </p:spPr>
        <p:txBody>
          <a:bodyPr wrap="square" lIns="0" tIns="0" rIns="0" bIns="0" rtlCol="0" anchor="t">
            <a:normAutofit/>
          </a:bodyPr>
          <a:lstStyle/>
          <a:p>
            <a:pPr marL="0" indent="0" algn="l">
              <a:lnSpc>
                <a:spcPts val="2240"/>
              </a:lnSpc>
              <a:buNone/>
            </a:pPr>
            <a:endParaRPr lang="en-US" sz="1600" dirty="0"/>
          </a:p>
        </p:txBody>
      </p:sp>
      <p:sp>
        <p:nvSpPr>
          <p:cNvPr id="7" name="Text 5"/>
          <p:cNvSpPr/>
          <p:nvPr/>
        </p:nvSpPr>
        <p:spPr>
          <a:xfrm>
            <a:off x="5035788" y="5796310"/>
            <a:ext cx="6343412" cy="274290"/>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BFD8D5"/>
                </a:solidFill>
                <a:latin typeface="IBM Plex Sans" pitchFamily="34" charset="0"/>
                <a:ea typeface="IBM Plex Sans" pitchFamily="34" charset="-122"/>
                <a:cs typeface="IBM Plex Sans" pitchFamily="34" charset="-120"/>
              </a:rPr>
              <a:t>Concepteur Développeur en IA et Analyse Big Data · Octobre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D6E"/>
                </a:solidFill>
                <a:latin typeface="IBM Plex Sans" pitchFamily="34" charset="0"/>
                <a:ea typeface="IBM Plex Sans" pitchFamily="34" charset="-122"/>
                <a:cs typeface="IBM Plex Sans" pitchFamily="34" charset="-120"/>
              </a:rPr>
              <a:t>PROBLÉMATIQUE</a:t>
            </a:r>
            <a:endParaRPr lang="en-US" sz="1200" dirty="0"/>
          </a:p>
        </p:txBody>
      </p:sp>
      <p:sp>
        <p:nvSpPr>
          <p:cNvPr id="3" name="Text 1"/>
          <p:cNvSpPr>
            <a:spLocks noGrp="1"/>
          </p:cNvSpPr>
          <p:nvPr>
            <p:ph type="title"/>
          </p:nvPr>
        </p:nvSpPr>
        <p:spPr>
          <a:xfrm>
            <a:off x="812800" y="1178520"/>
            <a:ext cx="10883392" cy="1305471"/>
          </a:xfrm>
          <a:prstGeom prst="rect">
            <a:avLst/>
          </a:prstGeom>
          <a:noFill/>
          <a:ln/>
        </p:spPr>
        <p:txBody>
          <a:bodyPr wrap="square" lIns="0" tIns="0" rIns="0" bIns="0" rtlCol="0" anchor="t">
            <a:normAutofit/>
          </a:bodyPr>
          <a:lstStyle/>
          <a:p>
            <a:pPr marL="0" indent="0" algn="l">
              <a:lnSpc>
                <a:spcPts val="3360"/>
              </a:lnSpc>
              <a:buNone/>
            </a:pPr>
            <a:r>
              <a:rPr lang="en-US" sz="2800" b="0" i="0" dirty="0">
                <a:solidFill>
                  <a:srgbClr val="1F2A2E"/>
                </a:solidFill>
                <a:latin typeface="Rubik" pitchFamily="34" charset="0"/>
                <a:ea typeface="Rubik" pitchFamily="34" charset="-122"/>
                <a:cs typeface="Rubik" pitchFamily="34" charset="-120"/>
              </a:rPr>
              <a:t>« Comment la performance des fournisseurs et la rotation des stocks influencent-elles la marge commerciale, de l'achat jusqu'à la vente ? »</a:t>
            </a:r>
            <a:endParaRPr lang="en-US" sz="2800" dirty="0"/>
          </a:p>
        </p:txBody>
      </p:sp>
      <p:sp>
        <p:nvSpPr>
          <p:cNvPr id="4" name="Shape 2"/>
          <p:cNvSpPr/>
          <p:nvPr/>
        </p:nvSpPr>
        <p:spPr>
          <a:xfrm>
            <a:off x="815975" y="2817366"/>
            <a:ext cx="3075484" cy="2038251"/>
          </a:xfrm>
          <a:prstGeom prst="roundRect">
            <a:avLst>
              <a:gd name="adj" fmla="val 4829"/>
            </a:avLst>
          </a:prstGeom>
          <a:solidFill>
            <a:srgbClr val="FBFCFB"/>
          </a:solidFill>
          <a:ln w="6350">
            <a:solidFill>
              <a:srgbClr val="DCE3E0"/>
            </a:solidFill>
            <a:prstDash val="solid"/>
          </a:ln>
        </p:spPr>
        <p:txBody>
          <a:bodyPr/>
          <a:lstStyle/>
          <a:p>
            <a:endParaRPr lang="fr-FR"/>
          </a:p>
        </p:txBody>
      </p:sp>
      <p:sp>
        <p:nvSpPr>
          <p:cNvPr id="5" name="Text 3"/>
          <p:cNvSpPr/>
          <p:nvPr/>
        </p:nvSpPr>
        <p:spPr>
          <a:xfrm>
            <a:off x="1073150" y="3074541"/>
            <a:ext cx="263796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5D6E"/>
                </a:solidFill>
                <a:latin typeface="IBM Plex Sans" pitchFamily="34" charset="0"/>
                <a:ea typeface="IBM Plex Sans" pitchFamily="34" charset="-122"/>
                <a:cs typeface="IBM Plex Sans" pitchFamily="34" charset="-120"/>
              </a:rPr>
              <a:t>AXE 1</a:t>
            </a:r>
            <a:endParaRPr lang="en-US" sz="1200" dirty="0"/>
          </a:p>
        </p:txBody>
      </p:sp>
      <p:sp>
        <p:nvSpPr>
          <p:cNvPr id="6" name="Text 4"/>
          <p:cNvSpPr/>
          <p:nvPr/>
        </p:nvSpPr>
        <p:spPr>
          <a:xfrm>
            <a:off x="1073150" y="3389461"/>
            <a:ext cx="2637968"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F2A2E"/>
                </a:solidFill>
                <a:latin typeface="Rubik" pitchFamily="34" charset="0"/>
                <a:ea typeface="Rubik" pitchFamily="34" charset="-122"/>
                <a:cs typeface="Rubik" pitchFamily="34" charset="-120"/>
              </a:rPr>
              <a:t>Performance fournisseurs</a:t>
            </a:r>
            <a:endParaRPr lang="en-US" sz="2000" dirty="0"/>
          </a:p>
        </p:txBody>
      </p:sp>
      <p:sp>
        <p:nvSpPr>
          <p:cNvPr id="7" name="Text 5"/>
          <p:cNvSpPr/>
          <p:nvPr/>
        </p:nvSpPr>
        <p:spPr>
          <a:xfrm>
            <a:off x="1073150" y="4100661"/>
            <a:ext cx="2637968"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1"/>
                </a:solidFill>
                <a:latin typeface="IBM Plex Sans" pitchFamily="34" charset="0"/>
                <a:ea typeface="IBM Plex Sans" pitchFamily="34" charset="-122"/>
                <a:cs typeface="IBM Plex Sans" pitchFamily="34" charset="-120"/>
              </a:rPr>
              <a:t>Délai de livraison, taux de rejet, prix d'achat réel</a:t>
            </a:r>
            <a:endParaRPr lang="en-US" sz="1400" dirty="0"/>
          </a:p>
        </p:txBody>
      </p:sp>
      <p:pic>
        <p:nvPicPr>
          <p:cNvPr id="8" name="Image 0" descr="connector"/>
          <p:cNvPicPr>
            <a:picLocks noChangeAspect="1"/>
          </p:cNvPicPr>
          <p:nvPr/>
        </p:nvPicPr>
        <p:blipFill>
          <a:blip r:embed="rId3"/>
          <a:srcRect/>
          <a:stretch/>
        </p:blipFill>
        <p:spPr>
          <a:xfrm>
            <a:off x="4047034" y="2814191"/>
            <a:ext cx="355600" cy="101600"/>
          </a:xfrm>
          <a:prstGeom prst="rect">
            <a:avLst/>
          </a:prstGeom>
        </p:spPr>
      </p:pic>
      <p:sp>
        <p:nvSpPr>
          <p:cNvPr id="9" name="Shape 6"/>
          <p:cNvSpPr/>
          <p:nvPr/>
        </p:nvSpPr>
        <p:spPr>
          <a:xfrm>
            <a:off x="4558209" y="2817366"/>
            <a:ext cx="3075533" cy="2038251"/>
          </a:xfrm>
          <a:prstGeom prst="roundRect">
            <a:avLst>
              <a:gd name="adj" fmla="val 4829"/>
            </a:avLst>
          </a:prstGeom>
          <a:solidFill>
            <a:srgbClr val="FBFCFB"/>
          </a:solidFill>
          <a:ln w="6350">
            <a:solidFill>
              <a:srgbClr val="DCE3E0"/>
            </a:solidFill>
            <a:prstDash val="solid"/>
          </a:ln>
        </p:spPr>
        <p:txBody>
          <a:bodyPr/>
          <a:lstStyle/>
          <a:p>
            <a:endParaRPr lang="fr-FR"/>
          </a:p>
        </p:txBody>
      </p:sp>
      <p:sp>
        <p:nvSpPr>
          <p:cNvPr id="10" name="Text 7"/>
          <p:cNvSpPr/>
          <p:nvPr/>
        </p:nvSpPr>
        <p:spPr>
          <a:xfrm>
            <a:off x="4815384" y="3074541"/>
            <a:ext cx="263801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5D6E"/>
                </a:solidFill>
                <a:latin typeface="IBM Plex Sans" pitchFamily="34" charset="0"/>
                <a:ea typeface="IBM Plex Sans" pitchFamily="34" charset="-122"/>
                <a:cs typeface="IBM Plex Sans" pitchFamily="34" charset="-120"/>
              </a:rPr>
              <a:t>AXE 2</a:t>
            </a:r>
            <a:endParaRPr lang="en-US" sz="1200" dirty="0"/>
          </a:p>
        </p:txBody>
      </p:sp>
      <p:sp>
        <p:nvSpPr>
          <p:cNvPr id="11" name="Text 8"/>
          <p:cNvSpPr/>
          <p:nvPr/>
        </p:nvSpPr>
        <p:spPr>
          <a:xfrm>
            <a:off x="4815384" y="3389461"/>
            <a:ext cx="263801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F2A2E"/>
                </a:solidFill>
                <a:latin typeface="Rubik" pitchFamily="34" charset="0"/>
                <a:ea typeface="Rubik" pitchFamily="34" charset="-122"/>
                <a:cs typeface="Rubik" pitchFamily="34" charset="-120"/>
              </a:rPr>
              <a:t>Rotation des stocks</a:t>
            </a:r>
            <a:endParaRPr lang="en-US" sz="2000" dirty="0"/>
          </a:p>
        </p:txBody>
      </p:sp>
      <p:sp>
        <p:nvSpPr>
          <p:cNvPr id="12" name="Text 9"/>
          <p:cNvSpPr/>
          <p:nvPr/>
        </p:nvSpPr>
        <p:spPr>
          <a:xfrm>
            <a:off x="4815384" y="3795861"/>
            <a:ext cx="2638019"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1"/>
                </a:solidFill>
                <a:latin typeface="IBM Plex Sans" pitchFamily="34" charset="0"/>
                <a:ea typeface="IBM Plex Sans" pitchFamily="34" charset="-122"/>
                <a:cs typeface="IBM Plex Sans" pitchFamily="34" charset="-120"/>
              </a:rPr>
              <a:t>Valeur du stock, couverture en jours, rotation annuelle</a:t>
            </a:r>
            <a:endParaRPr lang="en-US" sz="1400" dirty="0"/>
          </a:p>
        </p:txBody>
      </p:sp>
      <p:pic>
        <p:nvPicPr>
          <p:cNvPr id="13" name="Image 1" descr="connector"/>
          <p:cNvPicPr>
            <a:picLocks noChangeAspect="1"/>
          </p:cNvPicPr>
          <p:nvPr/>
        </p:nvPicPr>
        <p:blipFill>
          <a:blip r:embed="rId3"/>
          <a:srcRect/>
          <a:stretch/>
        </p:blipFill>
        <p:spPr>
          <a:xfrm>
            <a:off x="7789317" y="2814191"/>
            <a:ext cx="355600" cy="101600"/>
          </a:xfrm>
          <a:prstGeom prst="rect">
            <a:avLst/>
          </a:prstGeom>
        </p:spPr>
      </p:pic>
      <p:sp>
        <p:nvSpPr>
          <p:cNvPr id="14" name="Shape 10"/>
          <p:cNvSpPr/>
          <p:nvPr/>
        </p:nvSpPr>
        <p:spPr>
          <a:xfrm>
            <a:off x="8300492" y="2817366"/>
            <a:ext cx="3075533" cy="2038251"/>
          </a:xfrm>
          <a:prstGeom prst="roundRect">
            <a:avLst>
              <a:gd name="adj" fmla="val 4829"/>
            </a:avLst>
          </a:prstGeom>
          <a:solidFill>
            <a:srgbClr val="FBFCFB"/>
          </a:solidFill>
          <a:ln w="6350">
            <a:solidFill>
              <a:srgbClr val="DCE3E0"/>
            </a:solidFill>
            <a:prstDash val="solid"/>
          </a:ln>
        </p:spPr>
        <p:txBody>
          <a:bodyPr/>
          <a:lstStyle/>
          <a:p>
            <a:endParaRPr lang="fr-FR"/>
          </a:p>
        </p:txBody>
      </p:sp>
      <p:sp>
        <p:nvSpPr>
          <p:cNvPr id="15" name="Text 11"/>
          <p:cNvSpPr/>
          <p:nvPr/>
        </p:nvSpPr>
        <p:spPr>
          <a:xfrm>
            <a:off x="8557667" y="3074541"/>
            <a:ext cx="263801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5D6E"/>
                </a:solidFill>
                <a:latin typeface="IBM Plex Sans" pitchFamily="34" charset="0"/>
                <a:ea typeface="IBM Plex Sans" pitchFamily="34" charset="-122"/>
                <a:cs typeface="IBM Plex Sans" pitchFamily="34" charset="-120"/>
              </a:rPr>
              <a:t>AXE 3</a:t>
            </a:r>
            <a:endParaRPr lang="en-US" sz="1200" dirty="0"/>
          </a:p>
        </p:txBody>
      </p:sp>
      <p:sp>
        <p:nvSpPr>
          <p:cNvPr id="16" name="Text 12"/>
          <p:cNvSpPr/>
          <p:nvPr/>
        </p:nvSpPr>
        <p:spPr>
          <a:xfrm>
            <a:off x="8557667" y="3389461"/>
            <a:ext cx="263801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F2A2E"/>
                </a:solidFill>
                <a:latin typeface="Rubik" pitchFamily="34" charset="0"/>
                <a:ea typeface="Rubik" pitchFamily="34" charset="-122"/>
                <a:cs typeface="Rubik" pitchFamily="34" charset="-120"/>
              </a:rPr>
              <a:t>Marge commerciale</a:t>
            </a:r>
            <a:endParaRPr lang="en-US" sz="2000" dirty="0"/>
          </a:p>
        </p:txBody>
      </p:sp>
      <p:sp>
        <p:nvSpPr>
          <p:cNvPr id="17" name="Text 13"/>
          <p:cNvSpPr/>
          <p:nvPr/>
        </p:nvSpPr>
        <p:spPr>
          <a:xfrm>
            <a:off x="8557667" y="3795861"/>
            <a:ext cx="2638019"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1"/>
                </a:solidFill>
                <a:latin typeface="IBM Plex Sans" pitchFamily="34" charset="0"/>
                <a:ea typeface="IBM Plex Sans" pitchFamily="34" charset="-122"/>
                <a:cs typeface="IBM Plex Sans" pitchFamily="34" charset="-120"/>
              </a:rPr>
              <a:t>CA net, coût des ventes, taux de marge</a:t>
            </a:r>
            <a:endParaRPr lang="en-US" sz="1400" dirty="0"/>
          </a:p>
        </p:txBody>
      </p:sp>
      <p:sp>
        <p:nvSpPr>
          <p:cNvPr id="18"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3"/>
                </a:solidFill>
                <a:latin typeface="IBM Plex Sans" pitchFamily="34" charset="0"/>
                <a:ea typeface="IBM Plex Sans" pitchFamily="34" charset="-122"/>
                <a:cs typeface="IBM Plex Sans" pitchFamily="34" charset="-120"/>
              </a:rPr>
              <a:t>AdventureWorks · Introduction</a:t>
            </a:r>
            <a:endParaRPr lang="en-US" sz="1200" dirty="0"/>
          </a:p>
        </p:txBody>
      </p:sp>
      <p:sp>
        <p:nvSpPr>
          <p:cNvPr id="19"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B73"/>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D6E"/>
                </a:solidFill>
                <a:latin typeface="IBM Plex Sans" pitchFamily="34" charset="0"/>
                <a:ea typeface="IBM Plex Sans" pitchFamily="34" charset="-122"/>
                <a:cs typeface="IBM Plex Sans" pitchFamily="34" charset="-120"/>
              </a:rPr>
              <a:t>DÉMARCHE</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F2A2E"/>
                </a:solidFill>
                <a:latin typeface="Rubik" pitchFamily="34" charset="0"/>
                <a:ea typeface="Rubik" pitchFamily="34" charset="-122"/>
                <a:cs typeface="Rubik" pitchFamily="34" charset="-120"/>
              </a:rPr>
              <a:t>Sept étapes, de la question à la décision</a:t>
            </a:r>
            <a:endParaRPr lang="en-US" sz="3200" dirty="0"/>
          </a:p>
        </p:txBody>
      </p:sp>
      <p:sp>
        <p:nvSpPr>
          <p:cNvPr id="4" name="Shape 2"/>
          <p:cNvSpPr/>
          <p:nvPr/>
        </p:nvSpPr>
        <p:spPr>
          <a:xfrm>
            <a:off x="812800" y="2390676"/>
            <a:ext cx="10566400" cy="0"/>
          </a:xfrm>
          <a:prstGeom prst="line">
            <a:avLst/>
          </a:prstGeom>
          <a:noFill/>
          <a:ln w="6350">
            <a:solidFill>
              <a:srgbClr val="DCE3E0"/>
            </a:solidFill>
            <a:prstDash val="solid"/>
          </a:ln>
        </p:spPr>
        <p:txBody>
          <a:bodyPr/>
          <a:lstStyle/>
          <a:p>
            <a:endParaRPr lang="fr-FR"/>
          </a:p>
        </p:txBody>
      </p:sp>
      <p:sp>
        <p:nvSpPr>
          <p:cNvPr id="5" name="Text 3"/>
          <p:cNvSpPr/>
          <p:nvPr/>
        </p:nvSpPr>
        <p:spPr>
          <a:xfrm>
            <a:off x="812800" y="2001441"/>
            <a:ext cx="5080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5D6E"/>
                </a:solidFill>
                <a:latin typeface="Rubik" pitchFamily="34" charset="0"/>
                <a:ea typeface="Rubik" pitchFamily="34" charset="-122"/>
                <a:cs typeface="Rubik" pitchFamily="34" charset="-120"/>
              </a:rPr>
              <a:t>01</a:t>
            </a:r>
            <a:endParaRPr lang="en-US" sz="1600" dirty="0"/>
          </a:p>
        </p:txBody>
      </p:sp>
      <p:sp>
        <p:nvSpPr>
          <p:cNvPr id="6" name="Text 4"/>
          <p:cNvSpPr/>
          <p:nvPr/>
        </p:nvSpPr>
        <p:spPr>
          <a:xfrm>
            <a:off x="1473200" y="2001441"/>
            <a:ext cx="248539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2A2E"/>
                </a:solidFill>
                <a:latin typeface="IBM Plex Sans" pitchFamily="34" charset="0"/>
                <a:ea typeface="IBM Plex Sans" pitchFamily="34" charset="-122"/>
                <a:cs typeface="IBM Plex Sans" pitchFamily="34" charset="-120"/>
              </a:rPr>
              <a:t>Problématique</a:t>
            </a:r>
            <a:endParaRPr lang="en-US" sz="1600" dirty="0"/>
          </a:p>
        </p:txBody>
      </p:sp>
      <p:sp>
        <p:nvSpPr>
          <p:cNvPr id="7" name="Text 5"/>
          <p:cNvSpPr/>
          <p:nvPr/>
        </p:nvSpPr>
        <p:spPr>
          <a:xfrm>
            <a:off x="4089400" y="2019201"/>
            <a:ext cx="750849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1"/>
                </a:solidFill>
                <a:latin typeface="IBM Plex Sans" pitchFamily="34" charset="0"/>
                <a:ea typeface="IBM Plex Sans" pitchFamily="34" charset="-122"/>
                <a:cs typeface="IBM Plex Sans" pitchFamily="34" charset="-120"/>
              </a:rPr>
              <a:t>Relier fournisseurs, stocks et marge commerciale</a:t>
            </a:r>
            <a:endParaRPr lang="en-US" sz="1400" dirty="0"/>
          </a:p>
        </p:txBody>
      </p:sp>
      <p:sp>
        <p:nvSpPr>
          <p:cNvPr id="8" name="Shape 6"/>
          <p:cNvSpPr/>
          <p:nvPr/>
        </p:nvSpPr>
        <p:spPr>
          <a:xfrm>
            <a:off x="812800" y="2884686"/>
            <a:ext cx="10566400" cy="0"/>
          </a:xfrm>
          <a:prstGeom prst="line">
            <a:avLst/>
          </a:prstGeom>
          <a:noFill/>
          <a:ln w="6350">
            <a:solidFill>
              <a:srgbClr val="DCE3E0"/>
            </a:solidFill>
            <a:prstDash val="solid"/>
          </a:ln>
        </p:spPr>
        <p:txBody>
          <a:bodyPr/>
          <a:lstStyle/>
          <a:p>
            <a:endParaRPr lang="fr-FR"/>
          </a:p>
        </p:txBody>
      </p:sp>
      <p:sp>
        <p:nvSpPr>
          <p:cNvPr id="9" name="Text 7"/>
          <p:cNvSpPr/>
          <p:nvPr/>
        </p:nvSpPr>
        <p:spPr>
          <a:xfrm>
            <a:off x="812800" y="2495451"/>
            <a:ext cx="5080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5D6E"/>
                </a:solidFill>
                <a:latin typeface="Rubik" pitchFamily="34" charset="0"/>
                <a:ea typeface="Rubik" pitchFamily="34" charset="-122"/>
                <a:cs typeface="Rubik" pitchFamily="34" charset="-120"/>
              </a:rPr>
              <a:t>02</a:t>
            </a:r>
            <a:endParaRPr lang="en-US" sz="1600" dirty="0"/>
          </a:p>
        </p:txBody>
      </p:sp>
      <p:sp>
        <p:nvSpPr>
          <p:cNvPr id="10" name="Text 8"/>
          <p:cNvSpPr/>
          <p:nvPr/>
        </p:nvSpPr>
        <p:spPr>
          <a:xfrm>
            <a:off x="1473200" y="2495451"/>
            <a:ext cx="248539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2A2E"/>
                </a:solidFill>
                <a:latin typeface="IBM Plex Sans" pitchFamily="34" charset="0"/>
                <a:ea typeface="IBM Plex Sans" pitchFamily="34" charset="-122"/>
                <a:cs typeface="IBM Plex Sans" pitchFamily="34" charset="-120"/>
              </a:rPr>
              <a:t>Données</a:t>
            </a:r>
            <a:endParaRPr lang="en-US" sz="1600" dirty="0"/>
          </a:p>
        </p:txBody>
      </p:sp>
      <p:sp>
        <p:nvSpPr>
          <p:cNvPr id="11" name="Text 9"/>
          <p:cNvSpPr/>
          <p:nvPr/>
        </p:nvSpPr>
        <p:spPr>
          <a:xfrm>
            <a:off x="4089400" y="2513211"/>
            <a:ext cx="750849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1"/>
                </a:solidFill>
                <a:latin typeface="IBM Plex Sans" pitchFamily="34" charset="0"/>
                <a:ea typeface="IBM Plex Sans" pitchFamily="34" charset="-122"/>
                <a:cs typeface="IBM Plex Sans" pitchFamily="34" charset="-120"/>
              </a:rPr>
              <a:t>15 tables CSV AdventureWorks : achat, produit, vente</a:t>
            </a:r>
            <a:endParaRPr lang="en-US" sz="1400" dirty="0"/>
          </a:p>
        </p:txBody>
      </p:sp>
      <p:sp>
        <p:nvSpPr>
          <p:cNvPr id="12" name="Shape 10"/>
          <p:cNvSpPr/>
          <p:nvPr/>
        </p:nvSpPr>
        <p:spPr>
          <a:xfrm>
            <a:off x="812800" y="3378696"/>
            <a:ext cx="10566400" cy="0"/>
          </a:xfrm>
          <a:prstGeom prst="line">
            <a:avLst/>
          </a:prstGeom>
          <a:noFill/>
          <a:ln w="6350">
            <a:solidFill>
              <a:srgbClr val="DCE3E0"/>
            </a:solidFill>
            <a:prstDash val="solid"/>
          </a:ln>
        </p:spPr>
        <p:txBody>
          <a:bodyPr/>
          <a:lstStyle/>
          <a:p>
            <a:endParaRPr lang="fr-FR"/>
          </a:p>
        </p:txBody>
      </p:sp>
      <p:sp>
        <p:nvSpPr>
          <p:cNvPr id="13" name="Text 11"/>
          <p:cNvSpPr/>
          <p:nvPr/>
        </p:nvSpPr>
        <p:spPr>
          <a:xfrm>
            <a:off x="812800" y="2989461"/>
            <a:ext cx="5080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5D6E"/>
                </a:solidFill>
                <a:latin typeface="Rubik" pitchFamily="34" charset="0"/>
                <a:ea typeface="Rubik" pitchFamily="34" charset="-122"/>
                <a:cs typeface="Rubik" pitchFamily="34" charset="-120"/>
              </a:rPr>
              <a:t>03</a:t>
            </a:r>
            <a:endParaRPr lang="en-US" sz="1600" dirty="0"/>
          </a:p>
        </p:txBody>
      </p:sp>
      <p:sp>
        <p:nvSpPr>
          <p:cNvPr id="14" name="Text 12"/>
          <p:cNvSpPr/>
          <p:nvPr/>
        </p:nvSpPr>
        <p:spPr>
          <a:xfrm>
            <a:off x="1473200" y="2989461"/>
            <a:ext cx="248539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2A2E"/>
                </a:solidFill>
                <a:latin typeface="IBM Plex Sans" pitchFamily="34" charset="0"/>
                <a:ea typeface="IBM Plex Sans" pitchFamily="34" charset="-122"/>
                <a:cs typeface="IBM Plex Sans" pitchFamily="34" charset="-120"/>
              </a:rPr>
              <a:t>Transformation</a:t>
            </a:r>
            <a:endParaRPr lang="en-US" sz="1600" dirty="0"/>
          </a:p>
        </p:txBody>
      </p:sp>
      <p:sp>
        <p:nvSpPr>
          <p:cNvPr id="15" name="Text 13"/>
          <p:cNvSpPr/>
          <p:nvPr/>
        </p:nvSpPr>
        <p:spPr>
          <a:xfrm>
            <a:off x="4089400" y="3007221"/>
            <a:ext cx="750849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1"/>
                </a:solidFill>
                <a:latin typeface="IBM Plex Sans" pitchFamily="34" charset="0"/>
                <a:ea typeface="IBM Plex Sans" pitchFamily="34" charset="-122"/>
                <a:cs typeface="IBM Plex Sans" pitchFamily="34" charset="-120"/>
              </a:rPr>
              <a:t>Python / pandas : en-têtes, nettoyage, types, export Parquet</a:t>
            </a:r>
            <a:endParaRPr lang="en-US" sz="1400" dirty="0"/>
          </a:p>
        </p:txBody>
      </p:sp>
      <p:sp>
        <p:nvSpPr>
          <p:cNvPr id="16" name="Shape 14"/>
          <p:cNvSpPr/>
          <p:nvPr/>
        </p:nvSpPr>
        <p:spPr>
          <a:xfrm>
            <a:off x="812800" y="3872706"/>
            <a:ext cx="10566400" cy="0"/>
          </a:xfrm>
          <a:prstGeom prst="line">
            <a:avLst/>
          </a:prstGeom>
          <a:noFill/>
          <a:ln w="6350">
            <a:solidFill>
              <a:srgbClr val="DCE3E0"/>
            </a:solidFill>
            <a:prstDash val="solid"/>
          </a:ln>
        </p:spPr>
        <p:txBody>
          <a:bodyPr/>
          <a:lstStyle/>
          <a:p>
            <a:endParaRPr lang="fr-FR"/>
          </a:p>
        </p:txBody>
      </p:sp>
      <p:sp>
        <p:nvSpPr>
          <p:cNvPr id="17" name="Text 15"/>
          <p:cNvSpPr/>
          <p:nvPr/>
        </p:nvSpPr>
        <p:spPr>
          <a:xfrm>
            <a:off x="812800" y="3483471"/>
            <a:ext cx="5080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5D6E"/>
                </a:solidFill>
                <a:latin typeface="Rubik" pitchFamily="34" charset="0"/>
                <a:ea typeface="Rubik" pitchFamily="34" charset="-122"/>
                <a:cs typeface="Rubik" pitchFamily="34" charset="-120"/>
              </a:rPr>
              <a:t>04</a:t>
            </a:r>
            <a:endParaRPr lang="en-US" sz="1600" dirty="0"/>
          </a:p>
        </p:txBody>
      </p:sp>
      <p:sp>
        <p:nvSpPr>
          <p:cNvPr id="18" name="Text 16"/>
          <p:cNvSpPr/>
          <p:nvPr/>
        </p:nvSpPr>
        <p:spPr>
          <a:xfrm>
            <a:off x="1473200" y="3483471"/>
            <a:ext cx="248539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2A2E"/>
                </a:solidFill>
                <a:latin typeface="IBM Plex Sans" pitchFamily="34" charset="0"/>
                <a:ea typeface="IBM Plex Sans" pitchFamily="34" charset="-122"/>
                <a:cs typeface="IBM Plex Sans" pitchFamily="34" charset="-120"/>
              </a:rPr>
              <a:t>Modèle</a:t>
            </a:r>
            <a:endParaRPr lang="en-US" sz="1600" dirty="0"/>
          </a:p>
        </p:txBody>
      </p:sp>
      <p:sp>
        <p:nvSpPr>
          <p:cNvPr id="19" name="Text 17"/>
          <p:cNvSpPr/>
          <p:nvPr/>
        </p:nvSpPr>
        <p:spPr>
          <a:xfrm>
            <a:off x="4089400" y="3501231"/>
            <a:ext cx="750849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1"/>
                </a:solidFill>
                <a:latin typeface="IBM Plex Sans" pitchFamily="34" charset="0"/>
                <a:ea typeface="IBM Plex Sans" pitchFamily="34" charset="-122"/>
                <a:cs typeface="IBM Plex Sans" pitchFamily="34" charset="-120"/>
              </a:rPr>
              <a:t>Base SQLite, modèle en constellation Power BI et table de dates</a:t>
            </a:r>
            <a:endParaRPr lang="en-US" sz="1400" dirty="0"/>
          </a:p>
        </p:txBody>
      </p:sp>
      <p:sp>
        <p:nvSpPr>
          <p:cNvPr id="20" name="Shape 18"/>
          <p:cNvSpPr/>
          <p:nvPr/>
        </p:nvSpPr>
        <p:spPr>
          <a:xfrm>
            <a:off x="812800" y="4366716"/>
            <a:ext cx="10566400" cy="0"/>
          </a:xfrm>
          <a:prstGeom prst="line">
            <a:avLst/>
          </a:prstGeom>
          <a:noFill/>
          <a:ln w="6350">
            <a:solidFill>
              <a:srgbClr val="DCE3E0"/>
            </a:solidFill>
            <a:prstDash val="solid"/>
          </a:ln>
        </p:spPr>
        <p:txBody>
          <a:bodyPr/>
          <a:lstStyle/>
          <a:p>
            <a:endParaRPr lang="fr-FR"/>
          </a:p>
        </p:txBody>
      </p:sp>
      <p:sp>
        <p:nvSpPr>
          <p:cNvPr id="21" name="Text 19"/>
          <p:cNvSpPr/>
          <p:nvPr/>
        </p:nvSpPr>
        <p:spPr>
          <a:xfrm>
            <a:off x="812800" y="3977481"/>
            <a:ext cx="5080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5D6E"/>
                </a:solidFill>
                <a:latin typeface="Rubik" pitchFamily="34" charset="0"/>
                <a:ea typeface="Rubik" pitchFamily="34" charset="-122"/>
                <a:cs typeface="Rubik" pitchFamily="34" charset="-120"/>
              </a:rPr>
              <a:t>05</a:t>
            </a:r>
            <a:endParaRPr lang="en-US" sz="1600" dirty="0"/>
          </a:p>
        </p:txBody>
      </p:sp>
      <p:sp>
        <p:nvSpPr>
          <p:cNvPr id="22" name="Text 20"/>
          <p:cNvSpPr/>
          <p:nvPr/>
        </p:nvSpPr>
        <p:spPr>
          <a:xfrm>
            <a:off x="1473200" y="3977481"/>
            <a:ext cx="248539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2A2E"/>
                </a:solidFill>
                <a:latin typeface="IBM Plex Sans" pitchFamily="34" charset="0"/>
                <a:ea typeface="IBM Plex Sans" pitchFamily="34" charset="-122"/>
                <a:cs typeface="IBM Plex Sans" pitchFamily="34" charset="-120"/>
              </a:rPr>
              <a:t>KPI</a:t>
            </a:r>
            <a:endParaRPr lang="en-US" sz="1600" dirty="0"/>
          </a:p>
        </p:txBody>
      </p:sp>
      <p:sp>
        <p:nvSpPr>
          <p:cNvPr id="23" name="Text 21"/>
          <p:cNvSpPr/>
          <p:nvPr/>
        </p:nvSpPr>
        <p:spPr>
          <a:xfrm>
            <a:off x="4089400" y="3995241"/>
            <a:ext cx="750849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1"/>
                </a:solidFill>
                <a:latin typeface="IBM Plex Sans" pitchFamily="34" charset="0"/>
                <a:ea typeface="IBM Plex Sans" pitchFamily="34" charset="-122"/>
                <a:cs typeface="IBM Plex Sans" pitchFamily="34" charset="-120"/>
              </a:rPr>
              <a:t>24 indicateurs DAX, 6 par page</a:t>
            </a:r>
            <a:endParaRPr lang="en-US" sz="1400" dirty="0"/>
          </a:p>
        </p:txBody>
      </p:sp>
      <p:sp>
        <p:nvSpPr>
          <p:cNvPr id="24" name="Shape 22"/>
          <p:cNvSpPr/>
          <p:nvPr/>
        </p:nvSpPr>
        <p:spPr>
          <a:xfrm>
            <a:off x="812800" y="4860727"/>
            <a:ext cx="10566400" cy="0"/>
          </a:xfrm>
          <a:prstGeom prst="line">
            <a:avLst/>
          </a:prstGeom>
          <a:noFill/>
          <a:ln w="6350">
            <a:solidFill>
              <a:srgbClr val="DCE3E0"/>
            </a:solidFill>
            <a:prstDash val="solid"/>
          </a:ln>
        </p:spPr>
        <p:txBody>
          <a:bodyPr/>
          <a:lstStyle/>
          <a:p>
            <a:endParaRPr lang="fr-FR"/>
          </a:p>
        </p:txBody>
      </p:sp>
      <p:sp>
        <p:nvSpPr>
          <p:cNvPr id="25" name="Text 23"/>
          <p:cNvSpPr/>
          <p:nvPr/>
        </p:nvSpPr>
        <p:spPr>
          <a:xfrm>
            <a:off x="812800" y="4471491"/>
            <a:ext cx="5080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5D6E"/>
                </a:solidFill>
                <a:latin typeface="Rubik" pitchFamily="34" charset="0"/>
                <a:ea typeface="Rubik" pitchFamily="34" charset="-122"/>
                <a:cs typeface="Rubik" pitchFamily="34" charset="-120"/>
              </a:rPr>
              <a:t>06</a:t>
            </a:r>
            <a:endParaRPr lang="en-US" sz="1600" dirty="0"/>
          </a:p>
        </p:txBody>
      </p:sp>
      <p:sp>
        <p:nvSpPr>
          <p:cNvPr id="26" name="Text 24"/>
          <p:cNvSpPr/>
          <p:nvPr/>
        </p:nvSpPr>
        <p:spPr>
          <a:xfrm>
            <a:off x="1473200" y="4471491"/>
            <a:ext cx="248539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2A2E"/>
                </a:solidFill>
                <a:latin typeface="IBM Plex Sans" pitchFamily="34" charset="0"/>
                <a:ea typeface="IBM Plex Sans" pitchFamily="34" charset="-122"/>
                <a:cs typeface="IBM Plex Sans" pitchFamily="34" charset="-120"/>
              </a:rPr>
              <a:t>Dashboard</a:t>
            </a:r>
            <a:endParaRPr lang="en-US" sz="1600" dirty="0"/>
          </a:p>
        </p:txBody>
      </p:sp>
      <p:sp>
        <p:nvSpPr>
          <p:cNvPr id="27" name="Text 25"/>
          <p:cNvSpPr/>
          <p:nvPr/>
        </p:nvSpPr>
        <p:spPr>
          <a:xfrm>
            <a:off x="4089400" y="4489252"/>
            <a:ext cx="750849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1"/>
                </a:solidFill>
                <a:latin typeface="IBM Plex Sans" pitchFamily="34" charset="0"/>
                <a:ea typeface="IBM Plex Sans" pitchFamily="34" charset="-122"/>
                <a:cs typeface="IBM Plex Sans" pitchFamily="34" charset="-120"/>
              </a:rPr>
              <a:t>Vue d'ensemble, Achat, Produit, Vente</a:t>
            </a:r>
            <a:endParaRPr lang="en-US" sz="1400" dirty="0"/>
          </a:p>
        </p:txBody>
      </p:sp>
      <p:sp>
        <p:nvSpPr>
          <p:cNvPr id="28" name="Text 26"/>
          <p:cNvSpPr/>
          <p:nvPr/>
        </p:nvSpPr>
        <p:spPr>
          <a:xfrm>
            <a:off x="812800" y="4965502"/>
            <a:ext cx="5080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5D6E"/>
                </a:solidFill>
                <a:latin typeface="Rubik" pitchFamily="34" charset="0"/>
                <a:ea typeface="Rubik" pitchFamily="34" charset="-122"/>
                <a:cs typeface="Rubik" pitchFamily="34" charset="-120"/>
              </a:rPr>
              <a:t>07</a:t>
            </a:r>
            <a:endParaRPr lang="en-US" sz="1600" dirty="0"/>
          </a:p>
        </p:txBody>
      </p:sp>
      <p:sp>
        <p:nvSpPr>
          <p:cNvPr id="29" name="Text 27"/>
          <p:cNvSpPr/>
          <p:nvPr/>
        </p:nvSpPr>
        <p:spPr>
          <a:xfrm>
            <a:off x="1473200" y="4965502"/>
            <a:ext cx="248539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2A2E"/>
                </a:solidFill>
                <a:latin typeface="IBM Plex Sans" pitchFamily="34" charset="0"/>
                <a:ea typeface="IBM Plex Sans" pitchFamily="34" charset="-122"/>
                <a:cs typeface="IBM Plex Sans" pitchFamily="34" charset="-120"/>
              </a:rPr>
              <a:t>Insights</a:t>
            </a:r>
            <a:endParaRPr lang="en-US" sz="1600" dirty="0"/>
          </a:p>
        </p:txBody>
      </p:sp>
      <p:sp>
        <p:nvSpPr>
          <p:cNvPr id="30" name="Text 28"/>
          <p:cNvSpPr/>
          <p:nvPr/>
        </p:nvSpPr>
        <p:spPr>
          <a:xfrm>
            <a:off x="4089400" y="4983262"/>
            <a:ext cx="750849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1"/>
                </a:solidFill>
                <a:latin typeface="IBM Plex Sans" pitchFamily="34" charset="0"/>
                <a:ea typeface="IBM Plex Sans" pitchFamily="34" charset="-122"/>
                <a:cs typeface="IBM Plex Sans" pitchFamily="34" charset="-120"/>
              </a:rPr>
              <a:t>Réponse à la problématique et recommandations</a:t>
            </a:r>
            <a:endParaRPr lang="en-US" sz="1400" dirty="0"/>
          </a:p>
        </p:txBody>
      </p:sp>
      <p:sp>
        <p:nvSpPr>
          <p:cNvPr id="31" name="Text 2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3"/>
                </a:solidFill>
                <a:latin typeface="IBM Plex Sans" pitchFamily="34" charset="0"/>
                <a:ea typeface="IBM Plex Sans" pitchFamily="34" charset="-122"/>
                <a:cs typeface="IBM Plex Sans" pitchFamily="34" charset="-120"/>
              </a:rPr>
              <a:t>AdventureWorks · Introduction</a:t>
            </a:r>
            <a:endParaRPr lang="en-US" sz="1200" dirty="0"/>
          </a:p>
        </p:txBody>
      </p:sp>
      <p:sp>
        <p:nvSpPr>
          <p:cNvPr id="32" name="Text 3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B73"/>
                </a:solidFill>
                <a:latin typeface="IBM Plex Sans" pitchFamily="34" charset="0"/>
                <a:ea typeface="IBM Plex Sans" pitchFamily="34" charset="-122"/>
                <a:cs typeface="IBM Plex Sans" pitchFamily="34" charset="-120"/>
              </a:rPr>
              <a:t>03</a:t>
            </a:r>
            <a:endParaRPr lang="en-US" sz="1200" dirty="0"/>
          </a:p>
        </p:txBody>
      </p:sp>
    </p:spTree>
    <p:extLst>
      <p:ext uri="{BB962C8B-B14F-4D97-AF65-F5344CB8AC3E}">
        <p14:creationId xmlns:p14="http://schemas.microsoft.com/office/powerpoint/2010/main" val="2466296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D6E"/>
                </a:solidFill>
                <a:latin typeface="IBM Plex Sans" pitchFamily="34" charset="0"/>
                <a:ea typeface="IBM Plex Sans" pitchFamily="34" charset="-122"/>
                <a:cs typeface="IBM Plex Sans" pitchFamily="34" charset="-120"/>
              </a:rPr>
              <a:t>DONNÉES</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F2A2E"/>
                </a:solidFill>
                <a:latin typeface="Rubik" pitchFamily="34" charset="0"/>
                <a:ea typeface="Rubik" pitchFamily="34" charset="-122"/>
                <a:cs typeface="Rubik" pitchFamily="34" charset="-120"/>
              </a:rPr>
              <a:t>AdventureWorks 2025 : 15 tables, 3 domaines</a:t>
            </a:r>
            <a:endParaRPr lang="en-US" sz="3200" dirty="0"/>
          </a:p>
        </p:txBody>
      </p:sp>
      <p:sp>
        <p:nvSpPr>
          <p:cNvPr id="4" name="Shape 2"/>
          <p:cNvSpPr/>
          <p:nvPr/>
        </p:nvSpPr>
        <p:spPr>
          <a:xfrm>
            <a:off x="815975" y="1903016"/>
            <a:ext cx="1842740" cy="1388021"/>
          </a:xfrm>
          <a:prstGeom prst="roundRect">
            <a:avLst>
              <a:gd name="adj" fmla="val 7091"/>
            </a:avLst>
          </a:prstGeom>
          <a:solidFill>
            <a:srgbClr val="FBFCFB"/>
          </a:solidFill>
          <a:ln w="6350">
            <a:solidFill>
              <a:srgbClr val="DCE3E0"/>
            </a:solidFill>
            <a:prstDash val="solid"/>
          </a:ln>
        </p:spPr>
        <p:txBody>
          <a:bodyPr/>
          <a:lstStyle/>
          <a:p>
            <a:endParaRPr lang="fr-FR"/>
          </a:p>
        </p:txBody>
      </p:sp>
      <p:sp>
        <p:nvSpPr>
          <p:cNvPr id="5" name="Text 3"/>
          <p:cNvSpPr/>
          <p:nvPr/>
        </p:nvSpPr>
        <p:spPr>
          <a:xfrm>
            <a:off x="1022350" y="2109391"/>
            <a:ext cx="1480790"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F5D6E"/>
                </a:solidFill>
                <a:latin typeface="Rubik" pitchFamily="34" charset="0"/>
                <a:ea typeface="Rubik" pitchFamily="34" charset="-122"/>
                <a:cs typeface="Rubik" pitchFamily="34" charset="-120"/>
              </a:rPr>
              <a:t>4 012</a:t>
            </a:r>
            <a:endParaRPr lang="en-US" sz="2800" dirty="0"/>
          </a:p>
        </p:txBody>
      </p:sp>
      <p:sp>
        <p:nvSpPr>
          <p:cNvPr id="6" name="Text 4"/>
          <p:cNvSpPr/>
          <p:nvPr/>
        </p:nvSpPr>
        <p:spPr>
          <a:xfrm>
            <a:off x="1022350" y="2658021"/>
            <a:ext cx="148079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commandes d'achat</a:t>
            </a:r>
            <a:endParaRPr lang="en-US" sz="1200" dirty="0"/>
          </a:p>
        </p:txBody>
      </p:sp>
      <p:sp>
        <p:nvSpPr>
          <p:cNvPr id="7" name="Shape 5"/>
          <p:cNvSpPr/>
          <p:nvPr/>
        </p:nvSpPr>
        <p:spPr>
          <a:xfrm>
            <a:off x="2817465" y="1903016"/>
            <a:ext cx="1842790" cy="1388021"/>
          </a:xfrm>
          <a:prstGeom prst="roundRect">
            <a:avLst>
              <a:gd name="adj" fmla="val 7091"/>
            </a:avLst>
          </a:prstGeom>
          <a:solidFill>
            <a:srgbClr val="FBFCFB"/>
          </a:solidFill>
          <a:ln w="6350">
            <a:solidFill>
              <a:srgbClr val="DCE3E0"/>
            </a:solidFill>
            <a:prstDash val="solid"/>
          </a:ln>
        </p:spPr>
        <p:txBody>
          <a:bodyPr/>
          <a:lstStyle/>
          <a:p>
            <a:endParaRPr lang="fr-FR"/>
          </a:p>
        </p:txBody>
      </p:sp>
      <p:sp>
        <p:nvSpPr>
          <p:cNvPr id="8" name="Text 6"/>
          <p:cNvSpPr/>
          <p:nvPr/>
        </p:nvSpPr>
        <p:spPr>
          <a:xfrm>
            <a:off x="3023840" y="2109391"/>
            <a:ext cx="1480840"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F5D6E"/>
                </a:solidFill>
                <a:latin typeface="Rubik" pitchFamily="34" charset="0"/>
                <a:ea typeface="Rubik" pitchFamily="34" charset="-122"/>
                <a:cs typeface="Rubik" pitchFamily="34" charset="-120"/>
              </a:rPr>
              <a:t>31 465</a:t>
            </a:r>
            <a:endParaRPr lang="en-US" sz="2800" dirty="0"/>
          </a:p>
        </p:txBody>
      </p:sp>
      <p:sp>
        <p:nvSpPr>
          <p:cNvPr id="9" name="Text 7"/>
          <p:cNvSpPr/>
          <p:nvPr/>
        </p:nvSpPr>
        <p:spPr>
          <a:xfrm>
            <a:off x="3023840" y="2658021"/>
            <a:ext cx="14808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commandes de vente</a:t>
            </a:r>
            <a:endParaRPr lang="en-US" sz="1200" dirty="0"/>
          </a:p>
        </p:txBody>
      </p:sp>
      <p:sp>
        <p:nvSpPr>
          <p:cNvPr id="10" name="Shape 8"/>
          <p:cNvSpPr/>
          <p:nvPr/>
        </p:nvSpPr>
        <p:spPr>
          <a:xfrm>
            <a:off x="4819005" y="1903016"/>
            <a:ext cx="1842790" cy="1388021"/>
          </a:xfrm>
          <a:prstGeom prst="roundRect">
            <a:avLst>
              <a:gd name="adj" fmla="val 7091"/>
            </a:avLst>
          </a:prstGeom>
          <a:solidFill>
            <a:srgbClr val="FBFCFB"/>
          </a:solidFill>
          <a:ln w="6350">
            <a:solidFill>
              <a:srgbClr val="DCE3E0"/>
            </a:solidFill>
            <a:prstDash val="solid"/>
          </a:ln>
        </p:spPr>
        <p:txBody>
          <a:bodyPr/>
          <a:lstStyle/>
          <a:p>
            <a:endParaRPr lang="fr-FR"/>
          </a:p>
        </p:txBody>
      </p:sp>
      <p:sp>
        <p:nvSpPr>
          <p:cNvPr id="11" name="Text 9"/>
          <p:cNvSpPr/>
          <p:nvPr/>
        </p:nvSpPr>
        <p:spPr>
          <a:xfrm>
            <a:off x="5025380" y="2109391"/>
            <a:ext cx="1480840"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F5D6E"/>
                </a:solidFill>
                <a:latin typeface="Rubik" pitchFamily="34" charset="0"/>
                <a:ea typeface="Rubik" pitchFamily="34" charset="-122"/>
                <a:cs typeface="Rubik" pitchFamily="34" charset="-120"/>
              </a:rPr>
              <a:t>504</a:t>
            </a:r>
            <a:endParaRPr lang="en-US" sz="2800" dirty="0"/>
          </a:p>
        </p:txBody>
      </p:sp>
      <p:sp>
        <p:nvSpPr>
          <p:cNvPr id="12" name="Text 10"/>
          <p:cNvSpPr/>
          <p:nvPr/>
        </p:nvSpPr>
        <p:spPr>
          <a:xfrm>
            <a:off x="5025380" y="2658021"/>
            <a:ext cx="14808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produits</a:t>
            </a:r>
            <a:endParaRPr lang="en-US" sz="1200" dirty="0"/>
          </a:p>
        </p:txBody>
      </p:sp>
      <p:sp>
        <p:nvSpPr>
          <p:cNvPr id="13" name="Shape 11"/>
          <p:cNvSpPr/>
          <p:nvPr/>
        </p:nvSpPr>
        <p:spPr>
          <a:xfrm>
            <a:off x="815975" y="3449786"/>
            <a:ext cx="1842740" cy="1388021"/>
          </a:xfrm>
          <a:prstGeom prst="roundRect">
            <a:avLst>
              <a:gd name="adj" fmla="val 7091"/>
            </a:avLst>
          </a:prstGeom>
          <a:solidFill>
            <a:srgbClr val="FBFCFB"/>
          </a:solidFill>
          <a:ln w="6350">
            <a:solidFill>
              <a:srgbClr val="DCE3E0"/>
            </a:solidFill>
            <a:prstDash val="solid"/>
          </a:ln>
        </p:spPr>
        <p:txBody>
          <a:bodyPr/>
          <a:lstStyle/>
          <a:p>
            <a:endParaRPr lang="fr-FR"/>
          </a:p>
        </p:txBody>
      </p:sp>
      <p:sp>
        <p:nvSpPr>
          <p:cNvPr id="14" name="Text 12"/>
          <p:cNvSpPr/>
          <p:nvPr/>
        </p:nvSpPr>
        <p:spPr>
          <a:xfrm>
            <a:off x="1022350" y="3656161"/>
            <a:ext cx="1480790"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F5D6E"/>
                </a:solidFill>
                <a:latin typeface="Rubik" pitchFamily="34" charset="0"/>
                <a:ea typeface="Rubik" pitchFamily="34" charset="-122"/>
                <a:cs typeface="Rubik" pitchFamily="34" charset="-120"/>
              </a:rPr>
              <a:t>104</a:t>
            </a:r>
            <a:endParaRPr lang="en-US" sz="2800" dirty="0"/>
          </a:p>
        </p:txBody>
      </p:sp>
      <p:sp>
        <p:nvSpPr>
          <p:cNvPr id="15" name="Text 13"/>
          <p:cNvSpPr/>
          <p:nvPr/>
        </p:nvSpPr>
        <p:spPr>
          <a:xfrm>
            <a:off x="1022350" y="4204791"/>
            <a:ext cx="148079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fournisseurs, dont 86 actifs</a:t>
            </a:r>
            <a:endParaRPr lang="en-US" sz="1200" dirty="0"/>
          </a:p>
        </p:txBody>
      </p:sp>
      <p:sp>
        <p:nvSpPr>
          <p:cNvPr id="16" name="Shape 14"/>
          <p:cNvSpPr/>
          <p:nvPr/>
        </p:nvSpPr>
        <p:spPr>
          <a:xfrm>
            <a:off x="2817465" y="3449786"/>
            <a:ext cx="1842790" cy="1388021"/>
          </a:xfrm>
          <a:prstGeom prst="roundRect">
            <a:avLst>
              <a:gd name="adj" fmla="val 7091"/>
            </a:avLst>
          </a:prstGeom>
          <a:solidFill>
            <a:srgbClr val="FBFCFB"/>
          </a:solidFill>
          <a:ln w="6350">
            <a:solidFill>
              <a:srgbClr val="DCE3E0"/>
            </a:solidFill>
            <a:prstDash val="solid"/>
          </a:ln>
        </p:spPr>
        <p:txBody>
          <a:bodyPr/>
          <a:lstStyle/>
          <a:p>
            <a:endParaRPr lang="fr-FR"/>
          </a:p>
        </p:txBody>
      </p:sp>
      <p:sp>
        <p:nvSpPr>
          <p:cNvPr id="17" name="Text 15"/>
          <p:cNvSpPr/>
          <p:nvPr/>
        </p:nvSpPr>
        <p:spPr>
          <a:xfrm>
            <a:off x="3023840" y="3656161"/>
            <a:ext cx="1480840"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F5D6E"/>
                </a:solidFill>
                <a:latin typeface="Rubik" pitchFamily="34" charset="0"/>
                <a:ea typeface="Rubik" pitchFamily="34" charset="-122"/>
                <a:cs typeface="Rubik" pitchFamily="34" charset="-120"/>
              </a:rPr>
              <a:t>19 820</a:t>
            </a:r>
            <a:endParaRPr lang="en-US" sz="2800" dirty="0"/>
          </a:p>
        </p:txBody>
      </p:sp>
      <p:sp>
        <p:nvSpPr>
          <p:cNvPr id="18" name="Text 16"/>
          <p:cNvSpPr/>
          <p:nvPr/>
        </p:nvSpPr>
        <p:spPr>
          <a:xfrm>
            <a:off x="3023840" y="4204791"/>
            <a:ext cx="14808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clients, dont 19 119 actifs</a:t>
            </a:r>
            <a:endParaRPr lang="en-US" sz="1200" dirty="0"/>
          </a:p>
        </p:txBody>
      </p:sp>
      <p:sp>
        <p:nvSpPr>
          <p:cNvPr id="19" name="Shape 17"/>
          <p:cNvSpPr/>
          <p:nvPr/>
        </p:nvSpPr>
        <p:spPr>
          <a:xfrm>
            <a:off x="4819005" y="3449786"/>
            <a:ext cx="1842790" cy="1388021"/>
          </a:xfrm>
          <a:prstGeom prst="roundRect">
            <a:avLst>
              <a:gd name="adj" fmla="val 7091"/>
            </a:avLst>
          </a:prstGeom>
          <a:solidFill>
            <a:srgbClr val="FBFCFB"/>
          </a:solidFill>
          <a:ln w="6350">
            <a:solidFill>
              <a:srgbClr val="DCE3E0"/>
            </a:solidFill>
            <a:prstDash val="solid"/>
          </a:ln>
        </p:spPr>
        <p:txBody>
          <a:bodyPr/>
          <a:lstStyle/>
          <a:p>
            <a:endParaRPr lang="fr-FR"/>
          </a:p>
        </p:txBody>
      </p:sp>
      <p:sp>
        <p:nvSpPr>
          <p:cNvPr id="20" name="Text 18"/>
          <p:cNvSpPr/>
          <p:nvPr/>
        </p:nvSpPr>
        <p:spPr>
          <a:xfrm>
            <a:off x="5025380" y="3656161"/>
            <a:ext cx="1480840"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F5D6E"/>
                </a:solidFill>
                <a:latin typeface="Rubik" pitchFamily="34" charset="0"/>
                <a:ea typeface="Rubik" pitchFamily="34" charset="-122"/>
                <a:cs typeface="Rubik" pitchFamily="34" charset="-120"/>
              </a:rPr>
              <a:t>121 317</a:t>
            </a:r>
            <a:endParaRPr lang="en-US" sz="2800" dirty="0"/>
          </a:p>
        </p:txBody>
      </p:sp>
      <p:sp>
        <p:nvSpPr>
          <p:cNvPr id="21" name="Text 19"/>
          <p:cNvSpPr/>
          <p:nvPr/>
        </p:nvSpPr>
        <p:spPr>
          <a:xfrm>
            <a:off x="5025380" y="4204791"/>
            <a:ext cx="14808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lignes de vente</a:t>
            </a:r>
            <a:endParaRPr lang="en-US" sz="1200" dirty="0"/>
          </a:p>
        </p:txBody>
      </p:sp>
      <p:sp>
        <p:nvSpPr>
          <p:cNvPr id="22" name="Shape 20"/>
          <p:cNvSpPr/>
          <p:nvPr/>
        </p:nvSpPr>
        <p:spPr>
          <a:xfrm>
            <a:off x="6969770" y="1899841"/>
            <a:ext cx="4409430" cy="2941141"/>
          </a:xfrm>
          <a:prstGeom prst="roundRect">
            <a:avLst>
              <a:gd name="adj" fmla="val 3454"/>
            </a:avLst>
          </a:prstGeom>
          <a:solidFill>
            <a:srgbClr val="1F3B47"/>
          </a:solidFill>
          <a:ln/>
        </p:spPr>
        <p:txBody>
          <a:bodyPr/>
          <a:lstStyle/>
          <a:p>
            <a:endParaRPr lang="fr-FR"/>
          </a:p>
        </p:txBody>
      </p:sp>
      <p:sp>
        <p:nvSpPr>
          <p:cNvPr id="23" name="Text 21"/>
          <p:cNvSpPr/>
          <p:nvPr/>
        </p:nvSpPr>
        <p:spPr>
          <a:xfrm>
            <a:off x="7223770" y="2153841"/>
            <a:ext cx="401847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6F5"/>
                </a:solidFill>
                <a:latin typeface="Rubik" pitchFamily="34" charset="0"/>
                <a:ea typeface="Rubik" pitchFamily="34" charset="-122"/>
                <a:cs typeface="Rubik" pitchFamily="34" charset="-120"/>
              </a:rPr>
              <a:t>Périmètre temporel</a:t>
            </a:r>
            <a:endParaRPr lang="en-US" sz="1800" dirty="0"/>
          </a:p>
        </p:txBody>
      </p:sp>
      <p:sp>
        <p:nvSpPr>
          <p:cNvPr id="24" name="Text 22"/>
          <p:cNvSpPr/>
          <p:nvPr/>
        </p:nvSpPr>
        <p:spPr>
          <a:xfrm>
            <a:off x="7223770" y="2580531"/>
            <a:ext cx="40184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4F6F5"/>
                </a:solidFill>
                <a:latin typeface="IBM Plex Sans" pitchFamily="34" charset="0"/>
                <a:ea typeface="IBM Plex Sans" pitchFamily="34" charset="-122"/>
                <a:cs typeface="IBM Plex Sans" pitchFamily="34" charset="-120"/>
              </a:rPr>
              <a:t>Achats</a:t>
            </a:r>
            <a:r>
              <a:rPr lang="en-US" sz="1400" dirty="0">
                <a:solidFill>
                  <a:srgbClr val="F4F6F5"/>
                </a:solidFill>
                <a:latin typeface="IBM Plex Sans" pitchFamily="34" charset="0"/>
                <a:ea typeface="IBM Plex Sans" pitchFamily="34" charset="-122"/>
                <a:cs typeface="IBM Plex Sans" pitchFamily="34" charset="-120"/>
              </a:rPr>
              <a:t> : avril 2022 → septembre 2025</a:t>
            </a:r>
            <a:endParaRPr lang="en-US" sz="1400" dirty="0"/>
          </a:p>
        </p:txBody>
      </p:sp>
      <p:sp>
        <p:nvSpPr>
          <p:cNvPr id="25" name="Text 23"/>
          <p:cNvSpPr/>
          <p:nvPr/>
        </p:nvSpPr>
        <p:spPr>
          <a:xfrm>
            <a:off x="7223770" y="2981821"/>
            <a:ext cx="40184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4F6F5"/>
                </a:solidFill>
                <a:latin typeface="IBM Plex Sans" pitchFamily="34" charset="0"/>
                <a:ea typeface="IBM Plex Sans" pitchFamily="34" charset="-122"/>
                <a:cs typeface="IBM Plex Sans" pitchFamily="34" charset="-120"/>
              </a:rPr>
              <a:t>Ventes</a:t>
            </a:r>
            <a:r>
              <a:rPr lang="en-US" sz="1400" dirty="0">
                <a:solidFill>
                  <a:srgbClr val="F4F6F5"/>
                </a:solidFill>
                <a:latin typeface="IBM Plex Sans" pitchFamily="34" charset="0"/>
                <a:ea typeface="IBM Plex Sans" pitchFamily="34" charset="-122"/>
                <a:cs typeface="IBM Plex Sans" pitchFamily="34" charset="-120"/>
              </a:rPr>
              <a:t> : mai 2022 → juin 2025</a:t>
            </a:r>
            <a:endParaRPr lang="en-US" sz="1400" dirty="0"/>
          </a:p>
        </p:txBody>
      </p:sp>
      <p:sp>
        <p:nvSpPr>
          <p:cNvPr id="26" name="Text 24"/>
          <p:cNvSpPr/>
          <p:nvPr/>
        </p:nvSpPr>
        <p:spPr>
          <a:xfrm>
            <a:off x="7223770" y="3383111"/>
            <a:ext cx="40184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4F6F5"/>
                </a:solidFill>
                <a:latin typeface="IBM Plex Sans" pitchFamily="34" charset="0"/>
                <a:ea typeface="IBM Plex Sans" pitchFamily="34" charset="-122"/>
                <a:cs typeface="IBM Plex Sans" pitchFamily="34" charset="-120"/>
              </a:rPr>
              <a:t>Stock</a:t>
            </a:r>
            <a:r>
              <a:rPr lang="en-US" sz="1400" dirty="0">
                <a:solidFill>
                  <a:srgbClr val="F4F6F5"/>
                </a:solidFill>
                <a:latin typeface="IBM Plex Sans" pitchFamily="34" charset="0"/>
                <a:ea typeface="IBM Plex Sans" pitchFamily="34" charset="-122"/>
                <a:cs typeface="IBM Plex Sans" pitchFamily="34" charset="-120"/>
              </a:rPr>
              <a:t> : photo à date (pas d'historique)</a:t>
            </a:r>
            <a:endParaRPr lang="en-US" sz="1400" dirty="0"/>
          </a:p>
        </p:txBody>
      </p:sp>
      <p:sp>
        <p:nvSpPr>
          <p:cNvPr id="27" name="Text 25"/>
          <p:cNvSpPr/>
          <p:nvPr/>
        </p:nvSpPr>
        <p:spPr>
          <a:xfrm>
            <a:off x="7223770" y="3784402"/>
            <a:ext cx="401847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8D5"/>
                </a:solidFill>
                <a:latin typeface="IBM Plex Sans" pitchFamily="34" charset="0"/>
                <a:ea typeface="IBM Plex Sans" pitchFamily="34" charset="-122"/>
                <a:cs typeface="IBM Plex Sans" pitchFamily="34" charset="-120"/>
              </a:rPr>
              <a:t>Source : fichiers CSV Microsoft (GitHub). Environnement 100 % local, sans cloud.</a:t>
            </a:r>
            <a:endParaRPr lang="en-US" sz="1200" dirty="0"/>
          </a:p>
        </p:txBody>
      </p:sp>
      <p:sp>
        <p:nvSpPr>
          <p:cNvPr id="28" name="Text 2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3"/>
                </a:solidFill>
                <a:latin typeface="IBM Plex Sans" pitchFamily="34" charset="0"/>
                <a:ea typeface="IBM Plex Sans" pitchFamily="34" charset="-122"/>
                <a:cs typeface="IBM Plex Sans" pitchFamily="34" charset="-120"/>
              </a:rPr>
              <a:t>AdventureWorks · Données et transformation</a:t>
            </a:r>
            <a:endParaRPr lang="en-US" sz="1200" dirty="0"/>
          </a:p>
        </p:txBody>
      </p:sp>
      <p:sp>
        <p:nvSpPr>
          <p:cNvPr id="29" name="Text 2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B73"/>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D6E"/>
                </a:solidFill>
                <a:latin typeface="IBM Plex Sans" pitchFamily="34" charset="0"/>
                <a:ea typeface="IBM Plex Sans" pitchFamily="34" charset="-122"/>
                <a:cs typeface="IBM Plex Sans" pitchFamily="34" charset="-120"/>
              </a:rPr>
              <a:t>TRANSFORMATION</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F2A2E"/>
                </a:solidFill>
                <a:latin typeface="Rubik" pitchFamily="34" charset="0"/>
                <a:ea typeface="Rubik" pitchFamily="34" charset="-122"/>
                <a:cs typeface="Rubik" pitchFamily="34" charset="-120"/>
              </a:rPr>
              <a:t>Un pipeline 100 % local, du CSV au dashboard</a:t>
            </a:r>
            <a:endParaRPr lang="en-US" sz="3200" dirty="0"/>
          </a:p>
        </p:txBody>
      </p:sp>
      <p:sp>
        <p:nvSpPr>
          <p:cNvPr id="41" name="Text 3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3"/>
                </a:solidFill>
                <a:latin typeface="IBM Plex Sans" pitchFamily="34" charset="0"/>
                <a:ea typeface="IBM Plex Sans" pitchFamily="34" charset="-122"/>
                <a:cs typeface="IBM Plex Sans" pitchFamily="34" charset="-120"/>
              </a:rPr>
              <a:t>AdventureWorks · Données et transformation</a:t>
            </a:r>
            <a:endParaRPr lang="en-US" sz="1200" dirty="0"/>
          </a:p>
        </p:txBody>
      </p:sp>
      <p:sp>
        <p:nvSpPr>
          <p:cNvPr id="42" name="Text 3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B73"/>
                </a:solidFill>
                <a:latin typeface="IBM Plex Sans" pitchFamily="34" charset="0"/>
                <a:ea typeface="IBM Plex Sans" pitchFamily="34" charset="-122"/>
                <a:cs typeface="IBM Plex Sans" pitchFamily="34" charset="-120"/>
              </a:rPr>
              <a:t>05</a:t>
            </a:r>
            <a:endParaRPr lang="en-US" sz="1200" dirty="0"/>
          </a:p>
        </p:txBody>
      </p:sp>
      <p:sp>
        <p:nvSpPr>
          <p:cNvPr id="50" name="Étape 1"/>
          <p:cNvSpPr/>
          <p:nvPr/>
        </p:nvSpPr>
        <p:spPr>
          <a:xfrm>
            <a:off x="812800" y="1905000"/>
            <a:ext cx="1570567" cy="1676400"/>
          </a:xfrm>
          <a:prstGeom prst="roundRect">
            <a:avLst>
              <a:gd name="adj" fmla="val 7388"/>
            </a:avLst>
          </a:prstGeom>
          <a:solidFill>
            <a:srgbClr val="FBFCFB"/>
          </a:solidFill>
          <a:ln w="6350">
            <a:solidFill>
              <a:srgbClr val="DCE3E0"/>
            </a:solidFill>
          </a:ln>
        </p:spPr>
        <p:txBody>
          <a:bodyPr wrap="square" lIns="127000" tIns="152400" rIns="76200" bIns="127000" anchor="t">
            <a:noAutofit/>
          </a:bodyPr>
          <a:lstStyle/>
          <a:p>
            <a:pPr marL="0" indent="0" algn="l">
              <a:lnSpc>
                <a:spcPts val="1560"/>
              </a:lnSpc>
              <a:buNone/>
            </a:pPr>
            <a:r>
              <a:rPr lang="fr-FR" sz="1200" b="1" dirty="0">
                <a:solidFill>
                  <a:srgbClr val="2F5D6E"/>
                </a:solidFill>
                <a:latin typeface="IBM Plex Sans" pitchFamily="34" charset="0"/>
                <a:ea typeface="IBM Plex Sans" pitchFamily="34" charset="-122"/>
                <a:cs typeface="IBM Plex Sans" pitchFamily="34" charset="-120"/>
              </a:rPr>
              <a:t>1 · Source</a:t>
            </a:r>
          </a:p>
          <a:p>
            <a:pPr marL="0" indent="0" algn="l">
              <a:lnSpc>
                <a:spcPts val="1920"/>
              </a:lnSpc>
              <a:spcBef>
                <a:spcPts val="500"/>
              </a:spcBef>
              <a:buNone/>
            </a:pPr>
            <a:r>
              <a:rPr lang="fr-FR" sz="1600" b="1" dirty="0">
                <a:solidFill>
                  <a:srgbClr val="1F2A2E"/>
                </a:solidFill>
                <a:latin typeface="Rubik" pitchFamily="34" charset="0"/>
                <a:ea typeface="Rubik" pitchFamily="34" charset="-122"/>
                <a:cs typeface="Rubik" pitchFamily="34" charset="-120"/>
              </a:rPr>
              <a:t>CSV bruts</a:t>
            </a:r>
          </a:p>
          <a:p>
            <a:pPr marL="0" indent="0" algn="l">
              <a:lnSpc>
                <a:spcPts val="1560"/>
              </a:lnSpc>
              <a:spcBef>
                <a:spcPts val="300"/>
              </a:spcBef>
              <a:buNone/>
            </a:pPr>
            <a:r>
              <a:rPr lang="fr-FR" sz="1200" dirty="0">
                <a:solidFill>
                  <a:srgbClr val="4A5A61"/>
                </a:solidFill>
                <a:latin typeface="IBM Plex Sans" pitchFamily="34" charset="0"/>
                <a:ea typeface="IBM Plex Sans" pitchFamily="34" charset="-122"/>
                <a:cs typeface="IBM Plex Sans" pitchFamily="34" charset="-120"/>
              </a:rPr>
              <a:t>15 fichiers tabulés, sans en-têtes</a:t>
            </a:r>
          </a:p>
        </p:txBody>
      </p:sp>
      <p:pic>
        <p:nvPicPr>
          <p:cNvPr id="51" name="Flèche 1" descr="connector"/>
          <p:cNvPicPr>
            <a:picLocks noChangeAspect="1"/>
          </p:cNvPicPr>
          <p:nvPr/>
        </p:nvPicPr>
        <p:blipFill>
          <a:blip r:embed="rId3"/>
          <a:stretch/>
        </p:blipFill>
        <p:spPr>
          <a:xfrm>
            <a:off x="2370667" y="2692400"/>
            <a:ext cx="254000" cy="101600"/>
          </a:xfrm>
          <a:prstGeom prst="rect">
            <a:avLst/>
          </a:prstGeom>
        </p:spPr>
      </p:pic>
      <p:sp>
        <p:nvSpPr>
          <p:cNvPr id="52" name="Étape 2"/>
          <p:cNvSpPr/>
          <p:nvPr/>
        </p:nvSpPr>
        <p:spPr>
          <a:xfrm>
            <a:off x="2611967" y="1905000"/>
            <a:ext cx="1570567" cy="1676400"/>
          </a:xfrm>
          <a:prstGeom prst="roundRect">
            <a:avLst>
              <a:gd name="adj" fmla="val 7388"/>
            </a:avLst>
          </a:prstGeom>
          <a:solidFill>
            <a:srgbClr val="FBFCFB"/>
          </a:solidFill>
          <a:ln w="6350">
            <a:solidFill>
              <a:srgbClr val="DCE3E0"/>
            </a:solidFill>
          </a:ln>
        </p:spPr>
        <p:txBody>
          <a:bodyPr wrap="square" lIns="127000" tIns="152400" rIns="76200" bIns="127000" anchor="t">
            <a:noAutofit/>
          </a:bodyPr>
          <a:lstStyle/>
          <a:p>
            <a:pPr marL="0" indent="0" algn="l">
              <a:lnSpc>
                <a:spcPts val="1560"/>
              </a:lnSpc>
              <a:buNone/>
            </a:pPr>
            <a:r>
              <a:rPr lang="fr-FR" sz="1200" b="1" dirty="0">
                <a:solidFill>
                  <a:srgbClr val="2F5D6E"/>
                </a:solidFill>
                <a:latin typeface="IBM Plex Sans" pitchFamily="34" charset="0"/>
                <a:ea typeface="IBM Plex Sans" pitchFamily="34" charset="-122"/>
                <a:cs typeface="IBM Plex Sans" pitchFamily="34" charset="-120"/>
              </a:rPr>
              <a:t>2 · Formatage</a:t>
            </a:r>
          </a:p>
          <a:p>
            <a:pPr marL="0" indent="0" algn="l">
              <a:lnSpc>
                <a:spcPts val="1920"/>
              </a:lnSpc>
              <a:spcBef>
                <a:spcPts val="500"/>
              </a:spcBef>
              <a:buNone/>
            </a:pPr>
            <a:r>
              <a:rPr lang="fr-FR" sz="1600" b="1" dirty="0">
                <a:solidFill>
                  <a:srgbClr val="1F2A2E"/>
                </a:solidFill>
                <a:latin typeface="Rubik" pitchFamily="34" charset="0"/>
                <a:ea typeface="Rubik" pitchFamily="34" charset="-122"/>
                <a:cs typeface="Rubik" pitchFamily="34" charset="-120"/>
              </a:rPr>
              <a:t>Python</a:t>
            </a:r>
          </a:p>
          <a:p>
            <a:pPr marL="0" indent="0" algn="l">
              <a:lnSpc>
                <a:spcPts val="1560"/>
              </a:lnSpc>
              <a:spcBef>
                <a:spcPts val="300"/>
              </a:spcBef>
              <a:buNone/>
            </a:pPr>
            <a:r>
              <a:rPr lang="fr-FR" sz="1200" dirty="0">
                <a:solidFill>
                  <a:srgbClr val="4A5A61"/>
                </a:solidFill>
                <a:latin typeface="IBM Plex Sans" pitchFamily="34" charset="0"/>
                <a:ea typeface="IBM Plex Sans" pitchFamily="34" charset="-122"/>
                <a:cs typeface="IBM Plex Sans" pitchFamily="34" charset="-120"/>
              </a:rPr>
              <a:t>pandas : add_headers, EDA</a:t>
            </a:r>
          </a:p>
        </p:txBody>
      </p:sp>
      <p:pic>
        <p:nvPicPr>
          <p:cNvPr id="53" name="Flèche 2" descr="connector"/>
          <p:cNvPicPr>
            <a:picLocks noChangeAspect="1"/>
          </p:cNvPicPr>
          <p:nvPr/>
        </p:nvPicPr>
        <p:blipFill>
          <a:blip r:embed="rId3"/>
          <a:stretch/>
        </p:blipFill>
        <p:spPr>
          <a:xfrm>
            <a:off x="4169833" y="2692400"/>
            <a:ext cx="254000" cy="101600"/>
          </a:xfrm>
          <a:prstGeom prst="rect">
            <a:avLst/>
          </a:prstGeom>
        </p:spPr>
      </p:pic>
      <p:sp>
        <p:nvSpPr>
          <p:cNvPr id="54" name="Étape 3"/>
          <p:cNvSpPr/>
          <p:nvPr/>
        </p:nvSpPr>
        <p:spPr>
          <a:xfrm>
            <a:off x="4411133" y="1905000"/>
            <a:ext cx="1570567" cy="1676400"/>
          </a:xfrm>
          <a:prstGeom prst="roundRect">
            <a:avLst>
              <a:gd name="adj" fmla="val 7388"/>
            </a:avLst>
          </a:prstGeom>
          <a:solidFill>
            <a:srgbClr val="FBFCFB"/>
          </a:solidFill>
          <a:ln w="6350">
            <a:solidFill>
              <a:srgbClr val="DCE3E0"/>
            </a:solidFill>
          </a:ln>
        </p:spPr>
        <p:txBody>
          <a:bodyPr wrap="square" lIns="127000" tIns="152400" rIns="76200" bIns="127000" anchor="t">
            <a:noAutofit/>
          </a:bodyPr>
          <a:lstStyle/>
          <a:p>
            <a:pPr marL="0" indent="0" algn="l">
              <a:lnSpc>
                <a:spcPts val="1560"/>
              </a:lnSpc>
              <a:buNone/>
            </a:pPr>
            <a:r>
              <a:rPr lang="fr-FR" sz="1200" b="1" dirty="0">
                <a:solidFill>
                  <a:srgbClr val="2F5D6E"/>
                </a:solidFill>
                <a:latin typeface="IBM Plex Sans" pitchFamily="34" charset="0"/>
                <a:ea typeface="IBM Plex Sans" pitchFamily="34" charset="-122"/>
                <a:cs typeface="IBM Plex Sans" pitchFamily="34" charset="-120"/>
              </a:rPr>
              <a:t>3 · Stockage</a:t>
            </a:r>
          </a:p>
          <a:p>
            <a:pPr marL="0" indent="0" algn="l">
              <a:lnSpc>
                <a:spcPts val="1920"/>
              </a:lnSpc>
              <a:spcBef>
                <a:spcPts val="500"/>
              </a:spcBef>
              <a:buNone/>
            </a:pPr>
            <a:r>
              <a:rPr lang="fr-FR" sz="1600" b="1" dirty="0">
                <a:solidFill>
                  <a:srgbClr val="1F2A2E"/>
                </a:solidFill>
                <a:latin typeface="Rubik" pitchFamily="34" charset="0"/>
                <a:ea typeface="Rubik" pitchFamily="34" charset="-122"/>
                <a:cs typeface="Rubik" pitchFamily="34" charset="-120"/>
              </a:rPr>
              <a:t>SQLite</a:t>
            </a:r>
          </a:p>
          <a:p>
            <a:pPr marL="0" indent="0" algn="l">
              <a:lnSpc>
                <a:spcPts val="1560"/>
              </a:lnSpc>
              <a:spcBef>
                <a:spcPts val="300"/>
              </a:spcBef>
              <a:buNone/>
            </a:pPr>
            <a:r>
              <a:rPr lang="fr-FR" sz="1200" dirty="0">
                <a:solidFill>
                  <a:srgbClr val="4A5A61"/>
                </a:solidFill>
                <a:latin typeface="IBM Plex Sans" pitchFamily="34" charset="0"/>
                <a:ea typeface="IBM Plex Sans" pitchFamily="34" charset="-122"/>
                <a:cs typeface="IBM Plex Sans" pitchFamily="34" charset="-120"/>
              </a:rPr>
              <a:t>DBeaver + API FastAPI (CRUD)</a:t>
            </a:r>
          </a:p>
        </p:txBody>
      </p:sp>
      <p:pic>
        <p:nvPicPr>
          <p:cNvPr id="55" name="Flèche 3" descr="connector"/>
          <p:cNvPicPr>
            <a:picLocks noChangeAspect="1"/>
          </p:cNvPicPr>
          <p:nvPr/>
        </p:nvPicPr>
        <p:blipFill>
          <a:blip r:embed="rId3"/>
          <a:stretch/>
        </p:blipFill>
        <p:spPr>
          <a:xfrm>
            <a:off x="5969000" y="2692400"/>
            <a:ext cx="254000" cy="101600"/>
          </a:xfrm>
          <a:prstGeom prst="rect">
            <a:avLst/>
          </a:prstGeom>
        </p:spPr>
      </p:pic>
      <p:sp>
        <p:nvSpPr>
          <p:cNvPr id="56" name="Étape 4"/>
          <p:cNvSpPr/>
          <p:nvPr/>
        </p:nvSpPr>
        <p:spPr>
          <a:xfrm>
            <a:off x="6210300" y="1905000"/>
            <a:ext cx="1570567" cy="1676400"/>
          </a:xfrm>
          <a:prstGeom prst="roundRect">
            <a:avLst>
              <a:gd name="adj" fmla="val 7388"/>
            </a:avLst>
          </a:prstGeom>
          <a:solidFill>
            <a:srgbClr val="FBFCFB"/>
          </a:solidFill>
          <a:ln w="6350">
            <a:solidFill>
              <a:srgbClr val="DCE3E0"/>
            </a:solidFill>
          </a:ln>
        </p:spPr>
        <p:txBody>
          <a:bodyPr wrap="square" lIns="127000" tIns="152400" rIns="76200" bIns="127000" anchor="t">
            <a:noAutofit/>
          </a:bodyPr>
          <a:lstStyle/>
          <a:p>
            <a:pPr marL="0" indent="0" algn="l">
              <a:lnSpc>
                <a:spcPts val="1560"/>
              </a:lnSpc>
              <a:buNone/>
            </a:pPr>
            <a:r>
              <a:rPr lang="fr-FR" sz="1200" b="1" dirty="0">
                <a:solidFill>
                  <a:srgbClr val="2F5D6E"/>
                </a:solidFill>
                <a:latin typeface="IBM Plex Sans" pitchFamily="34" charset="0"/>
                <a:ea typeface="IBM Plex Sans" pitchFamily="34" charset="-122"/>
                <a:cs typeface="IBM Plex Sans" pitchFamily="34" charset="-120"/>
              </a:rPr>
              <a:t>4 · Nettoyage</a:t>
            </a:r>
          </a:p>
          <a:p>
            <a:pPr marL="0" indent="0" algn="l">
              <a:lnSpc>
                <a:spcPts val="1920"/>
              </a:lnSpc>
              <a:spcBef>
                <a:spcPts val="500"/>
              </a:spcBef>
              <a:buNone/>
            </a:pPr>
            <a:r>
              <a:rPr lang="fr-FR" sz="1600" b="1" dirty="0">
                <a:solidFill>
                  <a:srgbClr val="1F2A2E"/>
                </a:solidFill>
                <a:latin typeface="Rubik" pitchFamily="34" charset="0"/>
                <a:ea typeface="Rubik" pitchFamily="34" charset="-122"/>
                <a:cs typeface="Rubik" pitchFamily="34" charset="-120"/>
              </a:rPr>
              <a:t>Pandas</a:t>
            </a:r>
          </a:p>
          <a:p>
            <a:pPr marL="0" indent="0" algn="l">
              <a:lnSpc>
                <a:spcPts val="1560"/>
              </a:lnSpc>
              <a:spcBef>
                <a:spcPts val="300"/>
              </a:spcBef>
              <a:buNone/>
            </a:pPr>
            <a:r>
              <a:rPr lang="fr-FR" sz="1200" dirty="0">
                <a:solidFill>
                  <a:srgbClr val="4A5A61"/>
                </a:solidFill>
                <a:latin typeface="IBM Plex Sans" pitchFamily="34" charset="0"/>
                <a:ea typeface="IBM Plex Sans" pitchFamily="34" charset="-122"/>
                <a:cs typeface="IBM Plex Sans" pitchFamily="34" charset="-120"/>
              </a:rPr>
              <a:t>SQLite3, script nettoyage.py</a:t>
            </a:r>
          </a:p>
        </p:txBody>
      </p:sp>
      <p:pic>
        <p:nvPicPr>
          <p:cNvPr id="57" name="Flèche 4" descr="connector"/>
          <p:cNvPicPr>
            <a:picLocks noChangeAspect="1"/>
          </p:cNvPicPr>
          <p:nvPr/>
        </p:nvPicPr>
        <p:blipFill>
          <a:blip r:embed="rId3"/>
          <a:stretch/>
        </p:blipFill>
        <p:spPr>
          <a:xfrm>
            <a:off x="7768167" y="2692400"/>
            <a:ext cx="254000" cy="101600"/>
          </a:xfrm>
          <a:prstGeom prst="rect">
            <a:avLst/>
          </a:prstGeom>
        </p:spPr>
      </p:pic>
      <p:sp>
        <p:nvSpPr>
          <p:cNvPr id="58" name="Étape 5"/>
          <p:cNvSpPr/>
          <p:nvPr/>
        </p:nvSpPr>
        <p:spPr>
          <a:xfrm>
            <a:off x="8009467" y="1905000"/>
            <a:ext cx="1570567" cy="1676400"/>
          </a:xfrm>
          <a:prstGeom prst="roundRect">
            <a:avLst>
              <a:gd name="adj" fmla="val 7388"/>
            </a:avLst>
          </a:prstGeom>
          <a:solidFill>
            <a:srgbClr val="FBFCFB"/>
          </a:solidFill>
          <a:ln w="6350">
            <a:solidFill>
              <a:srgbClr val="DCE3E0"/>
            </a:solidFill>
          </a:ln>
        </p:spPr>
        <p:txBody>
          <a:bodyPr wrap="square" lIns="127000" tIns="152400" rIns="76200" bIns="127000" anchor="t">
            <a:noAutofit/>
          </a:bodyPr>
          <a:lstStyle/>
          <a:p>
            <a:pPr marL="0" indent="0" algn="l">
              <a:lnSpc>
                <a:spcPts val="1560"/>
              </a:lnSpc>
              <a:buNone/>
            </a:pPr>
            <a:r>
              <a:rPr lang="fr-FR" sz="1200" b="1" dirty="0">
                <a:solidFill>
                  <a:srgbClr val="2F5D6E"/>
                </a:solidFill>
                <a:latin typeface="IBM Plex Sans" pitchFamily="34" charset="0"/>
                <a:ea typeface="IBM Plex Sans" pitchFamily="34" charset="-122"/>
                <a:cs typeface="IBM Plex Sans" pitchFamily="34" charset="-120"/>
              </a:rPr>
              <a:t>5 · Export</a:t>
            </a:r>
          </a:p>
          <a:p>
            <a:pPr marL="0" indent="0" algn="l">
              <a:lnSpc>
                <a:spcPts val="1920"/>
              </a:lnSpc>
              <a:spcBef>
                <a:spcPts val="500"/>
              </a:spcBef>
              <a:buNone/>
            </a:pPr>
            <a:r>
              <a:rPr lang="fr-FR" sz="1600" b="1" dirty="0">
                <a:solidFill>
                  <a:srgbClr val="1F2A2E"/>
                </a:solidFill>
                <a:latin typeface="Rubik" pitchFamily="34" charset="0"/>
                <a:ea typeface="Rubik" pitchFamily="34" charset="-122"/>
                <a:cs typeface="Rubik" pitchFamily="34" charset="-120"/>
              </a:rPr>
              <a:t>Parquet</a:t>
            </a:r>
          </a:p>
          <a:p>
            <a:pPr marL="0" indent="0" algn="l">
              <a:lnSpc>
                <a:spcPts val="1560"/>
              </a:lnSpc>
              <a:spcBef>
                <a:spcPts val="300"/>
              </a:spcBef>
              <a:buNone/>
            </a:pPr>
            <a:r>
              <a:rPr lang="fr-FR" sz="1200" dirty="0">
                <a:solidFill>
                  <a:srgbClr val="4A5A61"/>
                </a:solidFill>
                <a:latin typeface="IBM Plex Sans" pitchFamily="34" charset="0"/>
                <a:ea typeface="IBM Plex Sans" pitchFamily="34" charset="-122"/>
                <a:cs typeface="IBM Plex Sans" pitchFamily="34" charset="-120"/>
              </a:rPr>
              <a:t>Fichiers typés pour Power BI</a:t>
            </a:r>
          </a:p>
        </p:txBody>
      </p:sp>
      <p:pic>
        <p:nvPicPr>
          <p:cNvPr id="59" name="Flèche 5" descr="connector"/>
          <p:cNvPicPr>
            <a:picLocks noChangeAspect="1"/>
          </p:cNvPicPr>
          <p:nvPr/>
        </p:nvPicPr>
        <p:blipFill>
          <a:blip r:embed="rId3"/>
          <a:stretch/>
        </p:blipFill>
        <p:spPr>
          <a:xfrm>
            <a:off x="9567333" y="2692400"/>
            <a:ext cx="254000" cy="101600"/>
          </a:xfrm>
          <a:prstGeom prst="rect">
            <a:avLst/>
          </a:prstGeom>
        </p:spPr>
      </p:pic>
      <p:sp>
        <p:nvSpPr>
          <p:cNvPr id="60" name="Étape 6"/>
          <p:cNvSpPr/>
          <p:nvPr/>
        </p:nvSpPr>
        <p:spPr>
          <a:xfrm>
            <a:off x="9808633" y="1905000"/>
            <a:ext cx="1570567" cy="1676400"/>
          </a:xfrm>
          <a:prstGeom prst="roundRect">
            <a:avLst>
              <a:gd name="adj" fmla="val 7388"/>
            </a:avLst>
          </a:prstGeom>
          <a:solidFill>
            <a:srgbClr val="2F5D6E"/>
          </a:solidFill>
          <a:ln w="6350">
            <a:solidFill>
              <a:srgbClr val="2F5D6E"/>
            </a:solidFill>
          </a:ln>
        </p:spPr>
        <p:txBody>
          <a:bodyPr wrap="square" lIns="127000" tIns="152400" rIns="76200" bIns="127000" anchor="t">
            <a:noAutofit/>
          </a:bodyPr>
          <a:lstStyle/>
          <a:p>
            <a:pPr marL="0" indent="0" algn="l">
              <a:lnSpc>
                <a:spcPts val="1560"/>
              </a:lnSpc>
              <a:buNone/>
            </a:pPr>
            <a:r>
              <a:rPr lang="fr-FR" sz="1200" b="1" dirty="0">
                <a:solidFill>
                  <a:srgbClr val="CFE6DA"/>
                </a:solidFill>
                <a:latin typeface="IBM Plex Sans" pitchFamily="34" charset="0"/>
                <a:ea typeface="IBM Plex Sans" pitchFamily="34" charset="-122"/>
                <a:cs typeface="IBM Plex Sans" pitchFamily="34" charset="-120"/>
              </a:rPr>
              <a:t>6 · Visualisation</a:t>
            </a:r>
          </a:p>
          <a:p>
            <a:pPr marL="0" indent="0" algn="l">
              <a:lnSpc>
                <a:spcPts val="1920"/>
              </a:lnSpc>
              <a:spcBef>
                <a:spcPts val="500"/>
              </a:spcBef>
              <a:buNone/>
            </a:pPr>
            <a:r>
              <a:rPr lang="fr-FR" sz="1600" b="1" dirty="0">
                <a:solidFill>
                  <a:srgbClr val="F4F6F5"/>
                </a:solidFill>
                <a:latin typeface="Rubik" pitchFamily="34" charset="0"/>
                <a:ea typeface="Rubik" pitchFamily="34" charset="-122"/>
                <a:cs typeface="Rubik" pitchFamily="34" charset="-120"/>
              </a:rPr>
              <a:t>Power BI</a:t>
            </a:r>
          </a:p>
          <a:p>
            <a:pPr marL="0" indent="0" algn="l">
              <a:lnSpc>
                <a:spcPts val="1560"/>
              </a:lnSpc>
              <a:spcBef>
                <a:spcPts val="300"/>
              </a:spcBef>
              <a:buNone/>
            </a:pPr>
            <a:r>
              <a:rPr lang="fr-FR" sz="1200" dirty="0">
                <a:solidFill>
                  <a:srgbClr val="E3EEEA"/>
                </a:solidFill>
                <a:latin typeface="IBM Plex Sans" pitchFamily="34" charset="0"/>
                <a:ea typeface="IBM Plex Sans" pitchFamily="34" charset="-122"/>
                <a:cs typeface="IBM Plex Sans" pitchFamily="34" charset="-120"/>
              </a:rPr>
              <a:t>13 tables, DAX, 4 pages</a:t>
            </a:r>
          </a:p>
        </p:txBody>
      </p:sp>
      <p:sp>
        <p:nvSpPr>
          <p:cNvPr id="61" name="Titre décisions"/>
          <p:cNvSpPr txBox="1"/>
          <p:nvPr/>
        </p:nvSpPr>
        <p:spPr>
          <a:xfrm>
            <a:off x="812800" y="3860800"/>
            <a:ext cx="10566400" cy="279400"/>
          </a:xfrm>
          <a:prstGeom prst="rect">
            <a:avLst/>
          </a:prstGeom>
          <a:noFill/>
        </p:spPr>
        <p:txBody>
          <a:bodyPr wrap="square" lIns="0" tIns="0" rIns="0" bIns="0" anchor="t">
            <a:noAutofit/>
          </a:bodyPr>
          <a:lstStyle/>
          <a:p>
            <a:pPr marL="0" indent="0" algn="l">
              <a:lnSpc>
                <a:spcPts val="1920"/>
              </a:lnSpc>
              <a:buNone/>
            </a:pPr>
            <a:r>
              <a:rPr lang="fr-FR" sz="1600" b="1" dirty="0">
                <a:solidFill>
                  <a:srgbClr val="1F2A2E"/>
                </a:solidFill>
                <a:latin typeface="Rubik" pitchFamily="34" charset="0"/>
                <a:ea typeface="Rubik" pitchFamily="34" charset="-122"/>
                <a:cs typeface="Rubik" pitchFamily="34" charset="-120"/>
              </a:rPr>
              <a:t>Décisions de nettoyage</a:t>
            </a:r>
          </a:p>
        </p:txBody>
      </p:sp>
      <p:cxnSp>
        <p:nvCxnSpPr>
          <p:cNvPr id="62" name="Repère"/>
          <p:cNvCxnSpPr/>
          <p:nvPr/>
        </p:nvCxnSpPr>
        <p:spPr>
          <a:xfrm>
            <a:off x="825500" y="4292600"/>
            <a:ext cx="0" cy="457200"/>
          </a:xfrm>
          <a:prstGeom prst="line">
            <a:avLst/>
          </a:prstGeom>
          <a:ln w="25400">
            <a:solidFill>
              <a:srgbClr val="7DBE9A"/>
            </a:solidFill>
          </a:ln>
        </p:spPr>
      </p:cxnSp>
      <p:sp>
        <p:nvSpPr>
          <p:cNvPr id="63" name="Décision"/>
          <p:cNvSpPr txBox="1"/>
          <p:nvPr/>
        </p:nvSpPr>
        <p:spPr>
          <a:xfrm>
            <a:off x="990600" y="4267200"/>
            <a:ext cx="4902200" cy="508000"/>
          </a:xfrm>
          <a:prstGeom prst="rect">
            <a:avLst/>
          </a:prstGeom>
          <a:noFill/>
        </p:spPr>
        <p:txBody>
          <a:bodyPr wrap="square" lIns="0" tIns="0" rIns="0" bIns="0" anchor="t">
            <a:noAutofit/>
          </a:bodyPr>
          <a:lstStyle/>
          <a:p>
            <a:pPr marL="0" indent="0" algn="l">
              <a:lnSpc>
                <a:spcPts val="1900"/>
              </a:lnSpc>
              <a:buNone/>
            </a:pPr>
            <a:r>
              <a:rPr lang="fr-FR" sz="1400" b="1" dirty="0">
                <a:solidFill>
                  <a:srgbClr val="1F2A2E"/>
                </a:solidFill>
                <a:latin typeface="IBM Plex Sans" pitchFamily="34" charset="0"/>
                <a:ea typeface="IBM Plex Sans" pitchFamily="34" charset="-122"/>
                <a:cs typeface="IBM Plex Sans" pitchFamily="34" charset="-120"/>
              </a:rPr>
              <a:t>Dates</a:t>
            </a:r>
            <a:r>
              <a:rPr lang="fr-FR" sz="1400" dirty="0">
                <a:solidFill>
                  <a:srgbClr val="1F2A2E"/>
                </a:solidFill>
                <a:latin typeface="IBM Plex Sans" pitchFamily="34" charset="0"/>
                <a:ea typeface="IBM Plex Sans" pitchFamily="34" charset="-122"/>
                <a:cs typeface="IBM Plex Sans" pitchFamily="34" charset="-120"/>
              </a:rPr>
              <a:t> stockées en texte → converties en type Date</a:t>
            </a:r>
          </a:p>
        </p:txBody>
      </p:sp>
      <p:cxnSp>
        <p:nvCxnSpPr>
          <p:cNvPr id="64" name="Repère"/>
          <p:cNvCxnSpPr/>
          <p:nvPr/>
        </p:nvCxnSpPr>
        <p:spPr>
          <a:xfrm>
            <a:off x="825500" y="4927600"/>
            <a:ext cx="0" cy="457200"/>
          </a:xfrm>
          <a:prstGeom prst="line">
            <a:avLst/>
          </a:prstGeom>
          <a:ln w="25400">
            <a:solidFill>
              <a:srgbClr val="7DBE9A"/>
            </a:solidFill>
          </a:ln>
        </p:spPr>
      </p:cxnSp>
      <p:sp>
        <p:nvSpPr>
          <p:cNvPr id="65" name="Décision"/>
          <p:cNvSpPr txBox="1"/>
          <p:nvPr/>
        </p:nvSpPr>
        <p:spPr>
          <a:xfrm>
            <a:off x="990600" y="4902200"/>
            <a:ext cx="4902200" cy="508000"/>
          </a:xfrm>
          <a:prstGeom prst="rect">
            <a:avLst/>
          </a:prstGeom>
          <a:noFill/>
        </p:spPr>
        <p:txBody>
          <a:bodyPr wrap="square" lIns="0" tIns="0" rIns="0" bIns="0" anchor="t">
            <a:noAutofit/>
          </a:bodyPr>
          <a:lstStyle/>
          <a:p>
            <a:pPr marL="0" indent="0" algn="l">
              <a:lnSpc>
                <a:spcPts val="1900"/>
              </a:lnSpc>
              <a:buNone/>
            </a:pPr>
            <a:r>
              <a:rPr lang="fr-FR" sz="1400" b="1" dirty="0">
                <a:solidFill>
                  <a:srgbClr val="1F2A2E"/>
                </a:solidFill>
                <a:latin typeface="IBM Plex Sans" pitchFamily="34" charset="0"/>
                <a:ea typeface="IBM Plex Sans" pitchFamily="34" charset="-122"/>
                <a:cs typeface="IBM Plex Sans" pitchFamily="34" charset="-120"/>
              </a:rPr>
              <a:t>CA net</a:t>
            </a:r>
            <a:r>
              <a:rPr lang="fr-FR" sz="1400" dirty="0">
                <a:solidFill>
                  <a:srgbClr val="1F2A2E"/>
                </a:solidFill>
                <a:latin typeface="IBM Plex Sans" pitchFamily="34" charset="0"/>
                <a:ea typeface="IBM Plex Sans" pitchFamily="34" charset="-122"/>
                <a:cs typeface="IBM Plex Sans" pitchFamily="34" charset="-120"/>
              </a:rPr>
              <a:t> recalculé avec la remise : qté × prix × (1 − remise)</a:t>
            </a:r>
          </a:p>
        </p:txBody>
      </p:sp>
      <p:cxnSp>
        <p:nvCxnSpPr>
          <p:cNvPr id="66" name="Repère"/>
          <p:cNvCxnSpPr/>
          <p:nvPr/>
        </p:nvCxnSpPr>
        <p:spPr>
          <a:xfrm>
            <a:off x="825500" y="5562600"/>
            <a:ext cx="0" cy="457200"/>
          </a:xfrm>
          <a:prstGeom prst="line">
            <a:avLst/>
          </a:prstGeom>
          <a:ln w="25400">
            <a:solidFill>
              <a:srgbClr val="7DBE9A"/>
            </a:solidFill>
          </a:ln>
        </p:spPr>
      </p:cxnSp>
      <p:sp>
        <p:nvSpPr>
          <p:cNvPr id="67" name="Décision"/>
          <p:cNvSpPr txBox="1"/>
          <p:nvPr/>
        </p:nvSpPr>
        <p:spPr>
          <a:xfrm>
            <a:off x="990600" y="5537200"/>
            <a:ext cx="4902200" cy="508000"/>
          </a:xfrm>
          <a:prstGeom prst="rect">
            <a:avLst/>
          </a:prstGeom>
          <a:noFill/>
        </p:spPr>
        <p:txBody>
          <a:bodyPr wrap="square" lIns="0" tIns="0" rIns="0" bIns="0" anchor="t">
            <a:noAutofit/>
          </a:bodyPr>
          <a:lstStyle/>
          <a:p>
            <a:pPr marL="0" indent="0" algn="l">
              <a:lnSpc>
                <a:spcPts val="1900"/>
              </a:lnSpc>
              <a:buNone/>
            </a:pPr>
            <a:r>
              <a:rPr lang="fr-FR" sz="1400" b="1" dirty="0">
                <a:solidFill>
                  <a:srgbClr val="1F2A2E"/>
                </a:solidFill>
                <a:latin typeface="IBM Plex Sans" pitchFamily="34" charset="0"/>
                <a:ea typeface="IBM Plex Sans" pitchFamily="34" charset="-122"/>
                <a:cs typeface="IBM Plex Sans" pitchFamily="34" charset="-120"/>
              </a:rPr>
              <a:t>RGPD</a:t>
            </a:r>
            <a:r>
              <a:rPr lang="fr-FR" sz="1400" dirty="0">
                <a:solidFill>
                  <a:srgbClr val="1F2A2E"/>
                </a:solidFill>
                <a:latin typeface="IBM Plex Sans" pitchFamily="34" charset="0"/>
                <a:ea typeface="IBM Plex Sans" pitchFamily="34" charset="-122"/>
                <a:cs typeface="IBM Plex Sans" pitchFamily="34" charset="-120"/>
              </a:rPr>
              <a:t> : données personnelles (Person) exclues du modèle (minimisation, art. 5.1.c)</a:t>
            </a:r>
          </a:p>
        </p:txBody>
      </p:sp>
      <p:cxnSp>
        <p:nvCxnSpPr>
          <p:cNvPr id="68" name="Repère"/>
          <p:cNvCxnSpPr/>
          <p:nvPr/>
        </p:nvCxnSpPr>
        <p:spPr>
          <a:xfrm>
            <a:off x="6311900" y="4292600"/>
            <a:ext cx="0" cy="457200"/>
          </a:xfrm>
          <a:prstGeom prst="line">
            <a:avLst/>
          </a:prstGeom>
          <a:ln w="25400">
            <a:solidFill>
              <a:srgbClr val="7DBE9A"/>
            </a:solidFill>
          </a:ln>
        </p:spPr>
      </p:cxnSp>
      <p:sp>
        <p:nvSpPr>
          <p:cNvPr id="69" name="Décision"/>
          <p:cNvSpPr txBox="1"/>
          <p:nvPr/>
        </p:nvSpPr>
        <p:spPr>
          <a:xfrm>
            <a:off x="6477000" y="4267200"/>
            <a:ext cx="4902200" cy="508000"/>
          </a:xfrm>
          <a:prstGeom prst="rect">
            <a:avLst/>
          </a:prstGeom>
          <a:noFill/>
        </p:spPr>
        <p:txBody>
          <a:bodyPr wrap="square" lIns="0" tIns="0" rIns="0" bIns="0" anchor="t">
            <a:noAutofit/>
          </a:bodyPr>
          <a:lstStyle/>
          <a:p>
            <a:pPr marL="0" indent="0" algn="l">
              <a:lnSpc>
                <a:spcPts val="1900"/>
              </a:lnSpc>
              <a:buNone/>
            </a:pPr>
            <a:r>
              <a:rPr lang="fr-FR" sz="1400" b="1" dirty="0">
                <a:solidFill>
                  <a:srgbClr val="1F2A2E"/>
                </a:solidFill>
                <a:latin typeface="IBM Plex Sans" pitchFamily="34" charset="0"/>
                <a:ea typeface="IBM Plex Sans" pitchFamily="34" charset="-122"/>
                <a:cs typeface="IBM Plex Sans" pitchFamily="34" charset="-120"/>
              </a:rPr>
              <a:t>Colonnes inutiles</a:t>
            </a:r>
            <a:r>
              <a:rPr lang="fr-FR" sz="1400" dirty="0">
                <a:solidFill>
                  <a:srgbClr val="1F2A2E"/>
                </a:solidFill>
                <a:latin typeface="IBM Plex Sans" pitchFamily="34" charset="0"/>
                <a:ea typeface="IBM Plex Sans" pitchFamily="34" charset="-122"/>
                <a:cs typeface="IBM Plex Sans" pitchFamily="34" charset="-120"/>
              </a:rPr>
              <a:t> supprimées dans Power Query après import des fichiers Parquet</a:t>
            </a:r>
          </a:p>
        </p:txBody>
      </p:sp>
      <p:cxnSp>
        <p:nvCxnSpPr>
          <p:cNvPr id="70" name="Repère"/>
          <p:cNvCxnSpPr/>
          <p:nvPr/>
        </p:nvCxnSpPr>
        <p:spPr>
          <a:xfrm>
            <a:off x="6311900" y="4927600"/>
            <a:ext cx="0" cy="457200"/>
          </a:xfrm>
          <a:prstGeom prst="line">
            <a:avLst/>
          </a:prstGeom>
          <a:ln w="25400">
            <a:solidFill>
              <a:srgbClr val="7DBE9A"/>
            </a:solidFill>
          </a:ln>
        </p:spPr>
      </p:cxnSp>
      <p:sp>
        <p:nvSpPr>
          <p:cNvPr id="71" name="Décision"/>
          <p:cNvSpPr txBox="1"/>
          <p:nvPr/>
        </p:nvSpPr>
        <p:spPr>
          <a:xfrm>
            <a:off x="6477000" y="4902200"/>
            <a:ext cx="4902200" cy="508000"/>
          </a:xfrm>
          <a:prstGeom prst="rect">
            <a:avLst/>
          </a:prstGeom>
          <a:noFill/>
        </p:spPr>
        <p:txBody>
          <a:bodyPr wrap="square" lIns="0" tIns="0" rIns="0" bIns="0" anchor="t">
            <a:noAutofit/>
          </a:bodyPr>
          <a:lstStyle/>
          <a:p>
            <a:pPr marL="0" indent="0" algn="l">
              <a:lnSpc>
                <a:spcPts val="1900"/>
              </a:lnSpc>
              <a:buNone/>
            </a:pPr>
            <a:r>
              <a:rPr lang="fr-FR" sz="1400" b="1" dirty="0">
                <a:solidFill>
                  <a:srgbClr val="1F2A2E"/>
                </a:solidFill>
                <a:latin typeface="IBM Plex Sans" pitchFamily="34" charset="0"/>
                <a:ea typeface="IBM Plex Sans" pitchFamily="34" charset="-122"/>
                <a:cs typeface="IBM Plex Sans" pitchFamily="34" charset="-120"/>
              </a:rPr>
              <a:t>Check_missing</a:t>
            </a:r>
            <a:r>
              <a:rPr lang="fr-FR" sz="1400" dirty="0">
                <a:solidFill>
                  <a:srgbClr val="1F2A2E"/>
                </a:solidFill>
                <a:latin typeface="IBM Plex Sans" pitchFamily="34" charset="0"/>
                <a:ea typeface="IBM Plex Sans" pitchFamily="34" charset="-122"/>
                <a:cs typeface="IBM Plex Sans" pitchFamily="34" charset="-120"/>
              </a:rPr>
              <a:t> : aucune valeur nulle dans les tables intégrées à Power BI</a:t>
            </a:r>
          </a:p>
        </p:txBody>
      </p:sp>
    </p:spTree>
    <p:extLst>
      <p:ext uri="{BB962C8B-B14F-4D97-AF65-F5344CB8AC3E}">
        <p14:creationId xmlns:p14="http://schemas.microsoft.com/office/powerpoint/2010/main" val="2901261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D6E"/>
                </a:solidFill>
                <a:latin typeface="IBM Plex Sans" pitchFamily="34" charset="0"/>
                <a:ea typeface="IBM Plex Sans" pitchFamily="34" charset="-122"/>
                <a:cs typeface="IBM Plex Sans" pitchFamily="34" charset="-120"/>
              </a:rPr>
              <a:t>PÉRIMÈTRE PRODUITS</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F2A2E"/>
                </a:solidFill>
                <a:latin typeface="Rubik" pitchFamily="34" charset="0"/>
                <a:ea typeface="Rubik" pitchFamily="34" charset="-122"/>
                <a:cs typeface="Rubik" pitchFamily="34" charset="-120"/>
              </a:rPr>
              <a:t>504 produits, </a:t>
            </a:r>
            <a:r>
              <a:rPr lang="en-US" b="1" dirty="0"/>
              <a:t>4</a:t>
            </a:r>
            <a:r>
              <a:rPr lang="en-US" sz="3200" b="1" i="0" dirty="0">
                <a:solidFill>
                  <a:srgbClr val="1F2A2E"/>
                </a:solidFill>
                <a:latin typeface="Rubik" pitchFamily="34" charset="0"/>
                <a:ea typeface="Rubik" pitchFamily="34" charset="-122"/>
                <a:cs typeface="Rubik" pitchFamily="34" charset="-120"/>
              </a:rPr>
              <a:t> flux différents</a:t>
            </a:r>
            <a:endParaRPr lang="en-US" sz="3200" dirty="0"/>
          </a:p>
        </p:txBody>
      </p:sp>
      <p:sp>
        <p:nvSpPr>
          <p:cNvPr id="4" name="Shape 2"/>
          <p:cNvSpPr/>
          <p:nvPr/>
        </p:nvSpPr>
        <p:spPr>
          <a:xfrm>
            <a:off x="812800" y="1899841"/>
            <a:ext cx="2517775" cy="2217291"/>
          </a:xfrm>
          <a:prstGeom prst="roundRect">
            <a:avLst>
              <a:gd name="adj" fmla="val 4582"/>
            </a:avLst>
          </a:prstGeom>
          <a:solidFill>
            <a:srgbClr val="2F5D6E"/>
          </a:solidFill>
          <a:ln/>
        </p:spPr>
        <p:txBody>
          <a:bodyPr/>
          <a:lstStyle/>
          <a:p>
            <a:endParaRPr lang="fr-FR"/>
          </a:p>
        </p:txBody>
      </p:sp>
      <p:sp>
        <p:nvSpPr>
          <p:cNvPr id="5" name="Text 3"/>
          <p:cNvSpPr/>
          <p:nvPr/>
        </p:nvSpPr>
        <p:spPr>
          <a:xfrm>
            <a:off x="1041400" y="2128441"/>
            <a:ext cx="2122392" cy="736600"/>
          </a:xfrm>
          <a:prstGeom prst="rect">
            <a:avLst/>
          </a:prstGeom>
          <a:noFill/>
          <a:ln/>
        </p:spPr>
        <p:txBody>
          <a:bodyPr wrap="square" lIns="0" tIns="0" rIns="0" bIns="0" rtlCol="0" anchor="t">
            <a:normAutofit/>
          </a:bodyPr>
          <a:lstStyle/>
          <a:p>
            <a:pPr marL="0" indent="0" algn="l">
              <a:lnSpc>
                <a:spcPts val="5600"/>
              </a:lnSpc>
              <a:buNone/>
            </a:pPr>
            <a:r>
              <a:rPr lang="en-US" sz="4000" b="1" dirty="0">
                <a:solidFill>
                  <a:srgbClr val="F4F6F5"/>
                </a:solidFill>
                <a:latin typeface="Rubik" pitchFamily="34" charset="0"/>
                <a:ea typeface="Rubik" pitchFamily="34" charset="-122"/>
                <a:cs typeface="Rubik" pitchFamily="34" charset="-120"/>
              </a:rPr>
              <a:t>76</a:t>
            </a:r>
            <a:endParaRPr lang="en-US" sz="4000" dirty="0"/>
          </a:p>
        </p:txBody>
      </p:sp>
      <p:sp>
        <p:nvSpPr>
          <p:cNvPr id="6" name="Text 4"/>
          <p:cNvSpPr/>
          <p:nvPr/>
        </p:nvSpPr>
        <p:spPr>
          <a:xfrm>
            <a:off x="1041400" y="2915841"/>
            <a:ext cx="212239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6F5"/>
                </a:solidFill>
                <a:latin typeface="Rubik" pitchFamily="34" charset="0"/>
                <a:ea typeface="Rubik" pitchFamily="34" charset="-122"/>
                <a:cs typeface="Rubik" pitchFamily="34" charset="-120"/>
              </a:rPr>
              <a:t>Achat → Vente</a:t>
            </a:r>
            <a:endParaRPr lang="en-US" sz="1600" dirty="0"/>
          </a:p>
        </p:txBody>
      </p:sp>
      <p:sp>
        <p:nvSpPr>
          <p:cNvPr id="7" name="Text 5"/>
          <p:cNvSpPr/>
          <p:nvPr/>
        </p:nvSpPr>
        <p:spPr>
          <a:xfrm>
            <a:off x="1041400" y="3235871"/>
            <a:ext cx="212239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3EEEA"/>
                </a:solidFill>
                <a:latin typeface="IBM Plex Sans" pitchFamily="34" charset="0"/>
                <a:ea typeface="IBM Plex Sans" pitchFamily="34" charset="-122"/>
                <a:cs typeface="IBM Plex Sans" pitchFamily="34" charset="-120"/>
              </a:rPr>
              <a:t>Produits revendus : vêtements, accessoires, certains composants</a:t>
            </a:r>
            <a:endParaRPr lang="en-US" sz="1200" dirty="0"/>
          </a:p>
        </p:txBody>
      </p:sp>
      <p:sp>
        <p:nvSpPr>
          <p:cNvPr id="8" name="Shape 6"/>
          <p:cNvSpPr/>
          <p:nvPr/>
        </p:nvSpPr>
        <p:spPr>
          <a:xfrm>
            <a:off x="3486150" y="1903016"/>
            <a:ext cx="2524125" cy="2210941"/>
          </a:xfrm>
          <a:prstGeom prst="roundRect">
            <a:avLst>
              <a:gd name="adj" fmla="val 4452"/>
            </a:avLst>
          </a:prstGeom>
          <a:solidFill>
            <a:srgbClr val="FBFCFB"/>
          </a:solidFill>
          <a:ln w="6350">
            <a:solidFill>
              <a:srgbClr val="DCE3E0"/>
            </a:solidFill>
            <a:prstDash val="solid"/>
          </a:ln>
        </p:spPr>
        <p:txBody>
          <a:bodyPr/>
          <a:lstStyle/>
          <a:p>
            <a:endParaRPr lang="fr-FR"/>
          </a:p>
        </p:txBody>
      </p:sp>
      <p:sp>
        <p:nvSpPr>
          <p:cNvPr id="9" name="Text 7"/>
          <p:cNvSpPr/>
          <p:nvPr/>
        </p:nvSpPr>
        <p:spPr>
          <a:xfrm>
            <a:off x="3717925" y="2134791"/>
            <a:ext cx="2122392" cy="736600"/>
          </a:xfrm>
          <a:prstGeom prst="rect">
            <a:avLst/>
          </a:prstGeom>
          <a:noFill/>
          <a:ln/>
        </p:spPr>
        <p:txBody>
          <a:bodyPr wrap="square" lIns="0" tIns="0" rIns="0" bIns="0" rtlCol="0" anchor="t">
            <a:normAutofit/>
          </a:bodyPr>
          <a:lstStyle/>
          <a:p>
            <a:pPr marL="0" indent="0" algn="l">
              <a:lnSpc>
                <a:spcPts val="5600"/>
              </a:lnSpc>
              <a:buNone/>
            </a:pPr>
            <a:r>
              <a:rPr lang="en-US" sz="4000" b="1" dirty="0">
                <a:solidFill>
                  <a:srgbClr val="2F5D6E"/>
                </a:solidFill>
                <a:latin typeface="Rubik" pitchFamily="34" charset="0"/>
                <a:ea typeface="Rubik" pitchFamily="34" charset="-122"/>
                <a:cs typeface="Rubik" pitchFamily="34" charset="-120"/>
              </a:rPr>
              <a:t>182</a:t>
            </a:r>
            <a:endParaRPr lang="en-US" sz="4000" dirty="0"/>
          </a:p>
        </p:txBody>
      </p:sp>
      <p:sp>
        <p:nvSpPr>
          <p:cNvPr id="10" name="Text 8"/>
          <p:cNvSpPr/>
          <p:nvPr/>
        </p:nvSpPr>
        <p:spPr>
          <a:xfrm>
            <a:off x="3717925" y="2922191"/>
            <a:ext cx="228917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A2E"/>
                </a:solidFill>
                <a:latin typeface="Rubik" pitchFamily="34" charset="0"/>
                <a:ea typeface="Rubik" pitchFamily="34" charset="-122"/>
                <a:cs typeface="Rubik" pitchFamily="34" charset="-120"/>
              </a:rPr>
              <a:t>Achat → Production</a:t>
            </a:r>
            <a:endParaRPr lang="en-US" sz="1600" dirty="0"/>
          </a:p>
        </p:txBody>
      </p:sp>
      <p:sp>
        <p:nvSpPr>
          <p:cNvPr id="11" name="Text 9"/>
          <p:cNvSpPr/>
          <p:nvPr/>
        </p:nvSpPr>
        <p:spPr>
          <a:xfrm>
            <a:off x="3717925" y="3242221"/>
            <a:ext cx="2122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Pièces et matières premières : jantes, pédaliers, visserie</a:t>
            </a:r>
            <a:endParaRPr lang="en-US" sz="1200" dirty="0"/>
          </a:p>
        </p:txBody>
      </p:sp>
      <p:sp>
        <p:nvSpPr>
          <p:cNvPr id="12" name="Shape 10"/>
          <p:cNvSpPr/>
          <p:nvPr/>
        </p:nvSpPr>
        <p:spPr>
          <a:xfrm>
            <a:off x="6169025" y="1903016"/>
            <a:ext cx="2524125" cy="2210941"/>
          </a:xfrm>
          <a:prstGeom prst="roundRect">
            <a:avLst>
              <a:gd name="adj" fmla="val 4452"/>
            </a:avLst>
          </a:prstGeom>
          <a:solidFill>
            <a:srgbClr val="FBFCFB"/>
          </a:solidFill>
          <a:ln w="6350">
            <a:solidFill>
              <a:srgbClr val="DCE3E0"/>
            </a:solidFill>
            <a:prstDash val="solid"/>
          </a:ln>
        </p:spPr>
        <p:txBody>
          <a:bodyPr/>
          <a:lstStyle/>
          <a:p>
            <a:endParaRPr lang="fr-FR"/>
          </a:p>
        </p:txBody>
      </p:sp>
      <p:sp>
        <p:nvSpPr>
          <p:cNvPr id="13" name="Text 11"/>
          <p:cNvSpPr/>
          <p:nvPr/>
        </p:nvSpPr>
        <p:spPr>
          <a:xfrm>
            <a:off x="6400800" y="2134791"/>
            <a:ext cx="2122392" cy="736600"/>
          </a:xfrm>
          <a:prstGeom prst="rect">
            <a:avLst/>
          </a:prstGeom>
          <a:noFill/>
          <a:ln/>
        </p:spPr>
        <p:txBody>
          <a:bodyPr wrap="square" lIns="0" tIns="0" rIns="0" bIns="0" rtlCol="0" anchor="t">
            <a:normAutofit/>
          </a:bodyPr>
          <a:lstStyle/>
          <a:p>
            <a:pPr marL="0" indent="0" algn="l">
              <a:lnSpc>
                <a:spcPts val="5600"/>
              </a:lnSpc>
              <a:buNone/>
            </a:pPr>
            <a:r>
              <a:rPr lang="en-US" sz="4000" b="1" dirty="0">
                <a:solidFill>
                  <a:srgbClr val="2F5D6E"/>
                </a:solidFill>
                <a:latin typeface="Rubik" pitchFamily="34" charset="0"/>
                <a:ea typeface="Rubik" pitchFamily="34" charset="-122"/>
                <a:cs typeface="Rubik" pitchFamily="34" charset="-120"/>
              </a:rPr>
              <a:t>190</a:t>
            </a:r>
            <a:endParaRPr lang="en-US" sz="4000" dirty="0"/>
          </a:p>
        </p:txBody>
      </p:sp>
      <p:sp>
        <p:nvSpPr>
          <p:cNvPr id="14" name="Text 12"/>
          <p:cNvSpPr/>
          <p:nvPr/>
        </p:nvSpPr>
        <p:spPr>
          <a:xfrm>
            <a:off x="6400800" y="2922191"/>
            <a:ext cx="212239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A2E"/>
                </a:solidFill>
                <a:latin typeface="Rubik" pitchFamily="34" charset="0"/>
                <a:ea typeface="Rubik" pitchFamily="34" charset="-122"/>
                <a:cs typeface="Rubik" pitchFamily="34" charset="-120"/>
              </a:rPr>
              <a:t>Production → Vente</a:t>
            </a:r>
            <a:endParaRPr lang="en-US" sz="1600" dirty="0"/>
          </a:p>
        </p:txBody>
      </p:sp>
      <p:sp>
        <p:nvSpPr>
          <p:cNvPr id="15" name="Text 13"/>
          <p:cNvSpPr/>
          <p:nvPr/>
        </p:nvSpPr>
        <p:spPr>
          <a:xfrm>
            <a:off x="6400800" y="3242221"/>
            <a:ext cx="2122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Fabriqués puis vendus : vélos, cadres, roues</a:t>
            </a:r>
            <a:endParaRPr lang="en-US" sz="1200" dirty="0"/>
          </a:p>
        </p:txBody>
      </p:sp>
      <p:sp>
        <p:nvSpPr>
          <p:cNvPr id="16" name="Shape 14"/>
          <p:cNvSpPr/>
          <p:nvPr/>
        </p:nvSpPr>
        <p:spPr>
          <a:xfrm>
            <a:off x="8851900" y="1903016"/>
            <a:ext cx="2524125" cy="2210941"/>
          </a:xfrm>
          <a:prstGeom prst="roundRect">
            <a:avLst>
              <a:gd name="adj" fmla="val 4452"/>
            </a:avLst>
          </a:prstGeom>
          <a:solidFill>
            <a:srgbClr val="EAEFED"/>
          </a:solidFill>
          <a:ln w="6350">
            <a:solidFill>
              <a:srgbClr val="DCE3E0"/>
            </a:solidFill>
            <a:prstDash val="solid"/>
          </a:ln>
        </p:spPr>
        <p:txBody>
          <a:bodyPr/>
          <a:lstStyle/>
          <a:p>
            <a:endParaRPr lang="fr-FR"/>
          </a:p>
        </p:txBody>
      </p:sp>
      <p:sp>
        <p:nvSpPr>
          <p:cNvPr id="17" name="Text 15"/>
          <p:cNvSpPr/>
          <p:nvPr/>
        </p:nvSpPr>
        <p:spPr>
          <a:xfrm>
            <a:off x="9083675" y="2134791"/>
            <a:ext cx="2122392" cy="736600"/>
          </a:xfrm>
          <a:prstGeom prst="rect">
            <a:avLst/>
          </a:prstGeom>
          <a:noFill/>
          <a:ln/>
        </p:spPr>
        <p:txBody>
          <a:bodyPr wrap="square" lIns="0" tIns="0" rIns="0" bIns="0" rtlCol="0" anchor="t">
            <a:normAutofit/>
          </a:bodyPr>
          <a:lstStyle/>
          <a:p>
            <a:pPr marL="0" indent="0" algn="l">
              <a:lnSpc>
                <a:spcPts val="5600"/>
              </a:lnSpc>
              <a:buNone/>
            </a:pPr>
            <a:r>
              <a:rPr lang="en-US" sz="4000" b="1" dirty="0">
                <a:solidFill>
                  <a:srgbClr val="5C6B73"/>
                </a:solidFill>
                <a:latin typeface="Rubik" pitchFamily="34" charset="0"/>
                <a:ea typeface="Rubik" pitchFamily="34" charset="-122"/>
                <a:cs typeface="Rubik" pitchFamily="34" charset="-120"/>
              </a:rPr>
              <a:t>56</a:t>
            </a:r>
            <a:endParaRPr lang="en-US" sz="4000" dirty="0"/>
          </a:p>
        </p:txBody>
      </p:sp>
      <p:sp>
        <p:nvSpPr>
          <p:cNvPr id="18" name="Text 16"/>
          <p:cNvSpPr/>
          <p:nvPr/>
        </p:nvSpPr>
        <p:spPr>
          <a:xfrm>
            <a:off x="9083675" y="2922191"/>
            <a:ext cx="212239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A2E"/>
                </a:solidFill>
                <a:latin typeface="Rubik" pitchFamily="34" charset="0"/>
                <a:ea typeface="Rubik" pitchFamily="34" charset="-122"/>
                <a:cs typeface="Rubik" pitchFamily="34" charset="-120"/>
              </a:rPr>
              <a:t>Non vendus</a:t>
            </a:r>
            <a:endParaRPr lang="en-US" sz="1600" dirty="0"/>
          </a:p>
        </p:txBody>
      </p:sp>
      <p:sp>
        <p:nvSpPr>
          <p:cNvPr id="19" name="Text 17"/>
          <p:cNvSpPr/>
          <p:nvPr/>
        </p:nvSpPr>
        <p:spPr>
          <a:xfrm>
            <a:off x="9083675" y="3242221"/>
            <a:ext cx="212239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29 produits finis jamais vendus + 27 semi-finis internes</a:t>
            </a:r>
            <a:endParaRPr lang="en-US" sz="1200" dirty="0"/>
          </a:p>
        </p:txBody>
      </p:sp>
      <p:sp>
        <p:nvSpPr>
          <p:cNvPr id="20" name="Shape 18"/>
          <p:cNvSpPr/>
          <p:nvPr/>
        </p:nvSpPr>
        <p:spPr>
          <a:xfrm>
            <a:off x="812800" y="4421932"/>
            <a:ext cx="10566400" cy="1600448"/>
          </a:xfrm>
          <a:prstGeom prst="roundRect">
            <a:avLst>
              <a:gd name="adj" fmla="val 10811"/>
            </a:avLst>
          </a:prstGeom>
          <a:solidFill>
            <a:srgbClr val="1F3B47"/>
          </a:solidFill>
          <a:ln/>
        </p:spPr>
        <p:txBody>
          <a:bodyPr/>
          <a:lstStyle/>
          <a:p>
            <a:endParaRPr lang="fr-FR"/>
          </a:p>
        </p:txBody>
      </p:sp>
      <p:pic>
        <p:nvPicPr>
          <p:cNvPr id="21" name="Image 0" descr="Lightbulb"/>
          <p:cNvPicPr>
            <a:picLocks noChangeAspect="1"/>
          </p:cNvPicPr>
          <p:nvPr/>
        </p:nvPicPr>
        <p:blipFill>
          <a:blip r:embed="rId3"/>
          <a:srcRect/>
          <a:stretch/>
        </p:blipFill>
        <p:spPr>
          <a:xfrm>
            <a:off x="1066800" y="4739432"/>
            <a:ext cx="304800" cy="304800"/>
          </a:xfrm>
          <a:prstGeom prst="rect">
            <a:avLst/>
          </a:prstGeom>
        </p:spPr>
      </p:pic>
      <p:sp>
        <p:nvSpPr>
          <p:cNvPr id="22" name="Text 19"/>
          <p:cNvSpPr/>
          <p:nvPr/>
        </p:nvSpPr>
        <p:spPr>
          <a:xfrm>
            <a:off x="1524000" y="4739432"/>
            <a:ext cx="9626600" cy="933450"/>
          </a:xfrm>
          <a:prstGeom prst="rect">
            <a:avLst/>
          </a:prstGeom>
          <a:noFill/>
          <a:ln/>
        </p:spPr>
        <p:txBody>
          <a:bodyPr wrap="square" lIns="0" tIns="0" rIns="0" bIns="0" rtlCol="0" anchor="t">
            <a:normAutofit/>
          </a:bodyPr>
          <a:lstStyle/>
          <a:p>
            <a:r>
              <a:rPr lang="fr-FR" sz="1600" dirty="0">
                <a:solidFill>
                  <a:schemeClr val="bg1"/>
                </a:solidFill>
              </a:rPr>
              <a:t>Le lien direct </a:t>
            </a:r>
            <a:r>
              <a:rPr lang="fr-FR" sz="1600" b="1" dirty="0">
                <a:solidFill>
                  <a:schemeClr val="bg1"/>
                </a:solidFill>
              </a:rPr>
              <a:t>prix fournisseur → marge</a:t>
            </a:r>
            <a:r>
              <a:rPr lang="fr-FR" sz="1600" dirty="0">
                <a:solidFill>
                  <a:schemeClr val="bg1"/>
                </a:solidFill>
              </a:rPr>
              <a:t> n’a été mesuré que sur les </a:t>
            </a:r>
            <a:r>
              <a:rPr lang="fr-FR" sz="1600" b="1" dirty="0">
                <a:solidFill>
                  <a:schemeClr val="bg1"/>
                </a:solidFill>
              </a:rPr>
              <a:t>76 produits en achat-revente directe</a:t>
            </a:r>
            <a:r>
              <a:rPr lang="fr-FR" sz="1600" dirty="0">
                <a:solidFill>
                  <a:schemeClr val="bg1"/>
                </a:solidFill>
              </a:rPr>
              <a:t>. Pour les produits fabriqués en interne, la marge est calculée au coût standard, mais l’impact des prix fournisseurs ne peut pas être tracé : le jeu de données ne contient pas les nomenclatures.</a:t>
            </a:r>
            <a:endParaRPr lang="fr-FR" sz="1500" dirty="0">
              <a:solidFill>
                <a:schemeClr val="bg1"/>
              </a:solidFill>
              <a:latin typeface="IBM Plex Sans" pitchFamily="34" charset="0"/>
              <a:ea typeface="IBM Plex Sans" pitchFamily="34" charset="-122"/>
              <a:cs typeface="IBM Plex Sans" pitchFamily="34" charset="-120"/>
            </a:endParaRPr>
          </a:p>
        </p:txBody>
      </p:sp>
      <p:sp>
        <p:nvSpPr>
          <p:cNvPr id="23" name="Text 2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3"/>
                </a:solidFill>
                <a:latin typeface="IBM Plex Sans" pitchFamily="34" charset="0"/>
                <a:ea typeface="IBM Plex Sans" pitchFamily="34" charset="-122"/>
                <a:cs typeface="IBM Plex Sans" pitchFamily="34" charset="-120"/>
              </a:rPr>
              <a:t>AdventureWorks · Données et transformation</a:t>
            </a:r>
            <a:endParaRPr lang="en-US" sz="1200" dirty="0"/>
          </a:p>
        </p:txBody>
      </p:sp>
      <p:sp>
        <p:nvSpPr>
          <p:cNvPr id="24" name="Text 2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B73"/>
                </a:solidFill>
                <a:latin typeface="IBM Plex Sans" pitchFamily="34" charset="0"/>
                <a:ea typeface="IBM Plex Sans" pitchFamily="34" charset="-122"/>
                <a:cs typeface="IBM Plex Sans" pitchFamily="34" charset="-120"/>
              </a:rPr>
              <a:t>06</a:t>
            </a:r>
            <a:endParaRPr lang="en-US" sz="1200" dirty="0"/>
          </a:p>
        </p:txBody>
      </p:sp>
    </p:spTree>
    <p:extLst>
      <p:ext uri="{BB962C8B-B14F-4D97-AF65-F5344CB8AC3E}">
        <p14:creationId xmlns:p14="http://schemas.microsoft.com/office/powerpoint/2010/main" val="3563424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D6E"/>
                </a:solidFill>
                <a:latin typeface="IBM Plex Sans" pitchFamily="34" charset="0"/>
                <a:ea typeface="IBM Plex Sans" pitchFamily="34" charset="-122"/>
                <a:cs typeface="IBM Plex Sans" pitchFamily="34" charset="-120"/>
              </a:rPr>
              <a:t>MODÈLE</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fontScale="90000"/>
          </a:bodyPr>
          <a:lstStyle/>
          <a:p>
            <a:r>
              <a:rPr lang="fr-FR" dirty="0"/>
              <a:t>Un modèle en constellation centré sur le </a:t>
            </a:r>
            <a:r>
              <a:rPr lang="fr-FR" b="1" dirty="0"/>
              <a:t>produit </a:t>
            </a:r>
            <a:endParaRPr lang="en-US" sz="3200" b="1" dirty="0"/>
          </a:p>
        </p:txBody>
      </p:sp>
      <p:sp>
        <p:nvSpPr>
          <p:cNvPr id="4" name="Text 2"/>
          <p:cNvSpPr/>
          <p:nvPr/>
        </p:nvSpPr>
        <p:spPr>
          <a:xfrm>
            <a:off x="812800" y="1854200"/>
            <a:ext cx="33528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D6E"/>
                </a:solidFill>
                <a:latin typeface="IBM Plex Sans" pitchFamily="34" charset="0"/>
                <a:ea typeface="IBM Plex Sans" pitchFamily="34" charset="-122"/>
                <a:cs typeface="IBM Plex Sans" pitchFamily="34" charset="-120"/>
              </a:rPr>
              <a:t>ACHATS</a:t>
            </a:r>
            <a:endParaRPr lang="en-US" sz="1200" dirty="0"/>
          </a:p>
        </p:txBody>
      </p:sp>
      <p:sp>
        <p:nvSpPr>
          <p:cNvPr id="5" name="Text 3"/>
          <p:cNvSpPr/>
          <p:nvPr/>
        </p:nvSpPr>
        <p:spPr>
          <a:xfrm>
            <a:off x="812800" y="2184400"/>
            <a:ext cx="3352800" cy="406400"/>
          </a:xfrm>
          <a:prstGeom prst="roundRect">
            <a:avLst>
              <a:gd name="adj" fmla="val 17585"/>
            </a:avLst>
          </a:prstGeom>
          <a:solidFill>
            <a:srgbClr val="FBFCFB"/>
          </a:solidFill>
          <a:ln w="6350">
            <a:solidFill>
              <a:srgbClr val="DCE3E0"/>
            </a:solidFill>
            <a:prstDash val="solid"/>
          </a:ln>
        </p:spPr>
        <p:txBody>
          <a:bodyPr wrap="square" lIns="108787" tIns="70687" rIns="15189" bIns="45287" rtlCol="0" anchor="t">
            <a:normAutofit/>
          </a:bodyPr>
          <a:lstStyle/>
          <a:p>
            <a:pPr marL="0" indent="0" algn="l">
              <a:lnSpc>
                <a:spcPts val="1820"/>
              </a:lnSpc>
              <a:buNone/>
            </a:pPr>
            <a:r>
              <a:rPr lang="en-US" sz="1300" dirty="0">
                <a:solidFill>
                  <a:srgbClr val="1F2A2E"/>
                </a:solidFill>
                <a:latin typeface="IBM Plex Sans" pitchFamily="34" charset="0"/>
                <a:ea typeface="IBM Plex Sans" pitchFamily="34" charset="-122"/>
                <a:cs typeface="IBM Plex Sans" pitchFamily="34" charset="-120"/>
              </a:rPr>
              <a:t>Vendor</a:t>
            </a:r>
            <a:endParaRPr lang="en-US" sz="1300" dirty="0"/>
          </a:p>
        </p:txBody>
      </p:sp>
      <p:sp>
        <p:nvSpPr>
          <p:cNvPr id="6" name="Text 4"/>
          <p:cNvSpPr/>
          <p:nvPr/>
        </p:nvSpPr>
        <p:spPr>
          <a:xfrm>
            <a:off x="812800" y="3708400"/>
            <a:ext cx="3352800" cy="406400"/>
          </a:xfrm>
          <a:prstGeom prst="roundRect">
            <a:avLst>
              <a:gd name="adj" fmla="val 17585"/>
            </a:avLst>
          </a:prstGeom>
          <a:solidFill>
            <a:srgbClr val="FBFCFB"/>
          </a:solidFill>
          <a:ln w="6350">
            <a:solidFill>
              <a:srgbClr val="DCE3E0"/>
            </a:solidFill>
            <a:prstDash val="solid"/>
          </a:ln>
        </p:spPr>
        <p:txBody>
          <a:bodyPr wrap="square" lIns="108787" tIns="70687" rIns="15189" bIns="45287" rtlCol="0" anchor="t">
            <a:normAutofit/>
          </a:bodyPr>
          <a:lstStyle/>
          <a:p>
            <a:pPr marL="0" indent="0" algn="l">
              <a:lnSpc>
                <a:spcPts val="1820"/>
              </a:lnSpc>
              <a:buNone/>
            </a:pPr>
            <a:r>
              <a:rPr lang="en-US" sz="1300" dirty="0">
                <a:solidFill>
                  <a:srgbClr val="1F2A2E"/>
                </a:solidFill>
                <a:latin typeface="IBM Plex Sans" pitchFamily="34" charset="0"/>
                <a:ea typeface="IBM Plex Sans" pitchFamily="34" charset="-122"/>
                <a:cs typeface="IBM Plex Sans" pitchFamily="34" charset="-120"/>
              </a:rPr>
              <a:t>PurchaseOrderHeader</a:t>
            </a:r>
            <a:endParaRPr lang="en-US" sz="1300" dirty="0"/>
          </a:p>
        </p:txBody>
      </p:sp>
      <p:sp>
        <p:nvSpPr>
          <p:cNvPr id="7" name="Text 5"/>
          <p:cNvSpPr/>
          <p:nvPr/>
        </p:nvSpPr>
        <p:spPr>
          <a:xfrm>
            <a:off x="812800" y="4267200"/>
            <a:ext cx="3352800" cy="431800"/>
          </a:xfrm>
          <a:prstGeom prst="roundRect">
            <a:avLst>
              <a:gd name="adj" fmla="val 18634"/>
            </a:avLst>
          </a:prstGeom>
          <a:solidFill>
            <a:srgbClr val="2F5D6E"/>
          </a:solidFill>
          <a:ln/>
        </p:spPr>
        <p:txBody>
          <a:bodyPr wrap="square" lIns="104682" tIns="66582" rIns="10703" bIns="41182" rtlCol="0" anchor="t">
            <a:normAutofit/>
          </a:bodyPr>
          <a:lstStyle/>
          <a:p>
            <a:pPr marL="0" indent="0" algn="l">
              <a:lnSpc>
                <a:spcPts val="1820"/>
              </a:lnSpc>
              <a:buNone/>
            </a:pPr>
            <a:r>
              <a:rPr lang="en-US" sz="1300" b="1" dirty="0">
                <a:solidFill>
                  <a:srgbClr val="F4F6F5"/>
                </a:solidFill>
                <a:latin typeface="IBM Plex Sans" pitchFamily="34" charset="0"/>
                <a:ea typeface="IBM Plex Sans" pitchFamily="34" charset="-122"/>
                <a:cs typeface="IBM Plex Sans" pitchFamily="34" charset="-120"/>
              </a:rPr>
              <a:t>PurchaseOrderDetail · fait</a:t>
            </a:r>
            <a:endParaRPr lang="en-US" sz="1300" dirty="0"/>
          </a:p>
        </p:txBody>
      </p:sp>
      <p:sp>
        <p:nvSpPr>
          <p:cNvPr id="8" name="Text 6"/>
          <p:cNvSpPr/>
          <p:nvPr/>
        </p:nvSpPr>
        <p:spPr>
          <a:xfrm>
            <a:off x="4419600" y="1854200"/>
            <a:ext cx="33528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D6E"/>
                </a:solidFill>
                <a:latin typeface="IBM Plex Sans" pitchFamily="34" charset="0"/>
                <a:ea typeface="IBM Plex Sans" pitchFamily="34" charset="-122"/>
                <a:cs typeface="IBM Plex Sans" pitchFamily="34" charset="-120"/>
              </a:rPr>
              <a:t>PRODUIT &amp; STOCK</a:t>
            </a:r>
            <a:endParaRPr lang="en-US" sz="1200" dirty="0"/>
          </a:p>
        </p:txBody>
      </p:sp>
      <p:sp>
        <p:nvSpPr>
          <p:cNvPr id="9" name="Text 7"/>
          <p:cNvSpPr/>
          <p:nvPr/>
        </p:nvSpPr>
        <p:spPr>
          <a:xfrm>
            <a:off x="4419600" y="2184400"/>
            <a:ext cx="3352800" cy="406400"/>
          </a:xfrm>
          <a:prstGeom prst="roundRect">
            <a:avLst>
              <a:gd name="adj" fmla="val 17585"/>
            </a:avLst>
          </a:prstGeom>
          <a:solidFill>
            <a:srgbClr val="FBFCFB"/>
          </a:solidFill>
          <a:ln w="6350">
            <a:solidFill>
              <a:srgbClr val="DCE3E0"/>
            </a:solidFill>
            <a:prstDash val="solid"/>
          </a:ln>
        </p:spPr>
        <p:txBody>
          <a:bodyPr wrap="square" lIns="108787" tIns="70687" rIns="15187" bIns="45287" rtlCol="0" anchor="t">
            <a:normAutofit/>
          </a:bodyPr>
          <a:lstStyle/>
          <a:p>
            <a:pPr marL="0" indent="0" algn="l">
              <a:lnSpc>
                <a:spcPts val="1820"/>
              </a:lnSpc>
              <a:buNone/>
            </a:pPr>
            <a:r>
              <a:rPr lang="en-US" sz="1300" dirty="0">
                <a:solidFill>
                  <a:srgbClr val="1F2A2E"/>
                </a:solidFill>
                <a:latin typeface="IBM Plex Sans" pitchFamily="34" charset="0"/>
                <a:ea typeface="IBM Plex Sans" pitchFamily="34" charset="-122"/>
                <a:cs typeface="IBM Plex Sans" pitchFamily="34" charset="-120"/>
              </a:rPr>
              <a:t>ProductCategory</a:t>
            </a:r>
            <a:endParaRPr lang="en-US" sz="1300" dirty="0"/>
          </a:p>
        </p:txBody>
      </p:sp>
      <p:sp>
        <p:nvSpPr>
          <p:cNvPr id="10" name="Text 8"/>
          <p:cNvSpPr/>
          <p:nvPr/>
        </p:nvSpPr>
        <p:spPr>
          <a:xfrm>
            <a:off x="4419600" y="2692400"/>
            <a:ext cx="3352800" cy="406400"/>
          </a:xfrm>
          <a:prstGeom prst="roundRect">
            <a:avLst>
              <a:gd name="adj" fmla="val 17585"/>
            </a:avLst>
          </a:prstGeom>
          <a:solidFill>
            <a:srgbClr val="FBFCFB"/>
          </a:solidFill>
          <a:ln w="6350">
            <a:solidFill>
              <a:srgbClr val="DCE3E0"/>
            </a:solidFill>
            <a:prstDash val="solid"/>
          </a:ln>
        </p:spPr>
        <p:txBody>
          <a:bodyPr wrap="square" lIns="108787" tIns="70687" rIns="15187" bIns="45287" rtlCol="0" anchor="t">
            <a:normAutofit/>
          </a:bodyPr>
          <a:lstStyle/>
          <a:p>
            <a:pPr marL="0" indent="0" algn="l">
              <a:lnSpc>
                <a:spcPts val="1820"/>
              </a:lnSpc>
              <a:buNone/>
            </a:pPr>
            <a:r>
              <a:rPr lang="en-US" sz="1300" dirty="0">
                <a:solidFill>
                  <a:srgbClr val="1F2A2E"/>
                </a:solidFill>
                <a:latin typeface="IBM Plex Sans" pitchFamily="34" charset="0"/>
                <a:ea typeface="IBM Plex Sans" pitchFamily="34" charset="-122"/>
                <a:cs typeface="IBM Plex Sans" pitchFamily="34" charset="-120"/>
              </a:rPr>
              <a:t>ProductSubcategory</a:t>
            </a:r>
            <a:endParaRPr lang="en-US" sz="1300" dirty="0"/>
          </a:p>
        </p:txBody>
      </p:sp>
      <p:sp>
        <p:nvSpPr>
          <p:cNvPr id="11" name="Text 9"/>
          <p:cNvSpPr/>
          <p:nvPr/>
        </p:nvSpPr>
        <p:spPr>
          <a:xfrm>
            <a:off x="4419600" y="3708400"/>
            <a:ext cx="3352800" cy="406400"/>
          </a:xfrm>
          <a:prstGeom prst="roundRect">
            <a:avLst>
              <a:gd name="adj" fmla="val 17585"/>
            </a:avLst>
          </a:prstGeom>
          <a:solidFill>
            <a:srgbClr val="CFE6DA"/>
          </a:solidFill>
          <a:ln w="6350">
            <a:solidFill>
              <a:srgbClr val="7DBE9A"/>
            </a:solidFill>
            <a:prstDash val="solid"/>
          </a:ln>
        </p:spPr>
        <p:txBody>
          <a:bodyPr wrap="square" lIns="108787" tIns="70687" rIns="15187" bIns="45287" rtlCol="0" anchor="t">
            <a:normAutofit/>
          </a:bodyPr>
          <a:lstStyle/>
          <a:p>
            <a:pPr marL="0" indent="0" algn="l">
              <a:lnSpc>
                <a:spcPts val="1820"/>
              </a:lnSpc>
              <a:buNone/>
            </a:pPr>
            <a:r>
              <a:rPr lang="en-US" sz="1300" b="1" dirty="0">
                <a:solidFill>
                  <a:srgbClr val="1F2A2E"/>
                </a:solidFill>
                <a:latin typeface="IBM Plex Sans" pitchFamily="34" charset="0"/>
                <a:ea typeface="IBM Plex Sans" pitchFamily="34" charset="-122"/>
                <a:cs typeface="IBM Plex Sans" pitchFamily="34" charset="-120"/>
              </a:rPr>
              <a:t>Product · dimension commune</a:t>
            </a:r>
            <a:endParaRPr lang="en-US" sz="1300" dirty="0"/>
          </a:p>
        </p:txBody>
      </p:sp>
      <p:sp>
        <p:nvSpPr>
          <p:cNvPr id="12" name="Text 10"/>
          <p:cNvSpPr/>
          <p:nvPr/>
        </p:nvSpPr>
        <p:spPr>
          <a:xfrm>
            <a:off x="4419600" y="4267200"/>
            <a:ext cx="3352800" cy="431800"/>
          </a:xfrm>
          <a:prstGeom prst="roundRect">
            <a:avLst>
              <a:gd name="adj" fmla="val 18634"/>
            </a:avLst>
          </a:prstGeom>
          <a:solidFill>
            <a:srgbClr val="2F5D6E"/>
          </a:solidFill>
          <a:ln/>
        </p:spPr>
        <p:txBody>
          <a:bodyPr wrap="square" lIns="104682" tIns="66582" rIns="10701" bIns="41182" rtlCol="0" anchor="t">
            <a:normAutofit/>
          </a:bodyPr>
          <a:lstStyle/>
          <a:p>
            <a:pPr marL="0" indent="0" algn="l">
              <a:lnSpc>
                <a:spcPts val="1820"/>
              </a:lnSpc>
              <a:buNone/>
            </a:pPr>
            <a:r>
              <a:rPr lang="en-US" sz="1300" b="1" dirty="0">
                <a:solidFill>
                  <a:srgbClr val="F4F6F5"/>
                </a:solidFill>
                <a:latin typeface="IBM Plex Sans" pitchFamily="34" charset="0"/>
                <a:ea typeface="IBM Plex Sans" pitchFamily="34" charset="-122"/>
                <a:cs typeface="IBM Plex Sans" pitchFamily="34" charset="-120"/>
              </a:rPr>
              <a:t>ProductInventory · fait</a:t>
            </a:r>
            <a:endParaRPr lang="en-US" sz="1300" dirty="0"/>
          </a:p>
        </p:txBody>
      </p:sp>
      <p:sp>
        <p:nvSpPr>
          <p:cNvPr id="13" name="Text 11"/>
          <p:cNvSpPr/>
          <p:nvPr/>
        </p:nvSpPr>
        <p:spPr>
          <a:xfrm>
            <a:off x="8026400" y="1854200"/>
            <a:ext cx="33528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D6E"/>
                </a:solidFill>
                <a:latin typeface="IBM Plex Sans" pitchFamily="34" charset="0"/>
                <a:ea typeface="IBM Plex Sans" pitchFamily="34" charset="-122"/>
                <a:cs typeface="IBM Plex Sans" pitchFamily="34" charset="-120"/>
              </a:rPr>
              <a:t>VENTES</a:t>
            </a:r>
            <a:endParaRPr lang="en-US" sz="1200" dirty="0"/>
          </a:p>
        </p:txBody>
      </p:sp>
      <p:sp>
        <p:nvSpPr>
          <p:cNvPr id="14" name="Text 12"/>
          <p:cNvSpPr/>
          <p:nvPr/>
        </p:nvSpPr>
        <p:spPr>
          <a:xfrm>
            <a:off x="8026400" y="2184400"/>
            <a:ext cx="3352800" cy="406400"/>
          </a:xfrm>
          <a:prstGeom prst="roundRect">
            <a:avLst>
              <a:gd name="adj" fmla="val 17585"/>
            </a:avLst>
          </a:prstGeom>
          <a:solidFill>
            <a:srgbClr val="FBFCFB"/>
          </a:solidFill>
          <a:ln w="6350">
            <a:solidFill>
              <a:srgbClr val="DCE3E0"/>
            </a:solidFill>
            <a:prstDash val="solid"/>
          </a:ln>
        </p:spPr>
        <p:txBody>
          <a:bodyPr wrap="square" lIns="108787" tIns="70687" rIns="15187" bIns="45287" rtlCol="0" anchor="t">
            <a:normAutofit/>
          </a:bodyPr>
          <a:lstStyle/>
          <a:p>
            <a:pPr marL="0" indent="0" algn="l">
              <a:lnSpc>
                <a:spcPts val="1820"/>
              </a:lnSpc>
              <a:buNone/>
            </a:pPr>
            <a:r>
              <a:rPr lang="en-US" sz="1300" dirty="0">
                <a:solidFill>
                  <a:srgbClr val="1F2A2E"/>
                </a:solidFill>
                <a:latin typeface="IBM Plex Sans" pitchFamily="34" charset="0"/>
                <a:ea typeface="IBM Plex Sans" pitchFamily="34" charset="-122"/>
                <a:cs typeface="IBM Plex Sans" pitchFamily="34" charset="-120"/>
              </a:rPr>
              <a:t>SalesTerritory</a:t>
            </a:r>
            <a:endParaRPr lang="en-US" sz="1300" dirty="0"/>
          </a:p>
        </p:txBody>
      </p:sp>
      <p:sp>
        <p:nvSpPr>
          <p:cNvPr id="15" name="Text 13"/>
          <p:cNvSpPr/>
          <p:nvPr/>
        </p:nvSpPr>
        <p:spPr>
          <a:xfrm>
            <a:off x="8026400" y="2692400"/>
            <a:ext cx="3352800" cy="406400"/>
          </a:xfrm>
          <a:prstGeom prst="roundRect">
            <a:avLst>
              <a:gd name="adj" fmla="val 17585"/>
            </a:avLst>
          </a:prstGeom>
          <a:solidFill>
            <a:srgbClr val="FBFCFB"/>
          </a:solidFill>
          <a:ln w="6350">
            <a:solidFill>
              <a:srgbClr val="DCE3E0"/>
            </a:solidFill>
            <a:prstDash val="solid"/>
          </a:ln>
        </p:spPr>
        <p:txBody>
          <a:bodyPr wrap="square" lIns="108787" tIns="70687" rIns="15187" bIns="45287" rtlCol="0" anchor="t">
            <a:normAutofit/>
          </a:bodyPr>
          <a:lstStyle/>
          <a:p>
            <a:pPr marL="0" indent="0" algn="l">
              <a:lnSpc>
                <a:spcPts val="1820"/>
              </a:lnSpc>
              <a:buNone/>
            </a:pPr>
            <a:r>
              <a:rPr lang="en-US" sz="1300" dirty="0">
                <a:solidFill>
                  <a:srgbClr val="1F2A2E"/>
                </a:solidFill>
                <a:latin typeface="IBM Plex Sans" pitchFamily="34" charset="0"/>
                <a:ea typeface="IBM Plex Sans" pitchFamily="34" charset="-122"/>
                <a:cs typeface="IBM Plex Sans" pitchFamily="34" charset="-120"/>
              </a:rPr>
              <a:t>Customer</a:t>
            </a:r>
            <a:endParaRPr lang="en-US" sz="1300" dirty="0"/>
          </a:p>
        </p:txBody>
      </p:sp>
      <p:sp>
        <p:nvSpPr>
          <p:cNvPr id="16" name="Text 14"/>
          <p:cNvSpPr/>
          <p:nvPr/>
        </p:nvSpPr>
        <p:spPr>
          <a:xfrm>
            <a:off x="8026400" y="3200400"/>
            <a:ext cx="3352800" cy="406400"/>
          </a:xfrm>
          <a:prstGeom prst="roundRect">
            <a:avLst>
              <a:gd name="adj" fmla="val 17585"/>
            </a:avLst>
          </a:prstGeom>
          <a:solidFill>
            <a:srgbClr val="FBFCFB"/>
          </a:solidFill>
          <a:ln w="6350">
            <a:solidFill>
              <a:srgbClr val="DCE3E0"/>
            </a:solidFill>
            <a:prstDash val="solid"/>
          </a:ln>
        </p:spPr>
        <p:txBody>
          <a:bodyPr wrap="square" lIns="108787" tIns="70687" rIns="15187" bIns="45287" rtlCol="0" anchor="t">
            <a:normAutofit/>
          </a:bodyPr>
          <a:lstStyle/>
          <a:p>
            <a:pPr marL="0" indent="0" algn="l">
              <a:lnSpc>
                <a:spcPts val="1820"/>
              </a:lnSpc>
              <a:buNone/>
            </a:pPr>
            <a:r>
              <a:rPr lang="en-US" sz="1300" dirty="0">
                <a:solidFill>
                  <a:srgbClr val="1F2A2E"/>
                </a:solidFill>
                <a:latin typeface="IBM Plex Sans" pitchFamily="34" charset="0"/>
                <a:ea typeface="IBM Plex Sans" pitchFamily="34" charset="-122"/>
                <a:cs typeface="IBM Plex Sans" pitchFamily="34" charset="-120"/>
              </a:rPr>
              <a:t>SalesOrderHeader</a:t>
            </a:r>
            <a:endParaRPr lang="en-US" sz="1300" dirty="0"/>
          </a:p>
        </p:txBody>
      </p:sp>
      <p:sp>
        <p:nvSpPr>
          <p:cNvPr id="17" name="Text 15"/>
          <p:cNvSpPr/>
          <p:nvPr/>
        </p:nvSpPr>
        <p:spPr>
          <a:xfrm>
            <a:off x="8026400" y="4267200"/>
            <a:ext cx="3352800" cy="431800"/>
          </a:xfrm>
          <a:prstGeom prst="roundRect">
            <a:avLst>
              <a:gd name="adj" fmla="val 18634"/>
            </a:avLst>
          </a:prstGeom>
          <a:solidFill>
            <a:srgbClr val="2F5D6E"/>
          </a:solidFill>
          <a:ln/>
        </p:spPr>
        <p:txBody>
          <a:bodyPr wrap="square" lIns="104682" tIns="66582" rIns="10701" bIns="41182" rtlCol="0" anchor="t">
            <a:normAutofit/>
          </a:bodyPr>
          <a:lstStyle/>
          <a:p>
            <a:pPr marL="0" indent="0" algn="l">
              <a:lnSpc>
                <a:spcPts val="1820"/>
              </a:lnSpc>
              <a:buNone/>
            </a:pPr>
            <a:r>
              <a:rPr lang="en-US" sz="1300" b="1" dirty="0">
                <a:solidFill>
                  <a:srgbClr val="F4F6F5"/>
                </a:solidFill>
                <a:latin typeface="IBM Plex Sans" pitchFamily="34" charset="0"/>
                <a:ea typeface="IBM Plex Sans" pitchFamily="34" charset="-122"/>
                <a:cs typeface="IBM Plex Sans" pitchFamily="34" charset="-120"/>
              </a:rPr>
              <a:t>SalesOrderDetail · fait</a:t>
            </a:r>
            <a:endParaRPr lang="en-US" sz="1300" dirty="0"/>
          </a:p>
        </p:txBody>
      </p:sp>
      <p:sp>
        <p:nvSpPr>
          <p:cNvPr id="19" name="Text 17"/>
          <p:cNvSpPr/>
          <p:nvPr/>
        </p:nvSpPr>
        <p:spPr>
          <a:xfrm>
            <a:off x="812800" y="4851400"/>
            <a:ext cx="3352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Relations 1-N, filtrage unidirectionnel</a:t>
            </a:r>
            <a:endParaRPr lang="en-US" sz="1200" dirty="0"/>
          </a:p>
        </p:txBody>
      </p:sp>
      <p:sp>
        <p:nvSpPr>
          <p:cNvPr id="20" name="Text 18"/>
          <p:cNvSpPr/>
          <p:nvPr/>
        </p:nvSpPr>
        <p:spPr>
          <a:xfrm>
            <a:off x="4419600" y="4851400"/>
            <a:ext cx="3352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Corrigé : dates texte → type Date</a:t>
            </a:r>
            <a:endParaRPr lang="en-US" sz="1200" dirty="0"/>
          </a:p>
        </p:txBody>
      </p:sp>
      <p:sp>
        <p:nvSpPr>
          <p:cNvPr id="21" name="Text 19"/>
          <p:cNvSpPr/>
          <p:nvPr/>
        </p:nvSpPr>
        <p:spPr>
          <a:xfrm>
            <a:off x="8026400" y="4851400"/>
            <a:ext cx="3352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Ajouté : SalesOrderDetail → SalesOrderHeader</a:t>
            </a:r>
            <a:endParaRPr lang="en-US" sz="1200" dirty="0"/>
          </a:p>
        </p:txBody>
      </p:sp>
      <p:sp>
        <p:nvSpPr>
          <p:cNvPr id="22" name="Text 2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3"/>
                </a:solidFill>
                <a:latin typeface="IBM Plex Sans" pitchFamily="34" charset="0"/>
                <a:ea typeface="IBM Plex Sans" pitchFamily="34" charset="-122"/>
                <a:cs typeface="IBM Plex Sans" pitchFamily="34" charset="-120"/>
              </a:rPr>
              <a:t>AdventureWorks · Modèle et indicateurs</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B73"/>
                </a:solidFill>
                <a:latin typeface="IBM Plex Sans" pitchFamily="34" charset="0"/>
                <a:ea typeface="IBM Plex Sans" pitchFamily="34" charset="-122"/>
                <a:cs typeface="IBM Plex Sans" pitchFamily="34" charset="-120"/>
              </a:rPr>
              <a:t>07</a:t>
            </a:r>
            <a:endParaRPr lang="en-US" sz="1200" dirty="0"/>
          </a:p>
        </p:txBody>
      </p:sp>
      <p:sp>
        <p:nvSpPr>
          <p:cNvPr id="25" name="Text 16">
            <a:extLst>
              <a:ext uri="{FF2B5EF4-FFF2-40B4-BE49-F238E27FC236}">
                <a16:creationId xmlns:a16="http://schemas.microsoft.com/office/drawing/2014/main" id="{5C68B9D1-0643-B027-08C7-79C0E2CE1A06}"/>
              </a:ext>
            </a:extLst>
          </p:cNvPr>
          <p:cNvSpPr/>
          <p:nvPr/>
        </p:nvSpPr>
        <p:spPr>
          <a:xfrm>
            <a:off x="812800" y="5359400"/>
            <a:ext cx="10566400" cy="457200"/>
          </a:xfrm>
          <a:prstGeom prst="roundRect">
            <a:avLst>
              <a:gd name="adj" fmla="val 16575"/>
            </a:avLst>
          </a:prstGeom>
          <a:solidFill>
            <a:srgbClr val="1F3B47"/>
          </a:solidFill>
          <a:ln/>
        </p:spPr>
        <p:txBody>
          <a:bodyPr wrap="square" lIns="130082" tIns="91982" rIns="0" bIns="66582" rtlCol="0" anchor="t">
            <a:normAutofit/>
          </a:bodyPr>
          <a:lstStyle/>
          <a:p>
            <a:pPr marL="0" indent="0" algn="l">
              <a:lnSpc>
                <a:spcPts val="1820"/>
              </a:lnSpc>
              <a:buNone/>
            </a:pPr>
            <a:r>
              <a:rPr lang="en-US" sz="1300" b="1" dirty="0">
                <a:solidFill>
                  <a:srgbClr val="F4F6F5"/>
                </a:solidFill>
                <a:latin typeface="IBM Plex Sans" pitchFamily="34" charset="0"/>
                <a:ea typeface="IBM Plex Sans" pitchFamily="34" charset="-122"/>
                <a:cs typeface="IBM Plex Sans" pitchFamily="34" charset="-120"/>
              </a:rPr>
              <a:t>Date_table</a:t>
            </a:r>
            <a:r>
              <a:rPr lang="en-US" sz="1300" dirty="0">
                <a:solidFill>
                  <a:srgbClr val="F4F6F5"/>
                </a:solidFill>
                <a:latin typeface="IBM Plex Sans" pitchFamily="34" charset="0"/>
                <a:ea typeface="IBM Plex Sans" pitchFamily="34" charset="-122"/>
                <a:cs typeface="IBM Plex Sans" pitchFamily="34" charset="-120"/>
              </a:rPr>
              <a:t> — table de dates marquée, reliée aux dates de commande d'achat et de vente</a:t>
            </a:r>
            <a:endParaRPr lang="en-US" sz="1300" dirty="0"/>
          </a:p>
        </p:txBody>
      </p:sp>
      <p:sp>
        <p:nvSpPr>
          <p:cNvPr id="27" name="Text 3">
            <a:extLst>
              <a:ext uri="{FF2B5EF4-FFF2-40B4-BE49-F238E27FC236}">
                <a16:creationId xmlns:a16="http://schemas.microsoft.com/office/drawing/2014/main" id="{B28FCA02-5D5A-2901-CF77-9DDDA5774A2A}"/>
              </a:ext>
            </a:extLst>
          </p:cNvPr>
          <p:cNvSpPr/>
          <p:nvPr/>
        </p:nvSpPr>
        <p:spPr>
          <a:xfrm>
            <a:off x="812800" y="2692400"/>
            <a:ext cx="3352800" cy="406400"/>
          </a:xfrm>
          <a:prstGeom prst="roundRect">
            <a:avLst>
              <a:gd name="adj" fmla="val 17585"/>
            </a:avLst>
          </a:prstGeom>
          <a:solidFill>
            <a:srgbClr val="FBFCFB"/>
          </a:solidFill>
          <a:ln w="6350">
            <a:solidFill>
              <a:srgbClr val="DCE3E0"/>
            </a:solidFill>
            <a:prstDash val="solid"/>
          </a:ln>
        </p:spPr>
        <p:txBody>
          <a:bodyPr wrap="square" lIns="108787" tIns="70687" rIns="15189" bIns="45287" rtlCol="0" anchor="t">
            <a:normAutofit/>
          </a:bodyPr>
          <a:lstStyle/>
          <a:p>
            <a:pPr marL="0" indent="0" algn="l">
              <a:lnSpc>
                <a:spcPts val="1820"/>
              </a:lnSpc>
              <a:buNone/>
            </a:pPr>
            <a:r>
              <a:rPr lang="en-US" sz="1300" dirty="0" err="1">
                <a:solidFill>
                  <a:srgbClr val="1F2A2E"/>
                </a:solidFill>
                <a:latin typeface="IBM Plex Sans" pitchFamily="34" charset="0"/>
                <a:ea typeface="IBM Plex Sans" pitchFamily="34" charset="-122"/>
                <a:cs typeface="IBM Plex Sans" pitchFamily="34" charset="-120"/>
              </a:rPr>
              <a:t>Vendorsegments</a:t>
            </a:r>
            <a:r>
              <a:rPr lang="en-US" sz="1300" dirty="0">
                <a:solidFill>
                  <a:srgbClr val="1F2A2E"/>
                </a:solidFill>
                <a:latin typeface="IBM Plex Sans" pitchFamily="34" charset="0"/>
                <a:ea typeface="IBM Plex Sans" pitchFamily="34" charset="-122"/>
                <a:cs typeface="IBM Plex Sans" pitchFamily="34" charset="-120"/>
              </a:rPr>
              <a:t> </a:t>
            </a:r>
            <a:r>
              <a:rPr lang="fr-FR" sz="1300" dirty="0">
                <a:solidFill>
                  <a:srgbClr val="1F2A2E"/>
                </a:solidFill>
                <a:latin typeface="IBM Plex Sans" pitchFamily="34" charset="0"/>
                <a:ea typeface="IBM Plex Sans" pitchFamily="34" charset="-122"/>
                <a:cs typeface="IBM Plex Sans" pitchFamily="34" charset="-120"/>
              </a:rPr>
              <a:t>(</a:t>
            </a:r>
            <a:r>
              <a:rPr lang="en-US" sz="1300" dirty="0">
                <a:solidFill>
                  <a:srgbClr val="1F2A2E"/>
                </a:solidFill>
                <a:latin typeface="IBM Plex Sans" pitchFamily="34" charset="0"/>
                <a:ea typeface="IBM Plex Sans" pitchFamily="34" charset="-122"/>
                <a:cs typeface="IBM Plex Sans" pitchFamily="34" charset="-120"/>
              </a:rPr>
              <a:t>ML)</a:t>
            </a:r>
            <a:endParaRPr lang="en-US" sz="1300" dirty="0"/>
          </a:p>
        </p:txBody>
      </p:sp>
      <p:sp>
        <p:nvSpPr>
          <p:cNvPr id="29" name="Text 3">
            <a:extLst>
              <a:ext uri="{FF2B5EF4-FFF2-40B4-BE49-F238E27FC236}">
                <a16:creationId xmlns:a16="http://schemas.microsoft.com/office/drawing/2014/main" id="{64E49AB3-6191-193B-9576-CB0D087C27FF}"/>
              </a:ext>
            </a:extLst>
          </p:cNvPr>
          <p:cNvSpPr/>
          <p:nvPr/>
        </p:nvSpPr>
        <p:spPr>
          <a:xfrm>
            <a:off x="812800" y="3200400"/>
            <a:ext cx="3352800" cy="406400"/>
          </a:xfrm>
          <a:prstGeom prst="roundRect">
            <a:avLst>
              <a:gd name="adj" fmla="val 17585"/>
            </a:avLst>
          </a:prstGeom>
          <a:solidFill>
            <a:srgbClr val="FBFCFB"/>
          </a:solidFill>
          <a:ln w="6350">
            <a:solidFill>
              <a:srgbClr val="DCE3E0"/>
            </a:solidFill>
            <a:prstDash val="solid"/>
          </a:ln>
        </p:spPr>
        <p:txBody>
          <a:bodyPr wrap="square" lIns="108787" tIns="70687" rIns="15189" bIns="45287" rtlCol="0" anchor="t">
            <a:normAutofit/>
          </a:bodyPr>
          <a:lstStyle/>
          <a:p>
            <a:pPr marL="0" indent="0" algn="l">
              <a:lnSpc>
                <a:spcPts val="1820"/>
              </a:lnSpc>
              <a:buNone/>
            </a:pPr>
            <a:r>
              <a:rPr lang="en-US" sz="1300" dirty="0" err="1">
                <a:solidFill>
                  <a:srgbClr val="1F2A2E"/>
                </a:solidFill>
                <a:latin typeface="IBM Plex Sans" pitchFamily="34" charset="0"/>
              </a:rPr>
              <a:t>ProductVendor</a:t>
            </a:r>
            <a:r>
              <a:rPr lang="en-US" sz="1300" dirty="0">
                <a:solidFill>
                  <a:srgbClr val="1F2A2E"/>
                </a:solidFill>
                <a:latin typeface="IBM Plex Sans" pitchFamily="34" charset="0"/>
              </a:rPr>
              <a:t> (Pont)</a:t>
            </a:r>
            <a:endParaRPr lang="en-US" sz="1300" dirty="0"/>
          </a:p>
        </p:txBody>
      </p:sp>
      <p:sp>
        <p:nvSpPr>
          <p:cNvPr id="31" name="Text 3">
            <a:extLst>
              <a:ext uri="{FF2B5EF4-FFF2-40B4-BE49-F238E27FC236}">
                <a16:creationId xmlns:a16="http://schemas.microsoft.com/office/drawing/2014/main" id="{BF6836E4-C007-35C0-2870-96D13B376058}"/>
              </a:ext>
            </a:extLst>
          </p:cNvPr>
          <p:cNvSpPr/>
          <p:nvPr/>
        </p:nvSpPr>
        <p:spPr>
          <a:xfrm>
            <a:off x="4419600" y="3200400"/>
            <a:ext cx="3352800" cy="406400"/>
          </a:xfrm>
          <a:prstGeom prst="roundRect">
            <a:avLst>
              <a:gd name="adj" fmla="val 17585"/>
            </a:avLst>
          </a:prstGeom>
          <a:solidFill>
            <a:srgbClr val="FBFCFB"/>
          </a:solidFill>
          <a:ln w="6350">
            <a:solidFill>
              <a:srgbClr val="DCE3E0"/>
            </a:solidFill>
            <a:prstDash val="solid"/>
          </a:ln>
        </p:spPr>
        <p:txBody>
          <a:bodyPr wrap="square" lIns="108787" tIns="70687" rIns="15189" bIns="45287" rtlCol="0" anchor="t">
            <a:normAutofit/>
          </a:bodyPr>
          <a:lstStyle/>
          <a:p>
            <a:pPr marL="0" indent="0" algn="l">
              <a:lnSpc>
                <a:spcPts val="1820"/>
              </a:lnSpc>
              <a:buNone/>
            </a:pPr>
            <a:r>
              <a:rPr lang="en-US" sz="1300" dirty="0">
                <a:solidFill>
                  <a:srgbClr val="1F2A2E"/>
                </a:solidFill>
                <a:latin typeface="IBM Plex Sans" pitchFamily="34" charset="0"/>
              </a:rPr>
              <a:t>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D6E"/>
                </a:solidFill>
                <a:latin typeface="IBM Plex Sans" pitchFamily="34" charset="0"/>
                <a:ea typeface="IBM Plex Sans" pitchFamily="34" charset="-122"/>
                <a:cs typeface="IBM Plex Sans" pitchFamily="34" charset="-120"/>
              </a:rPr>
              <a:t>KPI</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F2A2E"/>
                </a:solidFill>
                <a:latin typeface="Rubik" pitchFamily="34" charset="0"/>
                <a:ea typeface="Rubik" pitchFamily="34" charset="-122"/>
                <a:cs typeface="Rubik" pitchFamily="34" charset="-120"/>
              </a:rPr>
              <a:t>Six indicateurs pour suivre la chaîne</a:t>
            </a:r>
            <a:endParaRPr lang="en-US" sz="3200" dirty="0"/>
          </a:p>
        </p:txBody>
      </p:sp>
      <p:sp>
        <p:nvSpPr>
          <p:cNvPr id="4" name="Shape 2"/>
          <p:cNvSpPr/>
          <p:nvPr/>
        </p:nvSpPr>
        <p:spPr>
          <a:xfrm>
            <a:off x="812800" y="1899841"/>
            <a:ext cx="10566400" cy="2765425"/>
          </a:xfrm>
          <a:prstGeom prst="roundRect">
            <a:avLst>
              <a:gd name="adj" fmla="val 2755"/>
            </a:avLst>
          </a:prstGeom>
          <a:solidFill>
            <a:srgbClr val="FBFCFB"/>
          </a:solidFill>
          <a:ln/>
        </p:spPr>
        <p:txBody>
          <a:bodyPr/>
          <a:lstStyle/>
          <a:p>
            <a:endParaRPr lang="fr-FR"/>
          </a:p>
        </p:txBody>
      </p:sp>
      <p:sp>
        <p:nvSpPr>
          <p:cNvPr id="5" name="Shape 3"/>
          <p:cNvSpPr/>
          <p:nvPr/>
        </p:nvSpPr>
        <p:spPr>
          <a:xfrm>
            <a:off x="812800" y="1899841"/>
            <a:ext cx="10566400" cy="2765425"/>
          </a:xfrm>
          <a:custGeom>
            <a:avLst/>
            <a:gdLst/>
            <a:ahLst/>
            <a:cxnLst/>
            <a:rect l="l" t="t" r="r" b="b"/>
            <a:pathLst>
              <a:path w="10566400" h="2765425">
                <a:moveTo>
                  <a:pt x="10490200" y="0"/>
                </a:moveTo>
                <a:lnTo>
                  <a:pt x="10490200" y="0"/>
                </a:lnTo>
                <a:arcTo wR="76200" hR="76200" stAng="16200000" swAng="5400000"/>
                <a:lnTo>
                  <a:pt x="10566400" y="2689225"/>
                </a:lnTo>
                <a:arcTo wR="76200" hR="76200" stAng="0" swAng="5400000"/>
                <a:lnTo>
                  <a:pt x="76200" y="2765425"/>
                </a:lnTo>
                <a:arcTo wR="76200" hR="76200" stAng="5400000" swAng="5400000"/>
                <a:lnTo>
                  <a:pt x="0" y="2689225"/>
                </a:lnTo>
                <a:arcTo wR="76200" hR="69850" stAng="10800000" swAng="-5400000"/>
                <a:lnTo>
                  <a:pt x="10490200" y="2759075"/>
                </a:lnTo>
                <a:arcTo wR="69850" hR="69850" stAng="5400000" swAng="-5400000"/>
                <a:lnTo>
                  <a:pt x="10560050" y="76200"/>
                </a:lnTo>
                <a:arcTo wR="69850" hR="76200" stAng="0" swAng="-5400000"/>
                <a:close/>
              </a:path>
            </a:pathLst>
          </a:custGeom>
          <a:solidFill>
            <a:srgbClr val="DCE3E0"/>
          </a:solidFill>
          <a:ln/>
        </p:spPr>
        <p:txBody>
          <a:bodyPr/>
          <a:lstStyle/>
          <a:p>
            <a:endParaRPr lang="fr-FR"/>
          </a:p>
        </p:txBody>
      </p:sp>
      <p:sp>
        <p:nvSpPr>
          <p:cNvPr id="6" name="Shape 4"/>
          <p:cNvSpPr/>
          <p:nvPr/>
        </p:nvSpPr>
        <p:spPr>
          <a:xfrm>
            <a:off x="812800" y="1899841"/>
            <a:ext cx="10566400" cy="2765425"/>
          </a:xfrm>
          <a:custGeom>
            <a:avLst/>
            <a:gdLst/>
            <a:ahLst/>
            <a:cxnLst/>
            <a:rect l="l" t="t" r="r" b="b"/>
            <a:pathLst>
              <a:path w="10566400" h="2765425">
                <a:moveTo>
                  <a:pt x="76200" y="2765425"/>
                </a:moveTo>
                <a:lnTo>
                  <a:pt x="76200" y="2765425"/>
                </a:lnTo>
                <a:arcTo wR="76200" hR="76200" stAng="5400000" swAng="5400000"/>
                <a:lnTo>
                  <a:pt x="0" y="76200"/>
                </a:lnTo>
                <a:arcTo wR="76200" hR="76200" stAng="10800000" swAng="5400000"/>
                <a:lnTo>
                  <a:pt x="10490200" y="0"/>
                </a:lnTo>
                <a:arcTo wR="76200" hR="76200" stAng="16200000" swAng="5400000"/>
                <a:lnTo>
                  <a:pt x="10566400" y="76200"/>
                </a:lnTo>
                <a:arcTo wR="76200" hR="63500" stAng="0" swAng="-5400000"/>
                <a:lnTo>
                  <a:pt x="76200" y="12700"/>
                </a:lnTo>
                <a:arcTo wR="63500" hR="63500" stAng="16200000" swAng="-5400000"/>
                <a:lnTo>
                  <a:pt x="12700" y="2689225"/>
                </a:lnTo>
                <a:arcTo wR="63500" hR="76200" stAng="10800000" swAng="-5400000"/>
                <a:close/>
              </a:path>
            </a:pathLst>
          </a:custGeom>
          <a:solidFill>
            <a:srgbClr val="141413">
              <a:alpha val="22000"/>
            </a:srgbClr>
          </a:solidFill>
          <a:ln/>
        </p:spPr>
        <p:txBody>
          <a:bodyPr/>
          <a:lstStyle/>
          <a:p>
            <a:endParaRPr lang="fr-FR"/>
          </a:p>
        </p:txBody>
      </p:sp>
      <p:graphicFrame>
        <p:nvGraphicFramePr>
          <p:cNvPr id="7" name="Table 0"/>
          <p:cNvGraphicFramePr>
            <a:graphicFrameLocks noGrp="1"/>
          </p:cNvGraphicFramePr>
          <p:nvPr>
            <p:extLst>
              <p:ext uri="{D42A27DB-BD31-4B8C-83A1-F6EECF244321}">
                <p14:modId xmlns:p14="http://schemas.microsoft.com/office/powerpoint/2010/main" val="1143375909"/>
              </p:ext>
            </p:extLst>
          </p:nvPr>
        </p:nvGraphicFramePr>
        <p:xfrm>
          <a:off x="825500" y="1912541"/>
          <a:ext cx="10547350" cy="2746377"/>
        </p:xfrm>
        <a:graphic>
          <a:graphicData uri="http://schemas.openxmlformats.org/drawingml/2006/table">
            <a:tbl>
              <a:tblPr/>
              <a:tblGrid>
                <a:gridCol w="1687576">
                  <a:extLst>
                    <a:ext uri="{9D8B030D-6E8A-4147-A177-3AD203B41FA5}">
                      <a16:colId xmlns:a16="http://schemas.microsoft.com/office/drawing/2014/main" val="20000"/>
                    </a:ext>
                  </a:extLst>
                </a:gridCol>
                <a:gridCol w="3250161">
                  <a:extLst>
                    <a:ext uri="{9D8B030D-6E8A-4147-A177-3AD203B41FA5}">
                      <a16:colId xmlns:a16="http://schemas.microsoft.com/office/drawing/2014/main" val="20001"/>
                    </a:ext>
                  </a:extLst>
                </a:gridCol>
                <a:gridCol w="4429387">
                  <a:extLst>
                    <a:ext uri="{9D8B030D-6E8A-4147-A177-3AD203B41FA5}">
                      <a16:colId xmlns:a16="http://schemas.microsoft.com/office/drawing/2014/main" val="20002"/>
                    </a:ext>
                  </a:extLst>
                </a:gridCol>
                <a:gridCol w="1180226">
                  <a:extLst>
                    <a:ext uri="{9D8B030D-6E8A-4147-A177-3AD203B41FA5}">
                      <a16:colId xmlns:a16="http://schemas.microsoft.com/office/drawing/2014/main" val="20003"/>
                    </a:ext>
                  </a:extLst>
                </a:gridCol>
              </a:tblGrid>
              <a:tr h="359321">
                <a:tc>
                  <a:txBody>
                    <a:bodyPr/>
                    <a:lstStyle/>
                    <a:p>
                      <a:pPr marL="0" indent="0">
                        <a:lnSpc>
                          <a:spcPts val="1820"/>
                        </a:lnSpc>
                        <a:buNone/>
                      </a:pPr>
                      <a:r>
                        <a:rPr lang="en-US" sz="1300" b="1" dirty="0">
                          <a:solidFill>
                            <a:srgbClr val="F4F6F5"/>
                          </a:solidFill>
                          <a:latin typeface="IBM Plex Sans" pitchFamily="34" charset="0"/>
                          <a:ea typeface="IBM Plex Sans" pitchFamily="34" charset="-122"/>
                          <a:cs typeface="IBM Plex Sans" pitchFamily="34" charset="-120"/>
                        </a:rPr>
                        <a:t>Axe</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1D323C"/>
                      </a:solidFill>
                      <a:prstDash val="solid"/>
                      <a:round/>
                      <a:headEnd type="none" w="med" len="med"/>
                      <a:tailEnd type="none" w="med" len="med"/>
                    </a:lnR>
                    <a:lnT w="0" cap="flat" cmpd="sng" algn="ctr">
                      <a:noFill/>
                    </a:lnT>
                    <a:lnB w="12700" cap="flat" cmpd="sng" algn="ctr">
                      <a:solidFill>
                        <a:srgbClr val="1D323C"/>
                      </a:solidFill>
                      <a:prstDash val="solid"/>
                      <a:round/>
                      <a:headEnd type="none" w="med" len="med"/>
                      <a:tailEnd type="none" w="med" len="med"/>
                    </a:lnB>
                    <a:solidFill>
                      <a:srgbClr val="1F3B47"/>
                    </a:solidFill>
                  </a:tcPr>
                </a:tc>
                <a:tc>
                  <a:txBody>
                    <a:bodyPr/>
                    <a:lstStyle/>
                    <a:p>
                      <a:pPr marL="0" indent="0">
                        <a:lnSpc>
                          <a:spcPts val="1820"/>
                        </a:lnSpc>
                        <a:buNone/>
                      </a:pPr>
                      <a:r>
                        <a:rPr lang="en-US" sz="1300" b="1" dirty="0">
                          <a:solidFill>
                            <a:srgbClr val="F4F6F5"/>
                          </a:solidFill>
                          <a:latin typeface="IBM Plex Sans" pitchFamily="34" charset="0"/>
                          <a:ea typeface="IBM Plex Sans" pitchFamily="34" charset="-122"/>
                          <a:cs typeface="IBM Plex Sans" pitchFamily="34" charset="-120"/>
                        </a:rPr>
                        <a:t>Indicateur</a:t>
                      </a:r>
                      <a:endParaRPr lang="en-US" sz="1300" dirty="0">
                        <a:latin typeface="IBM Plex Sans" charset="0"/>
                        <a:ea typeface="IBM Plex Sans" charset="0"/>
                        <a:cs typeface="IBM Plex Sans" charset="0"/>
                      </a:endParaRPr>
                    </a:p>
                  </a:txBody>
                  <a:tcPr marL="57785" marR="57785" marT="57785" marB="57785">
                    <a:lnL w="12700" cap="flat" cmpd="sng" algn="ctr">
                      <a:solidFill>
                        <a:srgbClr val="1D323C"/>
                      </a:solidFill>
                      <a:prstDash val="solid"/>
                      <a:round/>
                      <a:headEnd type="none" w="med" len="med"/>
                      <a:tailEnd type="none" w="med" len="med"/>
                    </a:lnL>
                    <a:lnR w="12700" cap="flat" cmpd="sng" algn="ctr">
                      <a:solidFill>
                        <a:srgbClr val="1D323C"/>
                      </a:solidFill>
                      <a:prstDash val="solid"/>
                      <a:round/>
                      <a:headEnd type="none" w="med" len="med"/>
                      <a:tailEnd type="none" w="med" len="med"/>
                    </a:lnR>
                    <a:lnT w="0" cap="flat" cmpd="sng" algn="ctr">
                      <a:noFill/>
                    </a:lnT>
                    <a:lnB w="12700" cap="flat" cmpd="sng" algn="ctr">
                      <a:solidFill>
                        <a:srgbClr val="1D323C"/>
                      </a:solidFill>
                      <a:prstDash val="solid"/>
                      <a:round/>
                      <a:headEnd type="none" w="med" len="med"/>
                      <a:tailEnd type="none" w="med" len="med"/>
                    </a:lnB>
                    <a:solidFill>
                      <a:srgbClr val="1F3B47"/>
                    </a:solidFill>
                  </a:tcPr>
                </a:tc>
                <a:tc>
                  <a:txBody>
                    <a:bodyPr/>
                    <a:lstStyle/>
                    <a:p>
                      <a:pPr marL="0" indent="0">
                        <a:lnSpc>
                          <a:spcPts val="1820"/>
                        </a:lnSpc>
                        <a:buNone/>
                      </a:pPr>
                      <a:r>
                        <a:rPr lang="en-US" sz="1300" b="1" dirty="0">
                          <a:solidFill>
                            <a:srgbClr val="F4F6F5"/>
                          </a:solidFill>
                          <a:latin typeface="IBM Plex Sans" pitchFamily="34" charset="0"/>
                          <a:ea typeface="IBM Plex Sans" pitchFamily="34" charset="-122"/>
                          <a:cs typeface="IBM Plex Sans" pitchFamily="34" charset="-120"/>
                        </a:rPr>
                        <a:t>Calcul (mesure DAX)</a:t>
                      </a:r>
                      <a:endParaRPr lang="en-US" sz="1300" dirty="0">
                        <a:latin typeface="IBM Plex Sans" charset="0"/>
                        <a:ea typeface="IBM Plex Sans" charset="0"/>
                        <a:cs typeface="IBM Plex Sans" charset="0"/>
                      </a:endParaRPr>
                    </a:p>
                  </a:txBody>
                  <a:tcPr marL="57785" marR="57785" marT="57785" marB="57785">
                    <a:lnL w="12700" cap="flat" cmpd="sng" algn="ctr">
                      <a:solidFill>
                        <a:srgbClr val="1D323C"/>
                      </a:solidFill>
                      <a:prstDash val="solid"/>
                      <a:round/>
                      <a:headEnd type="none" w="med" len="med"/>
                      <a:tailEnd type="none" w="med" len="med"/>
                    </a:lnL>
                    <a:lnR w="12700" cap="flat" cmpd="sng" algn="ctr">
                      <a:solidFill>
                        <a:srgbClr val="1D323C"/>
                      </a:solidFill>
                      <a:prstDash val="solid"/>
                      <a:round/>
                      <a:headEnd type="none" w="med" len="med"/>
                      <a:tailEnd type="none" w="med" len="med"/>
                    </a:lnR>
                    <a:lnT w="0" cap="flat" cmpd="sng" algn="ctr">
                      <a:noFill/>
                    </a:lnT>
                    <a:lnB w="12700" cap="flat" cmpd="sng" algn="ctr">
                      <a:solidFill>
                        <a:srgbClr val="1D323C"/>
                      </a:solidFill>
                      <a:prstDash val="solid"/>
                      <a:round/>
                      <a:headEnd type="none" w="med" len="med"/>
                      <a:tailEnd type="none" w="med" len="med"/>
                    </a:lnB>
                    <a:solidFill>
                      <a:srgbClr val="1F3B47"/>
                    </a:solidFill>
                  </a:tcPr>
                </a:tc>
                <a:tc>
                  <a:txBody>
                    <a:bodyPr/>
                    <a:lstStyle/>
                    <a:p>
                      <a:pPr marL="0" indent="0" algn="r">
                        <a:lnSpc>
                          <a:spcPts val="1820"/>
                        </a:lnSpc>
                        <a:buNone/>
                      </a:pPr>
                      <a:r>
                        <a:rPr lang="en-US" sz="1300" b="1" dirty="0">
                          <a:solidFill>
                            <a:srgbClr val="F4F6F5"/>
                          </a:solidFill>
                          <a:latin typeface="IBM Plex Sans" pitchFamily="34" charset="0"/>
                          <a:ea typeface="IBM Plex Sans" pitchFamily="34" charset="-122"/>
                          <a:cs typeface="IBM Plex Sans" pitchFamily="34" charset="-120"/>
                        </a:rPr>
                        <a:t>Valeur</a:t>
                      </a:r>
                      <a:endParaRPr lang="en-US" sz="1300" dirty="0">
                        <a:latin typeface="IBM Plex Sans" charset="0"/>
                        <a:ea typeface="IBM Plex Sans" charset="0"/>
                        <a:cs typeface="IBM Plex Sans" charset="0"/>
                      </a:endParaRPr>
                    </a:p>
                  </a:txBody>
                  <a:tcPr marL="57785" marR="57785" marT="57785" marB="57785">
                    <a:lnL w="12700" cap="flat" cmpd="sng" algn="ctr">
                      <a:solidFill>
                        <a:srgbClr val="1D323C"/>
                      </a:solidFill>
                      <a:prstDash val="solid"/>
                      <a:round/>
                      <a:headEnd type="none" w="med" len="med"/>
                      <a:tailEnd type="none" w="med" len="med"/>
                    </a:lnL>
                    <a:lnR w="12700" cap="flat" cmpd="sng" algn="ctr">
                      <a:solidFill>
                        <a:srgbClr val="1D323C"/>
                      </a:solidFill>
                      <a:prstDash val="solid"/>
                      <a:round/>
                      <a:headEnd type="none" w="med" len="med"/>
                      <a:tailEnd type="none" w="med" len="med"/>
                    </a:lnR>
                    <a:lnT w="0" cap="flat" cmpd="sng" algn="ctr">
                      <a:noFill/>
                    </a:lnT>
                    <a:lnB w="12700" cap="flat" cmpd="sng" algn="ctr">
                      <a:solidFill>
                        <a:srgbClr val="1D323C"/>
                      </a:solidFill>
                      <a:prstDash val="solid"/>
                      <a:round/>
                      <a:headEnd type="none" w="med" len="med"/>
                      <a:tailEnd type="none" w="med" len="med"/>
                    </a:lnB>
                    <a:solidFill>
                      <a:srgbClr val="1F3B47"/>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F2A2E"/>
                          </a:solidFill>
                          <a:latin typeface="IBM Plex Sans" pitchFamily="34" charset="0"/>
                          <a:ea typeface="IBM Plex Sans" pitchFamily="34" charset="-122"/>
                          <a:cs typeface="IBM Plex Sans" pitchFamily="34" charset="-120"/>
                        </a:rPr>
                        <a:t>Fournisseurs</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8C9C8"/>
                      </a:solidFill>
                      <a:prstDash val="solid"/>
                      <a:round/>
                      <a:headEnd type="none" w="med" len="med"/>
                      <a:tailEnd type="none" w="med" len="med"/>
                    </a:lnR>
                    <a:lnT w="12700" cap="flat" cmpd="sng" algn="ctr">
                      <a:solidFill>
                        <a:srgbClr val="1D323C"/>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marL="0" indent="0">
                        <a:lnSpc>
                          <a:spcPts val="1820"/>
                        </a:lnSpc>
                        <a:buNone/>
                      </a:pPr>
                      <a:r>
                        <a:rPr lang="en-US" sz="1300" dirty="0">
                          <a:solidFill>
                            <a:srgbClr val="1F2A2E"/>
                          </a:solidFill>
                          <a:latin typeface="IBM Plex Sans" pitchFamily="34" charset="0"/>
                          <a:ea typeface="IBM Plex Sans" pitchFamily="34" charset="-122"/>
                          <a:cs typeface="IBM Plex Sans" pitchFamily="34" charset="-120"/>
                        </a:rPr>
                        <a:t>Délai fournisseur</a:t>
                      </a:r>
                      <a:endParaRPr lang="en-US" sz="1300" dirty="0">
                        <a:latin typeface="IBM Plex Sans" charset="0"/>
                        <a:ea typeface="IBM Plex Sans" charset="0"/>
                        <a:cs typeface="IBM Plex Sans" charset="0"/>
                      </a:endParaRPr>
                    </a:p>
                  </a:txBody>
                  <a:tcPr marL="57785" marR="57785" marT="57785" marB="57785">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D323C"/>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marL="0" indent="0">
                        <a:lnSpc>
                          <a:spcPts val="1820"/>
                        </a:lnSpc>
                        <a:buNone/>
                      </a:pPr>
                      <a:r>
                        <a:rPr lang="en-US" sz="1300" dirty="0">
                          <a:solidFill>
                            <a:srgbClr val="1F2A2E"/>
                          </a:solidFill>
                          <a:latin typeface="IBM Plex Sans" pitchFamily="34" charset="0"/>
                          <a:ea typeface="IBM Plex Sans" pitchFamily="34" charset="-122"/>
                          <a:cs typeface="IBM Plex Sans" pitchFamily="34" charset="-120"/>
                        </a:rPr>
                        <a:t>Moyenne (expédition − commande)</a:t>
                      </a:r>
                      <a:endParaRPr lang="en-US" sz="1300" dirty="0">
                        <a:latin typeface="IBM Plex Sans" charset="0"/>
                        <a:ea typeface="IBM Plex Sans" charset="0"/>
                        <a:cs typeface="IBM Plex Sans" charset="0"/>
                      </a:endParaRPr>
                    </a:p>
                  </a:txBody>
                  <a:tcPr marL="57785" marR="57785" marT="57785" marB="57785">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D323C"/>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marL="0" indent="0" algn="r">
                        <a:lnSpc>
                          <a:spcPts val="1820"/>
                        </a:lnSpc>
                        <a:buNone/>
                      </a:pPr>
                      <a:r>
                        <a:rPr lang="en-US" sz="1300" dirty="0">
                          <a:solidFill>
                            <a:srgbClr val="1F2A2E"/>
                          </a:solidFill>
                          <a:latin typeface="IBM Plex Sans" pitchFamily="34" charset="0"/>
                          <a:ea typeface="IBM Plex Sans" pitchFamily="34" charset="-122"/>
                          <a:cs typeface="IBM Plex Sans" pitchFamily="34" charset="-120"/>
                        </a:rPr>
                        <a:t>9,1 j</a:t>
                      </a:r>
                      <a:endParaRPr lang="en-US" sz="1300" dirty="0">
                        <a:latin typeface="IBM Plex Sans" charset="0"/>
                        <a:ea typeface="IBM Plex Sans" charset="0"/>
                        <a:cs typeface="IBM Plex Sans" charset="0"/>
                      </a:endParaRPr>
                    </a:p>
                  </a:txBody>
                  <a:tcPr marL="57785" marR="57785" marT="57785" marB="57785">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D323C"/>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F2A2E"/>
                          </a:solidFill>
                          <a:latin typeface="IBM Plex Sans" pitchFamily="34" charset="0"/>
                          <a:ea typeface="IBM Plex Sans" pitchFamily="34" charset="-122"/>
                          <a:cs typeface="IBM Plex Sans" pitchFamily="34" charset="-120"/>
                        </a:rPr>
                        <a:t>Fournisseurs</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marL="0" indent="0">
                        <a:lnSpc>
                          <a:spcPts val="1820"/>
                        </a:lnSpc>
                        <a:buNone/>
                      </a:pPr>
                      <a:r>
                        <a:rPr lang="en-US" sz="1300" dirty="0">
                          <a:solidFill>
                            <a:srgbClr val="1F2A2E"/>
                          </a:solidFill>
                          <a:latin typeface="IBM Plex Sans" pitchFamily="34" charset="0"/>
                          <a:ea typeface="IBM Plex Sans" pitchFamily="34" charset="-122"/>
                          <a:cs typeface="IBM Plex Sans" pitchFamily="34" charset="-120"/>
                        </a:rPr>
                        <a:t>Taux de rejet</a:t>
                      </a:r>
                      <a:endParaRPr lang="en-US" sz="1300" dirty="0">
                        <a:latin typeface="IBM Plex Sans" charset="0"/>
                        <a:ea typeface="IBM Plex Sans" charset="0"/>
                        <a:cs typeface="IBM Plex Sans" charset="0"/>
                      </a:endParaRPr>
                    </a:p>
                  </a:txBody>
                  <a:tcPr marL="57785" marR="57785" marT="57785" marB="57785">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marL="0" indent="0">
                        <a:lnSpc>
                          <a:spcPts val="1820"/>
                        </a:lnSpc>
                        <a:buNone/>
                      </a:pPr>
                      <a:r>
                        <a:rPr lang="en-US" sz="1300" dirty="0">
                          <a:solidFill>
                            <a:srgbClr val="1F2A2E"/>
                          </a:solidFill>
                          <a:latin typeface="IBM Plex Sans" pitchFamily="34" charset="0"/>
                          <a:ea typeface="IBM Plex Sans" pitchFamily="34" charset="-122"/>
                          <a:cs typeface="IBM Plex Sans" pitchFamily="34" charset="-120"/>
                        </a:rPr>
                        <a:t>Quantité rejetée ÷ quantité reçue</a:t>
                      </a:r>
                      <a:endParaRPr lang="en-US" sz="1300" dirty="0">
                        <a:latin typeface="IBM Plex Sans" charset="0"/>
                        <a:ea typeface="IBM Plex Sans" charset="0"/>
                        <a:cs typeface="IBM Plex Sans" charset="0"/>
                      </a:endParaRPr>
                    </a:p>
                  </a:txBody>
                  <a:tcPr marL="57785" marR="57785" marT="57785" marB="57785">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marL="0" indent="0" algn="r">
                        <a:lnSpc>
                          <a:spcPts val="1820"/>
                        </a:lnSpc>
                        <a:buNone/>
                      </a:pPr>
                      <a:r>
                        <a:rPr lang="en-US" sz="1300" dirty="0">
                          <a:solidFill>
                            <a:srgbClr val="1F2A2E"/>
                          </a:solidFill>
                          <a:latin typeface="IBM Plex Sans" pitchFamily="34" charset="0"/>
                          <a:ea typeface="IBM Plex Sans" pitchFamily="34" charset="-122"/>
                          <a:cs typeface="IBM Plex Sans" pitchFamily="34" charset="-120"/>
                        </a:rPr>
                        <a:t>3,1 %</a:t>
                      </a:r>
                      <a:endParaRPr lang="en-US" sz="1300" dirty="0">
                        <a:latin typeface="IBM Plex Sans" charset="0"/>
                        <a:ea typeface="IBM Plex Sans" charset="0"/>
                        <a:cs typeface="IBM Plex Sans" charset="0"/>
                      </a:endParaRPr>
                    </a:p>
                  </a:txBody>
                  <a:tcPr marL="57785" marR="57785" marT="57785" marB="57785">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F2A2E"/>
                          </a:solidFill>
                          <a:latin typeface="IBM Plex Sans" pitchFamily="34" charset="0"/>
                          <a:ea typeface="IBM Plex Sans" pitchFamily="34" charset="-122"/>
                          <a:cs typeface="IBM Plex Sans" pitchFamily="34" charset="-120"/>
                        </a:rPr>
                        <a:t>Stock</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BEC2C0"/>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marL="0" indent="0">
                        <a:lnSpc>
                          <a:spcPts val="1820"/>
                        </a:lnSpc>
                        <a:buNone/>
                      </a:pPr>
                      <a:r>
                        <a:rPr lang="en-US" sz="1300" dirty="0">
                          <a:solidFill>
                            <a:srgbClr val="1F2A2E"/>
                          </a:solidFill>
                          <a:latin typeface="IBM Plex Sans" pitchFamily="34" charset="0"/>
                          <a:ea typeface="IBM Plex Sans" pitchFamily="34" charset="-122"/>
                          <a:cs typeface="IBM Plex Sans" pitchFamily="34" charset="-120"/>
                        </a:rPr>
                        <a:t>Couverture de stock</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marL="0" indent="0">
                        <a:lnSpc>
                          <a:spcPts val="1820"/>
                        </a:lnSpc>
                        <a:buNone/>
                      </a:pPr>
                      <a:r>
                        <a:rPr lang="en-US" sz="1300" dirty="0">
                          <a:solidFill>
                            <a:srgbClr val="1F2A2E"/>
                          </a:solidFill>
                          <a:latin typeface="IBM Plex Sans" pitchFamily="34" charset="0"/>
                          <a:ea typeface="IBM Plex Sans" pitchFamily="34" charset="-122"/>
                          <a:cs typeface="IBM Plex Sans" pitchFamily="34" charset="-120"/>
                        </a:rPr>
                        <a:t>Valeur du stock ÷ coût des ventes × nb de jours</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marL="0" indent="0" algn="r">
                        <a:lnSpc>
                          <a:spcPts val="1820"/>
                        </a:lnSpc>
                        <a:buNone/>
                      </a:pPr>
                      <a:r>
                        <a:rPr lang="en-US" sz="1300" dirty="0">
                          <a:solidFill>
                            <a:srgbClr val="1F2A2E"/>
                          </a:solidFill>
                          <a:latin typeface="IBM Plex Sans" pitchFamily="34" charset="0"/>
                          <a:ea typeface="IBM Plex Sans" pitchFamily="34" charset="-122"/>
                          <a:cs typeface="IBM Plex Sans" pitchFamily="34" charset="-120"/>
                        </a:rPr>
                        <a:t>225 j</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F2A2E"/>
                          </a:solidFill>
                          <a:latin typeface="IBM Plex Sans" pitchFamily="34" charset="0"/>
                          <a:ea typeface="IBM Plex Sans" pitchFamily="34" charset="-122"/>
                          <a:cs typeface="IBM Plex Sans" pitchFamily="34" charset="-120"/>
                        </a:rPr>
                        <a:t>Stock</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BEC2C0"/>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marL="0" indent="0">
                        <a:lnSpc>
                          <a:spcPts val="1820"/>
                        </a:lnSpc>
                        <a:buNone/>
                      </a:pPr>
                      <a:r>
                        <a:rPr lang="en-US" sz="1300" dirty="0">
                          <a:solidFill>
                            <a:srgbClr val="1F2A2E"/>
                          </a:solidFill>
                          <a:latin typeface="IBM Plex Sans" pitchFamily="34" charset="0"/>
                          <a:ea typeface="IBM Plex Sans" pitchFamily="34" charset="-122"/>
                          <a:cs typeface="IBM Plex Sans" pitchFamily="34" charset="-120"/>
                        </a:rPr>
                        <a:t>Rotation annuelle</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marL="0" indent="0">
                        <a:lnSpc>
                          <a:spcPts val="1820"/>
                        </a:lnSpc>
                        <a:buNone/>
                      </a:pPr>
                      <a:r>
                        <a:rPr lang="en-US" sz="1300" dirty="0">
                          <a:solidFill>
                            <a:srgbClr val="1F2A2E"/>
                          </a:solidFill>
                          <a:latin typeface="IBM Plex Sans" pitchFamily="34" charset="0"/>
                          <a:ea typeface="IBM Plex Sans" pitchFamily="34" charset="-122"/>
                          <a:cs typeface="IBM Plex Sans" pitchFamily="34" charset="-120"/>
                        </a:rPr>
                        <a:t>365 ÷ couverture de </a:t>
                      </a:r>
                      <a:r>
                        <a:rPr lang="en-US" sz="1300" dirty="0" err="1">
                          <a:solidFill>
                            <a:srgbClr val="1F2A2E"/>
                          </a:solidFill>
                          <a:latin typeface="IBM Plex Sans" pitchFamily="34" charset="0"/>
                          <a:ea typeface="IBM Plex Sans" pitchFamily="34" charset="-122"/>
                          <a:cs typeface="IBM Plex Sans" pitchFamily="34" charset="-120"/>
                        </a:rPr>
                        <a:t>jours</a:t>
                      </a:r>
                      <a:r>
                        <a:rPr lang="en-US" sz="1300" dirty="0">
                          <a:solidFill>
                            <a:srgbClr val="1F2A2E"/>
                          </a:solidFill>
                          <a:latin typeface="IBM Plex Sans" pitchFamily="34" charset="0"/>
                          <a:ea typeface="IBM Plex Sans" pitchFamily="34" charset="-122"/>
                          <a:cs typeface="IBM Plex Sans" pitchFamily="34" charset="-120"/>
                        </a:rPr>
                        <a:t> par le stock</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marL="0" indent="0" algn="r">
                        <a:lnSpc>
                          <a:spcPts val="1820"/>
                        </a:lnSpc>
                        <a:buNone/>
                      </a:pPr>
                      <a:r>
                        <a:rPr lang="en-US" sz="1300" dirty="0">
                          <a:solidFill>
                            <a:srgbClr val="1F2A2E"/>
                          </a:solidFill>
                          <a:latin typeface="IBM Plex Sans" pitchFamily="34" charset="0"/>
                          <a:ea typeface="IBM Plex Sans" pitchFamily="34" charset="-122"/>
                          <a:cs typeface="IBM Plex Sans" pitchFamily="34" charset="-120"/>
                        </a:rPr>
                        <a:t>1,6</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extLst>
                  <a:ext uri="{0D108BD9-81ED-4DB2-BD59-A6C34878D82A}">
                    <a16:rowId xmlns:a16="http://schemas.microsoft.com/office/drawing/2014/main" val="10004"/>
                  </a:ext>
                </a:extLst>
              </a:tr>
              <a:tr h="359321">
                <a:tc>
                  <a:txBody>
                    <a:bodyPr/>
                    <a:lstStyle/>
                    <a:p>
                      <a:pPr marL="0" indent="0">
                        <a:lnSpc>
                          <a:spcPts val="1820"/>
                        </a:lnSpc>
                        <a:buNone/>
                      </a:pPr>
                      <a:r>
                        <a:rPr lang="en-US" sz="1300" dirty="0">
                          <a:solidFill>
                            <a:srgbClr val="1F2A2E"/>
                          </a:solidFill>
                          <a:latin typeface="IBM Plex Sans" pitchFamily="34" charset="0"/>
                          <a:ea typeface="IBM Plex Sans" pitchFamily="34" charset="-122"/>
                          <a:cs typeface="IBM Plex Sans" pitchFamily="34" charset="-120"/>
                        </a:rPr>
                        <a:t>Marge</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8C9C8"/>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marL="0" indent="0">
                        <a:lnSpc>
                          <a:spcPts val="1820"/>
                        </a:lnSpc>
                        <a:buNone/>
                      </a:pPr>
                      <a:r>
                        <a:rPr lang="en-US" sz="1300" dirty="0">
                          <a:solidFill>
                            <a:srgbClr val="1F2A2E"/>
                          </a:solidFill>
                          <a:latin typeface="IBM Plex Sans" pitchFamily="34" charset="0"/>
                          <a:ea typeface="IBM Plex Sans" pitchFamily="34" charset="-122"/>
                          <a:cs typeface="IBM Plex Sans" pitchFamily="34" charset="-120"/>
                        </a:rPr>
                        <a:t>Taux de marge</a:t>
                      </a:r>
                      <a:endParaRPr lang="en-US" sz="1300" dirty="0">
                        <a:latin typeface="IBM Plex Sans" charset="0"/>
                        <a:ea typeface="IBM Plex Sans" charset="0"/>
                        <a:cs typeface="IBM Plex Sans" charset="0"/>
                      </a:endParaRPr>
                    </a:p>
                  </a:txBody>
                  <a:tcPr marL="57785" marR="57785" marT="57785" marB="57785">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marL="0" indent="0">
                        <a:lnSpc>
                          <a:spcPts val="1820"/>
                        </a:lnSpc>
                        <a:buNone/>
                      </a:pPr>
                      <a:r>
                        <a:rPr lang="en-US" sz="1300" dirty="0">
                          <a:solidFill>
                            <a:srgbClr val="1F2A2E"/>
                          </a:solidFill>
                          <a:latin typeface="IBM Plex Sans" pitchFamily="34" charset="0"/>
                          <a:ea typeface="IBM Plex Sans" pitchFamily="34" charset="-122"/>
                          <a:cs typeface="IBM Plex Sans" pitchFamily="34" charset="-120"/>
                        </a:rPr>
                        <a:t>(CA net − </a:t>
                      </a:r>
                      <a:r>
                        <a:rPr lang="en-US" sz="1300" dirty="0" err="1">
                          <a:solidFill>
                            <a:srgbClr val="1F2A2E"/>
                          </a:solidFill>
                          <a:latin typeface="IBM Plex Sans" pitchFamily="34" charset="0"/>
                          <a:ea typeface="IBM Plex Sans" pitchFamily="34" charset="-122"/>
                          <a:cs typeface="IBM Plex Sans" pitchFamily="34" charset="-120"/>
                        </a:rPr>
                        <a:t>coût</a:t>
                      </a:r>
                      <a:r>
                        <a:rPr lang="en-US" sz="1300" dirty="0">
                          <a:solidFill>
                            <a:srgbClr val="1F2A2E"/>
                          </a:solidFill>
                          <a:latin typeface="IBM Plex Sans" pitchFamily="34" charset="0"/>
                          <a:ea typeface="IBM Plex Sans" pitchFamily="34" charset="-122"/>
                          <a:cs typeface="IBM Plex Sans" pitchFamily="34" charset="-120"/>
                        </a:rPr>
                        <a:t> de vente(qty*</a:t>
                      </a:r>
                      <a:r>
                        <a:rPr lang="en-US" sz="1300" dirty="0" err="1">
                          <a:solidFill>
                            <a:srgbClr val="1F2A2E"/>
                          </a:solidFill>
                          <a:latin typeface="IBM Plex Sans" pitchFamily="34" charset="0"/>
                          <a:ea typeface="IBM Plex Sans" pitchFamily="34" charset="-122"/>
                          <a:cs typeface="IBM Plex Sans" pitchFamily="34" charset="-120"/>
                        </a:rPr>
                        <a:t>stdcost</a:t>
                      </a:r>
                      <a:r>
                        <a:rPr lang="en-US" sz="1300" dirty="0">
                          <a:solidFill>
                            <a:srgbClr val="1F2A2E"/>
                          </a:solidFill>
                          <a:latin typeface="IBM Plex Sans" pitchFamily="34" charset="0"/>
                          <a:ea typeface="IBM Plex Sans" pitchFamily="34" charset="-122"/>
                          <a:cs typeface="IBM Plex Sans" pitchFamily="34" charset="-120"/>
                        </a:rPr>
                        <a:t>)) ÷ CA net</a:t>
                      </a:r>
                      <a:endParaRPr lang="en-US" sz="1300" dirty="0">
                        <a:latin typeface="IBM Plex Sans" charset="0"/>
                        <a:ea typeface="IBM Plex Sans" charset="0"/>
                        <a:cs typeface="IBM Plex Sans" charset="0"/>
                      </a:endParaRPr>
                    </a:p>
                  </a:txBody>
                  <a:tcPr marL="57785" marR="57785" marT="57785" marB="57785">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marL="0" indent="0" algn="r">
                        <a:lnSpc>
                          <a:spcPts val="1820"/>
                        </a:lnSpc>
                        <a:buNone/>
                      </a:pPr>
                      <a:r>
                        <a:rPr lang="en-US" sz="1300" dirty="0">
                          <a:solidFill>
                            <a:srgbClr val="1F2A2E"/>
                          </a:solidFill>
                          <a:latin typeface="IBM Plex Sans" pitchFamily="34" charset="0"/>
                          <a:ea typeface="IBM Plex Sans" pitchFamily="34" charset="-122"/>
                          <a:cs typeface="IBM Plex Sans" pitchFamily="34" charset="-120"/>
                        </a:rPr>
                        <a:t>8,5 %</a:t>
                      </a:r>
                      <a:endParaRPr lang="en-US" sz="1300" dirty="0">
                        <a:latin typeface="IBM Plex Sans" charset="0"/>
                        <a:ea typeface="IBM Plex Sans" charset="0"/>
                        <a:cs typeface="IBM Plex Sans" charset="0"/>
                      </a:endParaRPr>
                    </a:p>
                  </a:txBody>
                  <a:tcPr marL="57785" marR="57785" marT="57785" marB="57785">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extLst>
                  <a:ext uri="{0D108BD9-81ED-4DB2-BD59-A6C34878D82A}">
                    <a16:rowId xmlns:a16="http://schemas.microsoft.com/office/drawing/2014/main" val="10005"/>
                  </a:ext>
                </a:extLst>
              </a:tr>
              <a:tr h="590451">
                <a:tc>
                  <a:txBody>
                    <a:bodyPr/>
                    <a:lstStyle/>
                    <a:p>
                      <a:pPr marL="0" indent="0">
                        <a:lnSpc>
                          <a:spcPts val="1820"/>
                        </a:lnSpc>
                        <a:buNone/>
                      </a:pPr>
                      <a:r>
                        <a:rPr lang="en-US" sz="1300" dirty="0">
                          <a:solidFill>
                            <a:srgbClr val="1F2A2E"/>
                          </a:solidFill>
                          <a:latin typeface="IBM Plex Sans" pitchFamily="34" charset="0"/>
                          <a:ea typeface="IBM Plex Sans" pitchFamily="34" charset="-122"/>
                          <a:cs typeface="IBM Plex Sans" pitchFamily="34" charset="-120"/>
                        </a:rPr>
                        <a:t>Marge</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marL="0" indent="0">
                        <a:lnSpc>
                          <a:spcPts val="1820"/>
                        </a:lnSpc>
                        <a:buNone/>
                      </a:pPr>
                      <a:r>
                        <a:rPr lang="en-US" sz="1300" dirty="0">
                          <a:solidFill>
                            <a:srgbClr val="1F2A2E"/>
                          </a:solidFill>
                          <a:latin typeface="IBM Plex Sans" pitchFamily="34" charset="0"/>
                          <a:ea typeface="IBM Plex Sans" pitchFamily="34" charset="-122"/>
                          <a:cs typeface="IBM Plex Sans" pitchFamily="34" charset="-120"/>
                        </a:rPr>
                        <a:t>Écart de marge/Marge perdue </a:t>
                      </a:r>
                      <a:r>
                        <a:rPr lang="en-US" sz="1300" dirty="0" err="1">
                          <a:solidFill>
                            <a:srgbClr val="1F2A2E"/>
                          </a:solidFill>
                          <a:latin typeface="IBM Plex Sans" pitchFamily="34" charset="0"/>
                          <a:ea typeface="IBM Plex Sans" pitchFamily="34" charset="-122"/>
                          <a:cs typeface="IBM Plex Sans" pitchFamily="34" charset="-120"/>
                        </a:rPr>
                        <a:t>en</a:t>
                      </a:r>
                      <a:r>
                        <a:rPr lang="en-US" sz="1300" dirty="0">
                          <a:solidFill>
                            <a:srgbClr val="1F2A2E"/>
                          </a:solidFill>
                          <a:latin typeface="IBM Plex Sans" pitchFamily="34" charset="0"/>
                          <a:ea typeface="IBM Plex Sans" pitchFamily="34" charset="-122"/>
                          <a:cs typeface="IBM Plex Sans" pitchFamily="34" charset="-120"/>
                        </a:rPr>
                        <a:t> point</a:t>
                      </a:r>
                      <a:endParaRPr lang="en-US" sz="1300" dirty="0">
                        <a:latin typeface="IBM Plex Sans" charset="0"/>
                        <a:ea typeface="IBM Plex Sans" charset="0"/>
                        <a:cs typeface="IBM Plex Sans" charset="0"/>
                      </a:endParaRPr>
                    </a:p>
                  </a:txBody>
                  <a:tcPr marL="57785" marR="57785" marT="57785" marB="57785">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marL="0" indent="0">
                        <a:lnSpc>
                          <a:spcPts val="1820"/>
                        </a:lnSpc>
                        <a:buNone/>
                      </a:pPr>
                      <a:r>
                        <a:rPr lang="en-US" sz="1300" dirty="0">
                          <a:solidFill>
                            <a:srgbClr val="1F2A2E"/>
                          </a:solidFill>
                          <a:latin typeface="IBM Plex Sans" pitchFamily="34" charset="0"/>
                          <a:ea typeface="IBM Plex Sans" pitchFamily="34" charset="-122"/>
                          <a:cs typeface="IBM Plex Sans" pitchFamily="34" charset="-120"/>
                        </a:rPr>
                        <a:t>Marge au prix d'achat réel − marge standard (produits revendus)</a:t>
                      </a:r>
                      <a:endParaRPr lang="en-US" sz="1300" dirty="0">
                        <a:latin typeface="IBM Plex Sans" charset="0"/>
                        <a:ea typeface="IBM Plex Sans" charset="0"/>
                        <a:cs typeface="IBM Plex Sans" charset="0"/>
                      </a:endParaRPr>
                    </a:p>
                  </a:txBody>
                  <a:tcPr marL="57785" marR="57785" marT="57785" marB="57785">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marL="0" indent="0" algn="r">
                        <a:lnSpc>
                          <a:spcPts val="1820"/>
                        </a:lnSpc>
                        <a:buNone/>
                      </a:pPr>
                      <a:r>
                        <a:rPr lang="en-US" sz="1300" dirty="0">
                          <a:solidFill>
                            <a:srgbClr val="1F2A2E"/>
                          </a:solidFill>
                          <a:latin typeface="IBM Plex Sans" pitchFamily="34" charset="0"/>
                          <a:ea typeface="IBM Plex Sans" pitchFamily="34" charset="-122"/>
                          <a:cs typeface="IBM Plex Sans" pitchFamily="34" charset="-120"/>
                        </a:rPr>
                        <a:t>−9,4 pts</a:t>
                      </a:r>
                      <a:endParaRPr lang="en-US" sz="1300" dirty="0">
                        <a:latin typeface="IBM Plex Sans" charset="0"/>
                        <a:ea typeface="IBM Plex Sans" charset="0"/>
                        <a:cs typeface="IBM Plex Sans" charset="0"/>
                      </a:endParaRPr>
                    </a:p>
                  </a:txBody>
                  <a:tcPr marL="57785" marR="57785" marT="57785" marB="57785">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5"/>
          <p:cNvSpPr/>
          <p:nvPr/>
        </p:nvSpPr>
        <p:spPr>
          <a:xfrm>
            <a:off x="812800" y="4970066"/>
            <a:ext cx="113792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1"/>
                </a:solidFill>
                <a:latin typeface="IBM Plex Sans" pitchFamily="34" charset="0"/>
                <a:ea typeface="IBM Plex Sans" pitchFamily="34" charset="-122"/>
                <a:cs typeface="IBM Plex Sans" pitchFamily="34" charset="-120"/>
              </a:rPr>
              <a:t>24 KPI au total (6 par page), dans des tables de mesures dédiées. Évolution N-1 du CA et du taux de marge, à période </a:t>
            </a:r>
            <a:r>
              <a:rPr lang="en-US" sz="1300" dirty="0" err="1">
                <a:solidFill>
                  <a:srgbClr val="4A5A61"/>
                </a:solidFill>
                <a:latin typeface="IBM Plex Sans" pitchFamily="34" charset="0"/>
                <a:ea typeface="IBM Plex Sans" pitchFamily="34" charset="-122"/>
                <a:cs typeface="IBM Plex Sans" pitchFamily="34" charset="-120"/>
              </a:rPr>
              <a:t>équivalente</a:t>
            </a:r>
            <a:r>
              <a:rPr lang="en-US" sz="1300" dirty="0">
                <a:solidFill>
                  <a:srgbClr val="4A5A61"/>
                </a:solidFill>
                <a:latin typeface="IBM Plex Sans" pitchFamily="34" charset="0"/>
                <a:ea typeface="IBM Plex Sans" pitchFamily="34" charset="-122"/>
                <a:cs typeface="IBM Plex Sans" pitchFamily="34" charset="-120"/>
              </a:rPr>
              <a:t> (2022-2025).</a:t>
            </a:r>
            <a:endParaRPr lang="en-US" sz="1300" dirty="0"/>
          </a:p>
        </p:txBody>
      </p:sp>
      <p:sp>
        <p:nvSpPr>
          <p:cNvPr id="9" name="Text 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3"/>
                </a:solidFill>
                <a:latin typeface="IBM Plex Sans" pitchFamily="34" charset="0"/>
                <a:ea typeface="IBM Plex Sans" pitchFamily="34" charset="-122"/>
                <a:cs typeface="IBM Plex Sans" pitchFamily="34" charset="-120"/>
              </a:rPr>
              <a:t>AdventureWorks · Modèle et indicateurs</a:t>
            </a:r>
            <a:endParaRPr lang="en-US" sz="1200" dirty="0"/>
          </a:p>
        </p:txBody>
      </p:sp>
      <p:sp>
        <p:nvSpPr>
          <p:cNvPr id="10" name="Text 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B73"/>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D6E"/>
                </a:solidFill>
                <a:latin typeface="IBM Plex Sans" pitchFamily="34" charset="0"/>
                <a:ea typeface="IBM Plex Sans" pitchFamily="34" charset="-122"/>
                <a:cs typeface="IBM Plex Sans" pitchFamily="34" charset="-120"/>
              </a:rPr>
              <a:t>DASHBOARD POWER BI</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F2A2E"/>
                </a:solidFill>
                <a:latin typeface="Rubik" pitchFamily="34" charset="0"/>
                <a:ea typeface="Rubik" pitchFamily="34" charset="-122"/>
                <a:cs typeface="Rubik" pitchFamily="34" charset="-120"/>
              </a:rPr>
              <a:t>Quatre pages, une question par page</a:t>
            </a:r>
            <a:endParaRPr lang="en-US" sz="3200" dirty="0"/>
          </a:p>
        </p:txBody>
      </p:sp>
      <p:sp>
        <p:nvSpPr>
          <p:cNvPr id="4" name="Shape 2"/>
          <p:cNvSpPr/>
          <p:nvPr/>
        </p:nvSpPr>
        <p:spPr>
          <a:xfrm>
            <a:off x="812800" y="1899841"/>
            <a:ext cx="5207000" cy="1554361"/>
          </a:xfrm>
          <a:prstGeom prst="roundRect">
            <a:avLst>
              <a:gd name="adj" fmla="val 6536"/>
            </a:avLst>
          </a:prstGeom>
          <a:solidFill>
            <a:srgbClr val="1F3B47"/>
          </a:solidFill>
          <a:ln/>
        </p:spPr>
        <p:txBody>
          <a:bodyPr/>
          <a:lstStyle/>
          <a:p>
            <a:endParaRPr lang="fr-FR"/>
          </a:p>
        </p:txBody>
      </p:sp>
      <p:sp>
        <p:nvSpPr>
          <p:cNvPr id="5" name="Text 3"/>
          <p:cNvSpPr/>
          <p:nvPr/>
        </p:nvSpPr>
        <p:spPr>
          <a:xfrm>
            <a:off x="1041400" y="2128441"/>
            <a:ext cx="4892294"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6F5"/>
                </a:solidFill>
                <a:latin typeface="Rubik" pitchFamily="34" charset="0"/>
                <a:ea typeface="Rubik" pitchFamily="34" charset="-122"/>
                <a:cs typeface="Rubik" pitchFamily="34" charset="-120"/>
              </a:rPr>
              <a:t>Vue d'ensemble</a:t>
            </a:r>
            <a:endParaRPr lang="en-US" sz="1800" dirty="0"/>
          </a:p>
        </p:txBody>
      </p:sp>
      <p:sp>
        <p:nvSpPr>
          <p:cNvPr id="6" name="Text 4"/>
          <p:cNvSpPr/>
          <p:nvPr/>
        </p:nvSpPr>
        <p:spPr>
          <a:xfrm>
            <a:off x="1041400" y="2478931"/>
            <a:ext cx="4892294" cy="256530"/>
          </a:xfrm>
          <a:prstGeom prst="rect">
            <a:avLst/>
          </a:prstGeom>
          <a:noFill/>
          <a:ln/>
        </p:spPr>
        <p:txBody>
          <a:bodyPr wrap="square" lIns="0" tIns="0" rIns="0" bIns="0" rtlCol="0" anchor="t">
            <a:normAutofit/>
          </a:bodyPr>
          <a:lstStyle/>
          <a:p>
            <a:pPr marL="0" indent="0" algn="l">
              <a:lnSpc>
                <a:spcPts val="1820"/>
              </a:lnSpc>
              <a:buNone/>
            </a:pPr>
            <a:r>
              <a:rPr lang="en-US" sz="1300" i="1" dirty="0">
                <a:solidFill>
                  <a:srgbClr val="7DBE9A"/>
                </a:solidFill>
                <a:latin typeface="IBM Plex Sans" pitchFamily="34" charset="0"/>
                <a:ea typeface="IBM Plex Sans" pitchFamily="34" charset="-122"/>
                <a:cs typeface="IBM Plex Sans" pitchFamily="34" charset="-120"/>
              </a:rPr>
              <a:t>Répond à la problématique</a:t>
            </a:r>
            <a:endParaRPr lang="en-US" sz="1300" dirty="0"/>
          </a:p>
        </p:txBody>
      </p:sp>
      <p:sp>
        <p:nvSpPr>
          <p:cNvPr id="7" name="Text 5"/>
          <p:cNvSpPr/>
          <p:nvPr/>
        </p:nvSpPr>
        <p:spPr>
          <a:xfrm>
            <a:off x="1041400" y="2786261"/>
            <a:ext cx="489229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3EEEA"/>
                </a:solidFill>
                <a:latin typeface="IBM Plex Sans" pitchFamily="34" charset="0"/>
                <a:ea typeface="IBM Plex Sans" pitchFamily="34" charset="-122"/>
                <a:cs typeface="IBM Plex Sans" pitchFamily="34" charset="-120"/>
              </a:rPr>
              <a:t>KPI avec évolution N-1, marge réelle vs standard, rotation vs marge, constats clés</a:t>
            </a:r>
            <a:endParaRPr lang="en-US" sz="1200" dirty="0"/>
          </a:p>
        </p:txBody>
      </p:sp>
      <p:sp>
        <p:nvSpPr>
          <p:cNvPr id="8" name="Shape 6"/>
          <p:cNvSpPr/>
          <p:nvPr/>
        </p:nvSpPr>
        <p:spPr>
          <a:xfrm>
            <a:off x="6175375" y="1903016"/>
            <a:ext cx="5200650" cy="1548011"/>
          </a:xfrm>
          <a:prstGeom prst="roundRect">
            <a:avLst>
              <a:gd name="adj" fmla="val 6358"/>
            </a:avLst>
          </a:prstGeom>
          <a:solidFill>
            <a:srgbClr val="FBFCFB"/>
          </a:solidFill>
          <a:ln w="6350">
            <a:solidFill>
              <a:srgbClr val="DCE3E0"/>
            </a:solidFill>
            <a:prstDash val="solid"/>
          </a:ln>
        </p:spPr>
        <p:txBody>
          <a:bodyPr/>
          <a:lstStyle/>
          <a:p>
            <a:endParaRPr lang="fr-FR"/>
          </a:p>
        </p:txBody>
      </p:sp>
      <p:sp>
        <p:nvSpPr>
          <p:cNvPr id="9" name="Text 7"/>
          <p:cNvSpPr/>
          <p:nvPr/>
        </p:nvSpPr>
        <p:spPr>
          <a:xfrm>
            <a:off x="6407150" y="2134791"/>
            <a:ext cx="487921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A2E"/>
                </a:solidFill>
                <a:latin typeface="Rubik" pitchFamily="34" charset="0"/>
                <a:ea typeface="Rubik" pitchFamily="34" charset="-122"/>
                <a:cs typeface="Rubik" pitchFamily="34" charset="-120"/>
              </a:rPr>
              <a:t>Achat</a:t>
            </a:r>
            <a:endParaRPr lang="en-US" sz="1800" dirty="0"/>
          </a:p>
        </p:txBody>
      </p:sp>
      <p:sp>
        <p:nvSpPr>
          <p:cNvPr id="10" name="Text 8"/>
          <p:cNvSpPr/>
          <p:nvPr/>
        </p:nvSpPr>
        <p:spPr>
          <a:xfrm>
            <a:off x="6407150" y="2485281"/>
            <a:ext cx="4879213" cy="256530"/>
          </a:xfrm>
          <a:prstGeom prst="rect">
            <a:avLst/>
          </a:prstGeom>
          <a:noFill/>
          <a:ln/>
        </p:spPr>
        <p:txBody>
          <a:bodyPr wrap="square" lIns="0" tIns="0" rIns="0" bIns="0" rtlCol="0" anchor="t">
            <a:normAutofit/>
          </a:bodyPr>
          <a:lstStyle/>
          <a:p>
            <a:pPr marL="0" indent="0" algn="l">
              <a:lnSpc>
                <a:spcPts val="1820"/>
              </a:lnSpc>
              <a:buNone/>
            </a:pPr>
            <a:r>
              <a:rPr lang="en-US" sz="1300" i="1" dirty="0">
                <a:solidFill>
                  <a:srgbClr val="2F5D6E"/>
                </a:solidFill>
                <a:latin typeface="IBM Plex Sans" pitchFamily="34" charset="0"/>
                <a:ea typeface="IBM Plex Sans" pitchFamily="34" charset="-122"/>
                <a:cs typeface="IBM Plex Sans" pitchFamily="34" charset="-120"/>
              </a:rPr>
              <a:t>Quels fournisseurs performent ?</a:t>
            </a:r>
            <a:endParaRPr lang="en-US" sz="1300" dirty="0"/>
          </a:p>
        </p:txBody>
      </p:sp>
      <p:sp>
        <p:nvSpPr>
          <p:cNvPr id="11" name="Text 9"/>
          <p:cNvSpPr/>
          <p:nvPr/>
        </p:nvSpPr>
        <p:spPr>
          <a:xfrm>
            <a:off x="6407150" y="2792611"/>
            <a:ext cx="4879213" cy="452041"/>
          </a:xfrm>
          <a:prstGeom prst="rect">
            <a:avLst/>
          </a:prstGeom>
          <a:noFill/>
          <a:ln/>
        </p:spPr>
        <p:txBody>
          <a:bodyPr wrap="square" lIns="0" tIns="0" rIns="0" bIns="0" rtlCol="0" anchor="t">
            <a:normAutofit/>
          </a:bodyPr>
          <a:lstStyle/>
          <a:p>
            <a:r>
              <a:rPr lang="fr-FR" sz="1200" dirty="0"/>
              <a:t>Top 10 fournisseurs, segmentation des 104 fournisseurs, montant d’achat vs taux de rejet, évolution mensuelle des achats</a:t>
            </a:r>
            <a:endParaRPr lang="en-US" sz="1200" dirty="0"/>
          </a:p>
        </p:txBody>
      </p:sp>
      <p:sp>
        <p:nvSpPr>
          <p:cNvPr id="12" name="Shape 10"/>
          <p:cNvSpPr/>
          <p:nvPr/>
        </p:nvSpPr>
        <p:spPr>
          <a:xfrm>
            <a:off x="815975" y="3609777"/>
            <a:ext cx="5200650" cy="1548011"/>
          </a:xfrm>
          <a:prstGeom prst="roundRect">
            <a:avLst>
              <a:gd name="adj" fmla="val 6358"/>
            </a:avLst>
          </a:prstGeom>
          <a:solidFill>
            <a:srgbClr val="FBFCFB"/>
          </a:solidFill>
          <a:ln w="6350">
            <a:solidFill>
              <a:srgbClr val="DCE3E0"/>
            </a:solidFill>
            <a:prstDash val="solid"/>
          </a:ln>
        </p:spPr>
        <p:txBody>
          <a:bodyPr/>
          <a:lstStyle/>
          <a:p>
            <a:endParaRPr lang="fr-FR"/>
          </a:p>
        </p:txBody>
      </p:sp>
      <p:sp>
        <p:nvSpPr>
          <p:cNvPr id="13" name="Text 11"/>
          <p:cNvSpPr/>
          <p:nvPr/>
        </p:nvSpPr>
        <p:spPr>
          <a:xfrm>
            <a:off x="1047750" y="3841552"/>
            <a:ext cx="487921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A2E"/>
                </a:solidFill>
                <a:latin typeface="Rubik" pitchFamily="34" charset="0"/>
                <a:ea typeface="Rubik" pitchFamily="34" charset="-122"/>
                <a:cs typeface="Rubik" pitchFamily="34" charset="-120"/>
              </a:rPr>
              <a:t>Produit</a:t>
            </a:r>
            <a:endParaRPr lang="en-US" sz="1800" dirty="0"/>
          </a:p>
        </p:txBody>
      </p:sp>
      <p:sp>
        <p:nvSpPr>
          <p:cNvPr id="14" name="Text 12"/>
          <p:cNvSpPr/>
          <p:nvPr/>
        </p:nvSpPr>
        <p:spPr>
          <a:xfrm>
            <a:off x="1047750" y="4192042"/>
            <a:ext cx="4879213" cy="256530"/>
          </a:xfrm>
          <a:prstGeom prst="rect">
            <a:avLst/>
          </a:prstGeom>
          <a:noFill/>
          <a:ln/>
        </p:spPr>
        <p:txBody>
          <a:bodyPr wrap="square" lIns="0" tIns="0" rIns="0" bIns="0" rtlCol="0" anchor="t">
            <a:normAutofit/>
          </a:bodyPr>
          <a:lstStyle/>
          <a:p>
            <a:pPr marL="0" indent="0" algn="l">
              <a:lnSpc>
                <a:spcPts val="1820"/>
              </a:lnSpc>
              <a:buNone/>
            </a:pPr>
            <a:r>
              <a:rPr lang="en-US" sz="1300" i="1" dirty="0">
                <a:solidFill>
                  <a:srgbClr val="2F5D6E"/>
                </a:solidFill>
                <a:latin typeface="IBM Plex Sans" pitchFamily="34" charset="0"/>
                <a:ea typeface="IBM Plex Sans" pitchFamily="34" charset="-122"/>
                <a:cs typeface="IBM Plex Sans" pitchFamily="34" charset="-120"/>
              </a:rPr>
              <a:t>Le stock est-il sain ?</a:t>
            </a:r>
            <a:endParaRPr lang="en-US" sz="1300" dirty="0"/>
          </a:p>
        </p:txBody>
      </p:sp>
      <p:sp>
        <p:nvSpPr>
          <p:cNvPr id="15" name="Text 13"/>
          <p:cNvSpPr/>
          <p:nvPr/>
        </p:nvSpPr>
        <p:spPr>
          <a:xfrm>
            <a:off x="1047750" y="4499372"/>
            <a:ext cx="487921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Valeur du stock, couverture par sous-catégorie, produits sous seuil, écart prix d'achat vs coût standard</a:t>
            </a:r>
            <a:endParaRPr lang="en-US" sz="1200" dirty="0"/>
          </a:p>
        </p:txBody>
      </p:sp>
      <p:sp>
        <p:nvSpPr>
          <p:cNvPr id="16" name="Shape 14"/>
          <p:cNvSpPr/>
          <p:nvPr/>
        </p:nvSpPr>
        <p:spPr>
          <a:xfrm>
            <a:off x="6175375" y="3609777"/>
            <a:ext cx="5200650" cy="1548011"/>
          </a:xfrm>
          <a:prstGeom prst="roundRect">
            <a:avLst>
              <a:gd name="adj" fmla="val 6358"/>
            </a:avLst>
          </a:prstGeom>
          <a:solidFill>
            <a:srgbClr val="FBFCFB"/>
          </a:solidFill>
          <a:ln w="6350">
            <a:solidFill>
              <a:srgbClr val="DCE3E0"/>
            </a:solidFill>
            <a:prstDash val="solid"/>
          </a:ln>
        </p:spPr>
        <p:txBody>
          <a:bodyPr/>
          <a:lstStyle/>
          <a:p>
            <a:endParaRPr lang="fr-FR"/>
          </a:p>
        </p:txBody>
      </p:sp>
      <p:sp>
        <p:nvSpPr>
          <p:cNvPr id="17" name="Text 15"/>
          <p:cNvSpPr/>
          <p:nvPr/>
        </p:nvSpPr>
        <p:spPr>
          <a:xfrm>
            <a:off x="6407150" y="3841552"/>
            <a:ext cx="487921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A2E"/>
                </a:solidFill>
                <a:latin typeface="Rubik" pitchFamily="34" charset="0"/>
                <a:ea typeface="Rubik" pitchFamily="34" charset="-122"/>
                <a:cs typeface="Rubik" pitchFamily="34" charset="-120"/>
              </a:rPr>
              <a:t>Vente</a:t>
            </a:r>
            <a:endParaRPr lang="en-US" sz="1800" dirty="0"/>
          </a:p>
        </p:txBody>
      </p:sp>
      <p:sp>
        <p:nvSpPr>
          <p:cNvPr id="18" name="Text 16"/>
          <p:cNvSpPr/>
          <p:nvPr/>
        </p:nvSpPr>
        <p:spPr>
          <a:xfrm>
            <a:off x="6407150" y="4192042"/>
            <a:ext cx="4879213" cy="256530"/>
          </a:xfrm>
          <a:prstGeom prst="rect">
            <a:avLst/>
          </a:prstGeom>
          <a:noFill/>
          <a:ln/>
        </p:spPr>
        <p:txBody>
          <a:bodyPr wrap="square" lIns="0" tIns="0" rIns="0" bIns="0" rtlCol="0" anchor="t">
            <a:normAutofit/>
          </a:bodyPr>
          <a:lstStyle/>
          <a:p>
            <a:pPr marL="0" indent="0" algn="l">
              <a:lnSpc>
                <a:spcPts val="1820"/>
              </a:lnSpc>
              <a:buNone/>
            </a:pPr>
            <a:r>
              <a:rPr lang="en-US" sz="1300" i="1" dirty="0">
                <a:solidFill>
                  <a:srgbClr val="2F5D6E"/>
                </a:solidFill>
                <a:latin typeface="IBM Plex Sans" pitchFamily="34" charset="0"/>
                <a:ea typeface="IBM Plex Sans" pitchFamily="34" charset="-122"/>
                <a:cs typeface="IBM Plex Sans" pitchFamily="34" charset="-120"/>
              </a:rPr>
              <a:t>D'où vient la marge ?</a:t>
            </a:r>
            <a:endParaRPr lang="en-US" sz="1300" dirty="0"/>
          </a:p>
        </p:txBody>
      </p:sp>
      <p:sp>
        <p:nvSpPr>
          <p:cNvPr id="19" name="Text 17"/>
          <p:cNvSpPr/>
          <p:nvPr/>
        </p:nvSpPr>
        <p:spPr>
          <a:xfrm>
            <a:off x="6407150" y="4499372"/>
            <a:ext cx="487921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CA par pays, top produits, canal en ligne vs hors ligne (infobulle), marge par sous-catégorie</a:t>
            </a:r>
            <a:endParaRPr lang="en-US" sz="1200" dirty="0"/>
          </a:p>
        </p:txBody>
      </p:sp>
      <p:sp>
        <p:nvSpPr>
          <p:cNvPr id="20" name="Text 1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3"/>
                </a:solidFill>
                <a:latin typeface="IBM Plex Sans" pitchFamily="34" charset="0"/>
                <a:ea typeface="IBM Plex Sans" pitchFamily="34" charset="-122"/>
                <a:cs typeface="IBM Plex Sans" pitchFamily="34" charset="-120"/>
              </a:rPr>
              <a:t>AdventureWorks · Résultats · Démonstration live</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B73"/>
                </a:solidFill>
                <a:latin typeface="IBM Plex Sans" pitchFamily="34" charset="0"/>
                <a:ea typeface="IBM Plex Sans" pitchFamily="34" charset="-122"/>
                <a:cs typeface="IBM Plex Sans" pitchFamily="34" charset="-120"/>
              </a:rPr>
              <a:t>09</a:t>
            </a:r>
            <a:endParaRPr lang="en-US" sz="1200" dirty="0"/>
          </a:p>
        </p:txBody>
      </p:sp>
    </p:spTree>
    <p:extLst>
      <p:ext uri="{BB962C8B-B14F-4D97-AF65-F5344CB8AC3E}">
        <p14:creationId xmlns:p14="http://schemas.microsoft.com/office/powerpoint/2010/main" val="4111497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D6E"/>
                </a:solidFill>
                <a:latin typeface="IBM Plex Sans" pitchFamily="34" charset="0"/>
                <a:ea typeface="IBM Plex Sans" pitchFamily="34" charset="-122"/>
                <a:cs typeface="IBM Plex Sans" pitchFamily="34" charset="-120"/>
              </a:rPr>
              <a:t>AXE 1 · ACHAT</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2A2E"/>
                </a:solidFill>
                <a:latin typeface="Rubik" pitchFamily="34" charset="0"/>
                <a:ea typeface="Rubik" pitchFamily="34" charset="-122"/>
                <a:cs typeface="Rubik" pitchFamily="34" charset="-120"/>
              </a:rPr>
              <a:t>Des délais stables, une qualité inégale</a:t>
            </a:r>
            <a:endParaRPr lang="en-US" sz="3200" dirty="0"/>
          </a:p>
        </p:txBody>
      </p:sp>
      <p:sp>
        <p:nvSpPr>
          <p:cNvPr id="4" name="Shape 2"/>
          <p:cNvSpPr/>
          <p:nvPr/>
        </p:nvSpPr>
        <p:spPr>
          <a:xfrm>
            <a:off x="815975" y="1903016"/>
            <a:ext cx="2520950" cy="1245791"/>
          </a:xfrm>
          <a:prstGeom prst="roundRect">
            <a:avLst>
              <a:gd name="adj" fmla="val 7901"/>
            </a:avLst>
          </a:prstGeom>
          <a:solidFill>
            <a:srgbClr val="FBFCFB"/>
          </a:solidFill>
          <a:ln w="6350">
            <a:solidFill>
              <a:srgbClr val="DCE3E0"/>
            </a:solidFill>
            <a:prstDash val="solid"/>
          </a:ln>
        </p:spPr>
        <p:txBody>
          <a:bodyPr/>
          <a:lstStyle/>
          <a:p>
            <a:endParaRPr lang="fr-FR"/>
          </a:p>
        </p:txBody>
      </p:sp>
      <p:sp>
        <p:nvSpPr>
          <p:cNvPr id="5" name="Text 3"/>
          <p:cNvSpPr/>
          <p:nvPr/>
        </p:nvSpPr>
        <p:spPr>
          <a:xfrm>
            <a:off x="1022350" y="2109391"/>
            <a:ext cx="2171446"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5D6E"/>
                </a:solidFill>
                <a:latin typeface="Rubik" pitchFamily="34" charset="0"/>
                <a:ea typeface="Rubik" pitchFamily="34" charset="-122"/>
                <a:cs typeface="Rubik" pitchFamily="34" charset="-120"/>
              </a:rPr>
              <a:t>63,8 M€</a:t>
            </a:r>
            <a:endParaRPr lang="en-US" sz="3200" dirty="0"/>
          </a:p>
        </p:txBody>
      </p:sp>
      <p:sp>
        <p:nvSpPr>
          <p:cNvPr id="6" name="Text 4"/>
          <p:cNvSpPr/>
          <p:nvPr/>
        </p:nvSpPr>
        <p:spPr>
          <a:xfrm>
            <a:off x="1022350" y="2729111"/>
            <a:ext cx="21714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montant des achats</a:t>
            </a:r>
            <a:endParaRPr lang="en-US" sz="1200" dirty="0"/>
          </a:p>
        </p:txBody>
      </p:sp>
      <p:sp>
        <p:nvSpPr>
          <p:cNvPr id="7" name="Shape 5"/>
          <p:cNvSpPr/>
          <p:nvPr/>
        </p:nvSpPr>
        <p:spPr>
          <a:xfrm>
            <a:off x="3495675" y="1903016"/>
            <a:ext cx="2520950" cy="1245791"/>
          </a:xfrm>
          <a:prstGeom prst="roundRect">
            <a:avLst>
              <a:gd name="adj" fmla="val 7901"/>
            </a:avLst>
          </a:prstGeom>
          <a:solidFill>
            <a:srgbClr val="FBFCFB"/>
          </a:solidFill>
          <a:ln w="6350">
            <a:solidFill>
              <a:srgbClr val="DCE3E0"/>
            </a:solidFill>
            <a:prstDash val="solid"/>
          </a:ln>
        </p:spPr>
        <p:txBody>
          <a:bodyPr/>
          <a:lstStyle/>
          <a:p>
            <a:endParaRPr lang="fr-FR"/>
          </a:p>
        </p:txBody>
      </p:sp>
      <p:sp>
        <p:nvSpPr>
          <p:cNvPr id="8" name="Text 6"/>
          <p:cNvSpPr/>
          <p:nvPr/>
        </p:nvSpPr>
        <p:spPr>
          <a:xfrm>
            <a:off x="3702050" y="2109391"/>
            <a:ext cx="2171446"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5D6E"/>
                </a:solidFill>
                <a:latin typeface="Rubik" pitchFamily="34" charset="0"/>
                <a:ea typeface="Rubik" pitchFamily="34" charset="-122"/>
                <a:cs typeface="Rubik" pitchFamily="34" charset="-120"/>
              </a:rPr>
              <a:t>86</a:t>
            </a:r>
            <a:endParaRPr lang="en-US" sz="3200" dirty="0"/>
          </a:p>
        </p:txBody>
      </p:sp>
      <p:sp>
        <p:nvSpPr>
          <p:cNvPr id="9" name="Text 7"/>
          <p:cNvSpPr/>
          <p:nvPr/>
        </p:nvSpPr>
        <p:spPr>
          <a:xfrm>
            <a:off x="3702050" y="2729111"/>
            <a:ext cx="21714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fournisseurs actifs sur 104</a:t>
            </a:r>
            <a:endParaRPr lang="en-US" sz="1200" dirty="0"/>
          </a:p>
        </p:txBody>
      </p:sp>
      <p:sp>
        <p:nvSpPr>
          <p:cNvPr id="10" name="Shape 8"/>
          <p:cNvSpPr/>
          <p:nvPr/>
        </p:nvSpPr>
        <p:spPr>
          <a:xfrm>
            <a:off x="6175375" y="1903016"/>
            <a:ext cx="2520950" cy="1245791"/>
          </a:xfrm>
          <a:prstGeom prst="roundRect">
            <a:avLst>
              <a:gd name="adj" fmla="val 7901"/>
            </a:avLst>
          </a:prstGeom>
          <a:solidFill>
            <a:srgbClr val="FBFCFB"/>
          </a:solidFill>
          <a:ln w="6350">
            <a:solidFill>
              <a:srgbClr val="DCE3E0"/>
            </a:solidFill>
            <a:prstDash val="solid"/>
          </a:ln>
        </p:spPr>
        <p:txBody>
          <a:bodyPr/>
          <a:lstStyle/>
          <a:p>
            <a:endParaRPr lang="fr-FR"/>
          </a:p>
        </p:txBody>
      </p:sp>
      <p:sp>
        <p:nvSpPr>
          <p:cNvPr id="11" name="Text 9"/>
          <p:cNvSpPr/>
          <p:nvPr/>
        </p:nvSpPr>
        <p:spPr>
          <a:xfrm>
            <a:off x="6381750" y="2109391"/>
            <a:ext cx="2171446"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5D6E"/>
                </a:solidFill>
                <a:latin typeface="Rubik" pitchFamily="34" charset="0"/>
                <a:ea typeface="Rubik" pitchFamily="34" charset="-122"/>
                <a:cs typeface="Rubik" pitchFamily="34" charset="-120"/>
              </a:rPr>
              <a:t>9,1 j</a:t>
            </a:r>
            <a:endParaRPr lang="en-US" sz="3200" dirty="0"/>
          </a:p>
        </p:txBody>
      </p:sp>
      <p:sp>
        <p:nvSpPr>
          <p:cNvPr id="12" name="Text 10"/>
          <p:cNvSpPr/>
          <p:nvPr/>
        </p:nvSpPr>
        <p:spPr>
          <a:xfrm>
            <a:off x="6381750" y="2729111"/>
            <a:ext cx="21714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délai fournisseur moyen</a:t>
            </a:r>
            <a:endParaRPr lang="en-US" sz="1200" dirty="0"/>
          </a:p>
        </p:txBody>
      </p:sp>
      <p:sp>
        <p:nvSpPr>
          <p:cNvPr id="13" name="Shape 11"/>
          <p:cNvSpPr/>
          <p:nvPr/>
        </p:nvSpPr>
        <p:spPr>
          <a:xfrm>
            <a:off x="8855075" y="1903016"/>
            <a:ext cx="2520950" cy="1245791"/>
          </a:xfrm>
          <a:prstGeom prst="roundRect">
            <a:avLst>
              <a:gd name="adj" fmla="val 7901"/>
            </a:avLst>
          </a:prstGeom>
          <a:solidFill>
            <a:srgbClr val="FBFCFB"/>
          </a:solidFill>
          <a:ln w="6350">
            <a:solidFill>
              <a:srgbClr val="DCE3E0"/>
            </a:solidFill>
            <a:prstDash val="solid"/>
          </a:ln>
        </p:spPr>
        <p:txBody>
          <a:bodyPr/>
          <a:lstStyle/>
          <a:p>
            <a:endParaRPr lang="fr-FR"/>
          </a:p>
        </p:txBody>
      </p:sp>
      <p:sp>
        <p:nvSpPr>
          <p:cNvPr id="14" name="Text 12"/>
          <p:cNvSpPr/>
          <p:nvPr/>
        </p:nvSpPr>
        <p:spPr>
          <a:xfrm>
            <a:off x="9061450" y="2109391"/>
            <a:ext cx="2171446"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5D6E"/>
                </a:solidFill>
                <a:latin typeface="Rubik" pitchFamily="34" charset="0"/>
                <a:ea typeface="Rubik" pitchFamily="34" charset="-122"/>
                <a:cs typeface="Rubik" pitchFamily="34" charset="-120"/>
              </a:rPr>
              <a:t>3,1 %</a:t>
            </a:r>
            <a:endParaRPr lang="en-US" sz="3200" dirty="0"/>
          </a:p>
        </p:txBody>
      </p:sp>
      <p:sp>
        <p:nvSpPr>
          <p:cNvPr id="15" name="Text 13"/>
          <p:cNvSpPr/>
          <p:nvPr/>
        </p:nvSpPr>
        <p:spPr>
          <a:xfrm>
            <a:off x="9061450" y="2729111"/>
            <a:ext cx="21714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taux de rejet moyen</a:t>
            </a:r>
            <a:endParaRPr lang="en-US" sz="1200" dirty="0"/>
          </a:p>
        </p:txBody>
      </p:sp>
      <p:sp>
        <p:nvSpPr>
          <p:cNvPr id="16" name="Shape 14"/>
          <p:cNvSpPr/>
          <p:nvPr/>
        </p:nvSpPr>
        <p:spPr>
          <a:xfrm>
            <a:off x="831850" y="3456781"/>
            <a:ext cx="0" cy="1097161"/>
          </a:xfrm>
          <a:prstGeom prst="line">
            <a:avLst/>
          </a:prstGeom>
          <a:noFill/>
          <a:ln w="38100">
            <a:solidFill>
              <a:srgbClr val="2F5D6E"/>
            </a:solidFill>
            <a:prstDash val="solid"/>
          </a:ln>
        </p:spPr>
        <p:txBody>
          <a:bodyPr/>
          <a:lstStyle/>
          <a:p>
            <a:endParaRPr lang="fr-FR"/>
          </a:p>
        </p:txBody>
      </p:sp>
      <p:sp>
        <p:nvSpPr>
          <p:cNvPr id="17" name="Text 15"/>
          <p:cNvSpPr/>
          <p:nvPr/>
        </p:nvSpPr>
        <p:spPr>
          <a:xfrm>
            <a:off x="1028700" y="3456781"/>
            <a:ext cx="3300755"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A2E"/>
                </a:solidFill>
                <a:latin typeface="Rubik" pitchFamily="34" charset="0"/>
                <a:ea typeface="Rubik" pitchFamily="34" charset="-122"/>
                <a:cs typeface="Rubik" pitchFamily="34" charset="-120"/>
              </a:rPr>
              <a:t>Concentration</a:t>
            </a:r>
            <a:endParaRPr lang="en-US" sz="1800" dirty="0"/>
          </a:p>
        </p:txBody>
      </p:sp>
      <p:sp>
        <p:nvSpPr>
          <p:cNvPr id="18" name="Text 16"/>
          <p:cNvSpPr/>
          <p:nvPr/>
        </p:nvSpPr>
        <p:spPr>
          <a:xfrm>
            <a:off x="1028700" y="3807271"/>
            <a:ext cx="3300755"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1"/>
                </a:solidFill>
                <a:latin typeface="IBM Plex Sans" pitchFamily="34" charset="0"/>
                <a:ea typeface="IBM Plex Sans" pitchFamily="34" charset="-122"/>
                <a:cs typeface="IBM Plex Sans" pitchFamily="34" charset="-120"/>
              </a:rPr>
              <a:t>Les 10 premiers fournisseurs </a:t>
            </a:r>
            <a:r>
              <a:rPr lang="en-US" sz="1400" dirty="0" err="1">
                <a:solidFill>
                  <a:srgbClr val="4A5A61"/>
                </a:solidFill>
                <a:latin typeface="IBM Plex Sans" pitchFamily="34" charset="0"/>
                <a:ea typeface="IBM Plex Sans" pitchFamily="34" charset="-122"/>
                <a:cs typeface="IBM Plex Sans" pitchFamily="34" charset="-120"/>
              </a:rPr>
              <a:t>pèsent</a:t>
            </a:r>
            <a:r>
              <a:rPr lang="en-US" sz="1400" dirty="0">
                <a:solidFill>
                  <a:srgbClr val="4A5A61"/>
                </a:solidFill>
                <a:latin typeface="IBM Plex Sans" pitchFamily="34" charset="0"/>
                <a:ea typeface="IBM Plex Sans" pitchFamily="34" charset="-122"/>
                <a:cs typeface="IBM Plex Sans" pitchFamily="34" charset="-120"/>
              </a:rPr>
              <a:t> </a:t>
            </a:r>
          </a:p>
          <a:p>
            <a:pPr marL="0" indent="0" algn="l">
              <a:lnSpc>
                <a:spcPts val="1960"/>
              </a:lnSpc>
              <a:buNone/>
            </a:pPr>
            <a:r>
              <a:rPr lang="en-US" sz="1400" dirty="0">
                <a:solidFill>
                  <a:srgbClr val="4A5A61"/>
                </a:solidFill>
                <a:latin typeface="IBM Plex Sans" pitchFamily="34" charset="0"/>
                <a:ea typeface="IBM Plex Sans" pitchFamily="34" charset="-122"/>
                <a:cs typeface="IBM Plex Sans" pitchFamily="34" charset="-120"/>
              </a:rPr>
              <a:t>43 % des achats (27,2 M€), tous du segment « Gros volumes ».</a:t>
            </a:r>
            <a:endParaRPr lang="en-US" sz="1400" dirty="0"/>
          </a:p>
        </p:txBody>
      </p:sp>
      <p:sp>
        <p:nvSpPr>
          <p:cNvPr id="19" name="Shape 17"/>
          <p:cNvSpPr/>
          <p:nvPr/>
        </p:nvSpPr>
        <p:spPr>
          <a:xfrm>
            <a:off x="4404767" y="3456781"/>
            <a:ext cx="0" cy="1097161"/>
          </a:xfrm>
          <a:prstGeom prst="line">
            <a:avLst/>
          </a:prstGeom>
          <a:noFill/>
          <a:ln w="38100">
            <a:solidFill>
              <a:srgbClr val="C0504D"/>
            </a:solidFill>
            <a:prstDash val="solid"/>
          </a:ln>
        </p:spPr>
        <p:txBody>
          <a:bodyPr/>
          <a:lstStyle/>
          <a:p>
            <a:endParaRPr lang="fr-FR"/>
          </a:p>
        </p:txBody>
      </p:sp>
      <p:sp>
        <p:nvSpPr>
          <p:cNvPr id="20" name="Text 18"/>
          <p:cNvSpPr/>
          <p:nvPr/>
        </p:nvSpPr>
        <p:spPr>
          <a:xfrm>
            <a:off x="4601617" y="3456781"/>
            <a:ext cx="330080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A2E"/>
                </a:solidFill>
                <a:latin typeface="Rubik" pitchFamily="34" charset="0"/>
                <a:ea typeface="Rubik" pitchFamily="34" charset="-122"/>
                <a:cs typeface="Rubik" pitchFamily="34" charset="-120"/>
              </a:rPr>
              <a:t>Risque qualité</a:t>
            </a:r>
            <a:endParaRPr lang="en-US" sz="1800" dirty="0"/>
          </a:p>
        </p:txBody>
      </p:sp>
      <p:sp>
        <p:nvSpPr>
          <p:cNvPr id="21" name="Text 19"/>
          <p:cNvSpPr/>
          <p:nvPr/>
        </p:nvSpPr>
        <p:spPr>
          <a:xfrm>
            <a:off x="4601617" y="3807271"/>
            <a:ext cx="3300806"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1"/>
                </a:solidFill>
                <a:latin typeface="IBM Plex Sans" pitchFamily="34" charset="0"/>
                <a:ea typeface="IBM Plex Sans" pitchFamily="34" charset="-122"/>
                <a:cs typeface="IBM Plex Sans" pitchFamily="34" charset="-120"/>
              </a:rPr>
              <a:t>« Gros volumes » : 3,4 % de rejet, le segment le plus élevé. Le 1er fournisseur rejette 5,2 %.</a:t>
            </a:r>
            <a:endParaRPr lang="en-US" sz="1400" dirty="0"/>
          </a:p>
        </p:txBody>
      </p:sp>
      <p:sp>
        <p:nvSpPr>
          <p:cNvPr id="22" name="Shape 20"/>
          <p:cNvSpPr/>
          <p:nvPr/>
        </p:nvSpPr>
        <p:spPr>
          <a:xfrm>
            <a:off x="7977733" y="3456781"/>
            <a:ext cx="0" cy="1097161"/>
          </a:xfrm>
          <a:prstGeom prst="line">
            <a:avLst/>
          </a:prstGeom>
          <a:noFill/>
          <a:ln w="38100">
            <a:solidFill>
              <a:srgbClr val="7DBE9A"/>
            </a:solidFill>
            <a:prstDash val="solid"/>
          </a:ln>
        </p:spPr>
        <p:txBody>
          <a:bodyPr/>
          <a:lstStyle/>
          <a:p>
            <a:endParaRPr lang="fr-FR"/>
          </a:p>
        </p:txBody>
      </p:sp>
      <p:sp>
        <p:nvSpPr>
          <p:cNvPr id="23" name="Text 21"/>
          <p:cNvSpPr/>
          <p:nvPr/>
        </p:nvSpPr>
        <p:spPr>
          <a:xfrm>
            <a:off x="8174583" y="3456781"/>
            <a:ext cx="3300755"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A2E"/>
                </a:solidFill>
                <a:latin typeface="Rubik" pitchFamily="34" charset="0"/>
                <a:ea typeface="Rubik" pitchFamily="34" charset="-122"/>
                <a:cs typeface="Rubik" pitchFamily="34" charset="-120"/>
              </a:rPr>
              <a:t>Délais</a:t>
            </a:r>
            <a:endParaRPr lang="en-US" sz="1800" dirty="0"/>
          </a:p>
        </p:txBody>
      </p:sp>
      <p:sp>
        <p:nvSpPr>
          <p:cNvPr id="24" name="Text 22"/>
          <p:cNvSpPr/>
          <p:nvPr/>
        </p:nvSpPr>
        <p:spPr>
          <a:xfrm>
            <a:off x="8174583" y="3807271"/>
            <a:ext cx="3300755" cy="772071"/>
          </a:xfrm>
          <a:prstGeom prst="rect">
            <a:avLst/>
          </a:prstGeom>
          <a:noFill/>
          <a:ln/>
        </p:spPr>
        <p:txBody>
          <a:bodyPr wrap="square" lIns="0" tIns="0" rIns="0" bIns="0" rtlCol="0" anchor="t">
            <a:normAutofit/>
          </a:bodyPr>
          <a:lstStyle/>
          <a:p>
            <a:r>
              <a:rPr lang="en-US" sz="1400" dirty="0">
                <a:solidFill>
                  <a:srgbClr val="4A5A61"/>
                </a:solidFill>
                <a:latin typeface="IBM Plex Sans" pitchFamily="34" charset="0"/>
                <a:ea typeface="IBM Plex Sans" pitchFamily="34" charset="-122"/>
                <a:cs typeface="IBM Plex Sans" pitchFamily="34" charset="-120"/>
              </a:rPr>
              <a:t>9 jours pour presque tous, 25 jours pour les vêtements. Retards quasi </a:t>
            </a:r>
            <a:r>
              <a:rPr lang="en-US" sz="1400" dirty="0" err="1">
                <a:solidFill>
                  <a:srgbClr val="4A5A61"/>
                </a:solidFill>
                <a:latin typeface="IBM Plex Sans" pitchFamily="34" charset="0"/>
                <a:ea typeface="IBM Plex Sans" pitchFamily="34" charset="-122"/>
                <a:cs typeface="IBM Plex Sans" pitchFamily="34" charset="-120"/>
              </a:rPr>
              <a:t>inexistants</a:t>
            </a:r>
            <a:r>
              <a:rPr lang="en-US" sz="1400" dirty="0">
                <a:solidFill>
                  <a:srgbClr val="4A5A61"/>
                </a:solidFill>
                <a:latin typeface="IBM Plex Sans" pitchFamily="34" charset="0"/>
                <a:ea typeface="IBM Plex Sans" pitchFamily="34" charset="-122"/>
                <a:cs typeface="IBM Plex Sans" pitchFamily="34" charset="-120"/>
              </a:rPr>
              <a:t>, </a:t>
            </a:r>
            <a:r>
              <a:rPr lang="fr-FR" sz="1400" dirty="0">
                <a:solidFill>
                  <a:srgbClr val="4A5A61"/>
                </a:solidFill>
                <a:latin typeface="IBM Plex Sans" pitchFamily="34" charset="0"/>
              </a:rPr>
              <a:t>délais très réguliers.</a:t>
            </a:r>
            <a:r>
              <a:rPr lang="en-US" sz="1400" dirty="0">
                <a:solidFill>
                  <a:srgbClr val="4A5A61"/>
                </a:solidFill>
                <a:latin typeface="IBM Plex Sans" pitchFamily="34" charset="0"/>
              </a:rPr>
              <a:t>.</a:t>
            </a:r>
          </a:p>
        </p:txBody>
      </p:sp>
      <p:sp>
        <p:nvSpPr>
          <p:cNvPr id="25" name="Text 2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3"/>
                </a:solidFill>
                <a:latin typeface="IBM Plex Sans" pitchFamily="34" charset="0"/>
                <a:ea typeface="IBM Plex Sans" pitchFamily="34" charset="-122"/>
                <a:cs typeface="IBM Plex Sans" pitchFamily="34" charset="-120"/>
              </a:rPr>
              <a:t>AdventureWorks · Résultats</a:t>
            </a:r>
            <a:endParaRPr lang="en-US" sz="1200" dirty="0"/>
          </a:p>
        </p:txBody>
      </p:sp>
      <p:sp>
        <p:nvSpPr>
          <p:cNvPr id="26" name="Text 2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B73"/>
                </a:solidFill>
                <a:latin typeface="IBM Plex Sans" pitchFamily="34" charset="0"/>
                <a:ea typeface="IBM Plex Sans" pitchFamily="34" charset="-122"/>
                <a:cs typeface="IBM Plex Sans" pitchFamily="34" charset="-120"/>
              </a:rPr>
              <a:t>10</a:t>
            </a:r>
            <a:endParaRPr lang="en-US" sz="1200" dirty="0"/>
          </a:p>
        </p:txBody>
      </p:sp>
    </p:spTree>
    <p:extLst>
      <p:ext uri="{BB962C8B-B14F-4D97-AF65-F5344CB8AC3E}">
        <p14:creationId xmlns:p14="http://schemas.microsoft.com/office/powerpoint/2010/main" val="427341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D6E"/>
                </a:solidFill>
                <a:latin typeface="IBM Plex Sans" pitchFamily="34" charset="0"/>
                <a:ea typeface="IBM Plex Sans" pitchFamily="34" charset="-122"/>
                <a:cs typeface="IBM Plex Sans" pitchFamily="34" charset="-120"/>
              </a:rPr>
              <a:t>AXE 2 · STOCK</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F2A2E"/>
                </a:solidFill>
                <a:latin typeface="Rubik" pitchFamily="34" charset="0"/>
                <a:ea typeface="Rubik" pitchFamily="34" charset="-122"/>
                <a:cs typeface="Rubik" pitchFamily="34" charset="-120"/>
              </a:rPr>
              <a:t>Un stock lourd qui tourne lentement</a:t>
            </a:r>
            <a:endParaRPr lang="en-US" sz="3200" dirty="0"/>
          </a:p>
        </p:txBody>
      </p:sp>
      <p:sp>
        <p:nvSpPr>
          <p:cNvPr id="4" name="Shape 2"/>
          <p:cNvSpPr/>
          <p:nvPr/>
        </p:nvSpPr>
        <p:spPr>
          <a:xfrm>
            <a:off x="815975" y="1852216"/>
            <a:ext cx="2520950" cy="1123900"/>
          </a:xfrm>
          <a:prstGeom prst="roundRect">
            <a:avLst>
              <a:gd name="adj" fmla="val 8757"/>
            </a:avLst>
          </a:prstGeom>
          <a:solidFill>
            <a:srgbClr val="FBFCFB"/>
          </a:solidFill>
          <a:ln w="6350">
            <a:solidFill>
              <a:srgbClr val="DCE3E0"/>
            </a:solidFill>
            <a:prstDash val="solid"/>
          </a:ln>
        </p:spPr>
        <p:txBody>
          <a:bodyPr/>
          <a:lstStyle/>
          <a:p>
            <a:endParaRPr lang="fr-FR"/>
          </a:p>
        </p:txBody>
      </p:sp>
      <p:sp>
        <p:nvSpPr>
          <p:cNvPr id="5" name="Text 3"/>
          <p:cNvSpPr/>
          <p:nvPr/>
        </p:nvSpPr>
        <p:spPr>
          <a:xfrm>
            <a:off x="1022350" y="2033191"/>
            <a:ext cx="2171446"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F5D6E"/>
                </a:solidFill>
                <a:latin typeface="Rubik" pitchFamily="34" charset="0"/>
                <a:ea typeface="Rubik" pitchFamily="34" charset="-122"/>
                <a:cs typeface="Rubik" pitchFamily="34" charset="-120"/>
              </a:rPr>
              <a:t>20,1 M€</a:t>
            </a:r>
            <a:endParaRPr lang="en-US" sz="2800" dirty="0"/>
          </a:p>
        </p:txBody>
      </p:sp>
      <p:sp>
        <p:nvSpPr>
          <p:cNvPr id="6" name="Text 4"/>
          <p:cNvSpPr/>
          <p:nvPr/>
        </p:nvSpPr>
        <p:spPr>
          <a:xfrm>
            <a:off x="1022350" y="2581821"/>
            <a:ext cx="21714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valeur du stock</a:t>
            </a:r>
            <a:endParaRPr lang="en-US" sz="1200" dirty="0"/>
          </a:p>
        </p:txBody>
      </p:sp>
      <p:sp>
        <p:nvSpPr>
          <p:cNvPr id="7" name="Shape 5"/>
          <p:cNvSpPr/>
          <p:nvPr/>
        </p:nvSpPr>
        <p:spPr>
          <a:xfrm>
            <a:off x="3495675" y="1852216"/>
            <a:ext cx="2520950" cy="1123900"/>
          </a:xfrm>
          <a:prstGeom prst="roundRect">
            <a:avLst>
              <a:gd name="adj" fmla="val 8757"/>
            </a:avLst>
          </a:prstGeom>
          <a:solidFill>
            <a:srgbClr val="FBFCFB"/>
          </a:solidFill>
          <a:ln w="6350">
            <a:solidFill>
              <a:srgbClr val="DCE3E0"/>
            </a:solidFill>
            <a:prstDash val="solid"/>
          </a:ln>
        </p:spPr>
        <p:txBody>
          <a:bodyPr/>
          <a:lstStyle/>
          <a:p>
            <a:endParaRPr lang="fr-FR"/>
          </a:p>
        </p:txBody>
      </p:sp>
      <p:sp>
        <p:nvSpPr>
          <p:cNvPr id="8" name="Text 6"/>
          <p:cNvSpPr/>
          <p:nvPr/>
        </p:nvSpPr>
        <p:spPr>
          <a:xfrm>
            <a:off x="3702050" y="2033191"/>
            <a:ext cx="2171446"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F5D6E"/>
                </a:solidFill>
                <a:latin typeface="Rubik" pitchFamily="34" charset="0"/>
                <a:ea typeface="Rubik" pitchFamily="34" charset="-122"/>
                <a:cs typeface="Rubik" pitchFamily="34" charset="-120"/>
              </a:rPr>
              <a:t>225 j</a:t>
            </a:r>
            <a:endParaRPr lang="en-US" sz="2800" dirty="0"/>
          </a:p>
        </p:txBody>
      </p:sp>
      <p:sp>
        <p:nvSpPr>
          <p:cNvPr id="9" name="Text 7"/>
          <p:cNvSpPr/>
          <p:nvPr/>
        </p:nvSpPr>
        <p:spPr>
          <a:xfrm>
            <a:off x="3702050" y="2581821"/>
            <a:ext cx="21714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de couverture</a:t>
            </a:r>
            <a:endParaRPr lang="en-US" sz="1200" dirty="0"/>
          </a:p>
        </p:txBody>
      </p:sp>
      <p:sp>
        <p:nvSpPr>
          <p:cNvPr id="10" name="Shape 8"/>
          <p:cNvSpPr/>
          <p:nvPr/>
        </p:nvSpPr>
        <p:spPr>
          <a:xfrm>
            <a:off x="6175375" y="1852216"/>
            <a:ext cx="2520950" cy="1123900"/>
          </a:xfrm>
          <a:prstGeom prst="roundRect">
            <a:avLst>
              <a:gd name="adj" fmla="val 8757"/>
            </a:avLst>
          </a:prstGeom>
          <a:solidFill>
            <a:srgbClr val="FBFCFB"/>
          </a:solidFill>
          <a:ln w="6350">
            <a:solidFill>
              <a:srgbClr val="DCE3E0"/>
            </a:solidFill>
            <a:prstDash val="solid"/>
          </a:ln>
        </p:spPr>
        <p:txBody>
          <a:bodyPr/>
          <a:lstStyle/>
          <a:p>
            <a:endParaRPr lang="fr-FR"/>
          </a:p>
        </p:txBody>
      </p:sp>
      <p:sp>
        <p:nvSpPr>
          <p:cNvPr id="11" name="Text 9"/>
          <p:cNvSpPr/>
          <p:nvPr/>
        </p:nvSpPr>
        <p:spPr>
          <a:xfrm>
            <a:off x="6381750" y="2033191"/>
            <a:ext cx="2171446"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F5D6E"/>
                </a:solidFill>
                <a:latin typeface="Rubik" pitchFamily="34" charset="0"/>
                <a:ea typeface="Rubik" pitchFamily="34" charset="-122"/>
                <a:cs typeface="Rubik" pitchFamily="34" charset="-120"/>
              </a:rPr>
              <a:t>1,6</a:t>
            </a:r>
            <a:endParaRPr lang="en-US" sz="2800" dirty="0"/>
          </a:p>
        </p:txBody>
      </p:sp>
      <p:sp>
        <p:nvSpPr>
          <p:cNvPr id="12" name="Text 10"/>
          <p:cNvSpPr/>
          <p:nvPr/>
        </p:nvSpPr>
        <p:spPr>
          <a:xfrm>
            <a:off x="6381750" y="2581821"/>
            <a:ext cx="21714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rotation annuelle</a:t>
            </a:r>
            <a:endParaRPr lang="en-US" sz="1200" dirty="0"/>
          </a:p>
        </p:txBody>
      </p:sp>
      <p:sp>
        <p:nvSpPr>
          <p:cNvPr id="13" name="Shape 11"/>
          <p:cNvSpPr/>
          <p:nvPr/>
        </p:nvSpPr>
        <p:spPr>
          <a:xfrm>
            <a:off x="8855075" y="1852216"/>
            <a:ext cx="2520950" cy="1123900"/>
          </a:xfrm>
          <a:prstGeom prst="roundRect">
            <a:avLst>
              <a:gd name="adj" fmla="val 8757"/>
            </a:avLst>
          </a:prstGeom>
          <a:solidFill>
            <a:srgbClr val="FBFCFB"/>
          </a:solidFill>
          <a:ln w="6350">
            <a:solidFill>
              <a:srgbClr val="DCE3E0"/>
            </a:solidFill>
            <a:prstDash val="solid"/>
          </a:ln>
        </p:spPr>
        <p:txBody>
          <a:bodyPr/>
          <a:lstStyle/>
          <a:p>
            <a:endParaRPr lang="fr-FR"/>
          </a:p>
        </p:txBody>
      </p:sp>
      <p:sp>
        <p:nvSpPr>
          <p:cNvPr id="14" name="Text 12"/>
          <p:cNvSpPr/>
          <p:nvPr/>
        </p:nvSpPr>
        <p:spPr>
          <a:xfrm>
            <a:off x="9061450" y="2033191"/>
            <a:ext cx="2171446"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F5D6E"/>
                </a:solidFill>
                <a:latin typeface="Rubik" pitchFamily="34" charset="0"/>
                <a:ea typeface="Rubik" pitchFamily="34" charset="-122"/>
                <a:cs typeface="Rubik" pitchFamily="34" charset="-120"/>
              </a:rPr>
              <a:t>5</a:t>
            </a:r>
            <a:endParaRPr lang="en-US" sz="2800" dirty="0"/>
          </a:p>
        </p:txBody>
      </p:sp>
      <p:sp>
        <p:nvSpPr>
          <p:cNvPr id="15" name="Text 13"/>
          <p:cNvSpPr/>
          <p:nvPr/>
        </p:nvSpPr>
        <p:spPr>
          <a:xfrm>
            <a:off x="9061450" y="2581821"/>
            <a:ext cx="2171446" cy="238720"/>
          </a:xfrm>
          <a:prstGeom prst="rect">
            <a:avLst/>
          </a:prstGeom>
          <a:noFill/>
          <a:ln/>
        </p:spPr>
        <p:txBody>
          <a:bodyPr wrap="square" lIns="0" tIns="0" rIns="0" bIns="0" rtlCol="0" anchor="t">
            <a:normAutofit/>
          </a:bodyPr>
          <a:lstStyle/>
          <a:p>
            <a:pPr marL="0" indent="0" algn="l">
              <a:lnSpc>
                <a:spcPts val="1680"/>
              </a:lnSpc>
              <a:buNone/>
            </a:pPr>
            <a:r>
              <a:rPr lang="fr-FR" sz="1200" dirty="0">
                <a:solidFill>
                  <a:srgbClr val="4A5A61"/>
                </a:solidFill>
                <a:latin typeface="IBM Plex Sans" pitchFamily="34" charset="0"/>
                <a:ea typeface="IBM Plex Sans" pitchFamily="34" charset="-122"/>
                <a:cs typeface="IBM Plex Sans" pitchFamily="34" charset="-120"/>
              </a:rPr>
              <a:t>produits achetés sous seuil</a:t>
            </a:r>
            <a:endParaRPr lang="fr-FR" sz="1200" dirty="0"/>
          </a:p>
        </p:txBody>
      </p:sp>
      <p:sp>
        <p:nvSpPr>
          <p:cNvPr id="16" name="Shape 14"/>
          <p:cNvSpPr/>
          <p:nvPr/>
        </p:nvSpPr>
        <p:spPr>
          <a:xfrm>
            <a:off x="815975" y="3236466"/>
            <a:ext cx="6379220" cy="1921470"/>
          </a:xfrm>
          <a:prstGeom prst="roundRect">
            <a:avLst>
              <a:gd name="adj" fmla="val 5122"/>
            </a:avLst>
          </a:prstGeom>
          <a:solidFill>
            <a:srgbClr val="FBFCFB"/>
          </a:solidFill>
          <a:ln w="6350">
            <a:solidFill>
              <a:srgbClr val="DCE3E0"/>
            </a:solidFill>
            <a:prstDash val="solid"/>
          </a:ln>
        </p:spPr>
        <p:txBody>
          <a:bodyPr/>
          <a:lstStyle/>
          <a:p>
            <a:endParaRPr lang="fr-FR"/>
          </a:p>
        </p:txBody>
      </p:sp>
      <p:sp>
        <p:nvSpPr>
          <p:cNvPr id="17" name="Text 15"/>
          <p:cNvSpPr/>
          <p:nvPr/>
        </p:nvSpPr>
        <p:spPr>
          <a:xfrm>
            <a:off x="1022350" y="3417441"/>
            <a:ext cx="614546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F2A2E"/>
                </a:solidFill>
                <a:latin typeface="Rubik" pitchFamily="34" charset="0"/>
                <a:ea typeface="Rubik" pitchFamily="34" charset="-122"/>
                <a:cs typeface="Rubik" pitchFamily="34" charset="-120"/>
              </a:rPr>
              <a:t>Couverture de stock par catégorie (jours)</a:t>
            </a:r>
            <a:endParaRPr lang="en-US" sz="1500" dirty="0"/>
          </a:p>
        </p:txBody>
      </p:sp>
      <p:sp>
        <p:nvSpPr>
          <p:cNvPr id="18" name="Text 16"/>
          <p:cNvSpPr/>
          <p:nvPr/>
        </p:nvSpPr>
        <p:spPr>
          <a:xfrm>
            <a:off x="1022350" y="3747641"/>
            <a:ext cx="13208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2A2E"/>
                </a:solidFill>
                <a:latin typeface="IBM Plex Sans" pitchFamily="34" charset="0"/>
                <a:ea typeface="IBM Plex Sans" pitchFamily="34" charset="-122"/>
                <a:cs typeface="IBM Plex Sans" pitchFamily="34" charset="-120"/>
              </a:rPr>
              <a:t>Composants</a:t>
            </a:r>
            <a:endParaRPr lang="en-US" sz="1300" dirty="0"/>
          </a:p>
        </p:txBody>
      </p:sp>
      <p:sp>
        <p:nvSpPr>
          <p:cNvPr id="19" name="Shape 17"/>
          <p:cNvSpPr/>
          <p:nvPr/>
        </p:nvSpPr>
        <p:spPr>
          <a:xfrm>
            <a:off x="2419350" y="3748881"/>
            <a:ext cx="2286000" cy="228600"/>
          </a:xfrm>
          <a:prstGeom prst="roundRect">
            <a:avLst>
              <a:gd name="adj" fmla="val 16667"/>
            </a:avLst>
          </a:prstGeom>
          <a:solidFill>
            <a:srgbClr val="C0504D"/>
          </a:solidFill>
          <a:ln/>
        </p:spPr>
        <p:txBody>
          <a:bodyPr/>
          <a:lstStyle/>
          <a:p>
            <a:endParaRPr lang="fr-FR"/>
          </a:p>
        </p:txBody>
      </p:sp>
      <p:sp>
        <p:nvSpPr>
          <p:cNvPr id="20" name="Text 18"/>
          <p:cNvSpPr/>
          <p:nvPr/>
        </p:nvSpPr>
        <p:spPr>
          <a:xfrm>
            <a:off x="4832350" y="3747641"/>
            <a:ext cx="1634728"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33E3B"/>
                </a:solidFill>
                <a:latin typeface="IBM Plex Sans" pitchFamily="34" charset="0"/>
                <a:ea typeface="IBM Plex Sans" pitchFamily="34" charset="-122"/>
                <a:cs typeface="IBM Plex Sans" pitchFamily="34" charset="-120"/>
              </a:rPr>
              <a:t>436 j · le plus lent</a:t>
            </a:r>
            <a:endParaRPr lang="en-US" sz="1300" dirty="0"/>
          </a:p>
        </p:txBody>
      </p:sp>
      <p:sp>
        <p:nvSpPr>
          <p:cNvPr id="21" name="Text 19"/>
          <p:cNvSpPr/>
          <p:nvPr/>
        </p:nvSpPr>
        <p:spPr>
          <a:xfrm>
            <a:off x="1022350" y="4080371"/>
            <a:ext cx="13208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2A2E"/>
                </a:solidFill>
                <a:latin typeface="IBM Plex Sans" pitchFamily="34" charset="0"/>
                <a:ea typeface="IBM Plex Sans" pitchFamily="34" charset="-122"/>
                <a:cs typeface="IBM Plex Sans" pitchFamily="34" charset="-120"/>
              </a:rPr>
              <a:t>Vélos</a:t>
            </a:r>
            <a:endParaRPr lang="en-US" sz="1300" dirty="0"/>
          </a:p>
        </p:txBody>
      </p:sp>
      <p:sp>
        <p:nvSpPr>
          <p:cNvPr id="22" name="Shape 20"/>
          <p:cNvSpPr/>
          <p:nvPr/>
        </p:nvSpPr>
        <p:spPr>
          <a:xfrm>
            <a:off x="2419350" y="4081611"/>
            <a:ext cx="996950" cy="228600"/>
          </a:xfrm>
          <a:prstGeom prst="roundRect">
            <a:avLst>
              <a:gd name="adj" fmla="val 16667"/>
            </a:avLst>
          </a:prstGeom>
          <a:solidFill>
            <a:srgbClr val="2F5D6E"/>
          </a:solidFill>
          <a:ln/>
        </p:spPr>
        <p:txBody>
          <a:bodyPr/>
          <a:lstStyle/>
          <a:p>
            <a:endParaRPr lang="fr-FR"/>
          </a:p>
        </p:txBody>
      </p:sp>
      <p:sp>
        <p:nvSpPr>
          <p:cNvPr id="23" name="Text 21"/>
          <p:cNvSpPr/>
          <p:nvPr/>
        </p:nvSpPr>
        <p:spPr>
          <a:xfrm>
            <a:off x="3543300" y="4080371"/>
            <a:ext cx="457914"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2A2E"/>
                </a:solidFill>
                <a:latin typeface="IBM Plex Sans" pitchFamily="34" charset="0"/>
                <a:ea typeface="IBM Plex Sans" pitchFamily="34" charset="-122"/>
                <a:cs typeface="IBM Plex Sans" pitchFamily="34" charset="-120"/>
              </a:rPr>
              <a:t>190 j</a:t>
            </a:r>
            <a:endParaRPr lang="en-US" sz="1300" dirty="0"/>
          </a:p>
        </p:txBody>
      </p:sp>
      <p:sp>
        <p:nvSpPr>
          <p:cNvPr id="24" name="Text 22"/>
          <p:cNvSpPr/>
          <p:nvPr/>
        </p:nvSpPr>
        <p:spPr>
          <a:xfrm>
            <a:off x="1022350" y="4413101"/>
            <a:ext cx="13208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2A2E"/>
                </a:solidFill>
                <a:latin typeface="IBM Plex Sans" pitchFamily="34" charset="0"/>
                <a:ea typeface="IBM Plex Sans" pitchFamily="34" charset="-122"/>
                <a:cs typeface="IBM Plex Sans" pitchFamily="34" charset="-120"/>
              </a:rPr>
              <a:t>Accessoires</a:t>
            </a:r>
            <a:endParaRPr lang="en-US" sz="1300" dirty="0"/>
          </a:p>
        </p:txBody>
      </p:sp>
      <p:sp>
        <p:nvSpPr>
          <p:cNvPr id="25" name="Shape 23"/>
          <p:cNvSpPr/>
          <p:nvPr/>
        </p:nvSpPr>
        <p:spPr>
          <a:xfrm>
            <a:off x="2419350" y="4414341"/>
            <a:ext cx="819150" cy="228600"/>
          </a:xfrm>
          <a:prstGeom prst="roundRect">
            <a:avLst>
              <a:gd name="adj" fmla="val 16667"/>
            </a:avLst>
          </a:prstGeom>
          <a:solidFill>
            <a:srgbClr val="2F5D6E"/>
          </a:solidFill>
          <a:ln/>
        </p:spPr>
        <p:txBody>
          <a:bodyPr/>
          <a:lstStyle/>
          <a:p>
            <a:endParaRPr lang="fr-FR"/>
          </a:p>
        </p:txBody>
      </p:sp>
      <p:sp>
        <p:nvSpPr>
          <p:cNvPr id="26" name="Text 24"/>
          <p:cNvSpPr/>
          <p:nvPr/>
        </p:nvSpPr>
        <p:spPr>
          <a:xfrm>
            <a:off x="3365500" y="4413101"/>
            <a:ext cx="457914"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2A2E"/>
                </a:solidFill>
                <a:latin typeface="IBM Plex Sans" pitchFamily="34" charset="0"/>
                <a:ea typeface="IBM Plex Sans" pitchFamily="34" charset="-122"/>
                <a:cs typeface="IBM Plex Sans" pitchFamily="34" charset="-120"/>
              </a:rPr>
              <a:t>156 j</a:t>
            </a:r>
            <a:endParaRPr lang="en-US" sz="1300" dirty="0"/>
          </a:p>
        </p:txBody>
      </p:sp>
      <p:sp>
        <p:nvSpPr>
          <p:cNvPr id="27" name="Text 25"/>
          <p:cNvSpPr/>
          <p:nvPr/>
        </p:nvSpPr>
        <p:spPr>
          <a:xfrm>
            <a:off x="1022350" y="4745831"/>
            <a:ext cx="13208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2A2E"/>
                </a:solidFill>
                <a:latin typeface="IBM Plex Sans" pitchFamily="34" charset="0"/>
                <a:ea typeface="IBM Plex Sans" pitchFamily="34" charset="-122"/>
                <a:cs typeface="IBM Plex Sans" pitchFamily="34" charset="-120"/>
              </a:rPr>
              <a:t>Vêtements</a:t>
            </a:r>
            <a:endParaRPr lang="en-US" sz="1300" dirty="0"/>
          </a:p>
        </p:txBody>
      </p:sp>
      <p:sp>
        <p:nvSpPr>
          <p:cNvPr id="28" name="Shape 26"/>
          <p:cNvSpPr/>
          <p:nvPr/>
        </p:nvSpPr>
        <p:spPr>
          <a:xfrm>
            <a:off x="2419350" y="4747071"/>
            <a:ext cx="450850" cy="228600"/>
          </a:xfrm>
          <a:prstGeom prst="roundRect">
            <a:avLst>
              <a:gd name="adj" fmla="val 16667"/>
            </a:avLst>
          </a:prstGeom>
          <a:solidFill>
            <a:srgbClr val="7DBE9A"/>
          </a:solidFill>
          <a:ln/>
        </p:spPr>
        <p:txBody>
          <a:bodyPr/>
          <a:lstStyle/>
          <a:p>
            <a:endParaRPr lang="fr-FR"/>
          </a:p>
        </p:txBody>
      </p:sp>
      <p:sp>
        <p:nvSpPr>
          <p:cNvPr id="29" name="Text 27"/>
          <p:cNvSpPr/>
          <p:nvPr/>
        </p:nvSpPr>
        <p:spPr>
          <a:xfrm>
            <a:off x="2997200" y="4745831"/>
            <a:ext cx="1745635"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2A2E"/>
                </a:solidFill>
                <a:latin typeface="IBM Plex Sans" pitchFamily="34" charset="0"/>
                <a:ea typeface="IBM Plex Sans" pitchFamily="34" charset="-122"/>
                <a:cs typeface="IBM Plex Sans" pitchFamily="34" charset="-120"/>
              </a:rPr>
              <a:t>86 j · le plus rapide</a:t>
            </a:r>
            <a:endParaRPr lang="en-US" sz="1300" dirty="0"/>
          </a:p>
        </p:txBody>
      </p:sp>
      <p:sp>
        <p:nvSpPr>
          <p:cNvPr id="30" name="Shape 28"/>
          <p:cNvSpPr/>
          <p:nvPr/>
        </p:nvSpPr>
        <p:spPr>
          <a:xfrm>
            <a:off x="7420620" y="3233291"/>
            <a:ext cx="0" cy="462260"/>
          </a:xfrm>
          <a:prstGeom prst="line">
            <a:avLst/>
          </a:prstGeom>
          <a:noFill/>
          <a:ln w="38100">
            <a:solidFill>
              <a:srgbClr val="2F5D6E"/>
            </a:solidFill>
            <a:prstDash val="solid"/>
          </a:ln>
        </p:spPr>
        <p:txBody>
          <a:bodyPr/>
          <a:lstStyle/>
          <a:p>
            <a:endParaRPr lang="fr-FR"/>
          </a:p>
        </p:txBody>
      </p:sp>
      <p:sp>
        <p:nvSpPr>
          <p:cNvPr id="31" name="Text 29"/>
          <p:cNvSpPr/>
          <p:nvPr/>
        </p:nvSpPr>
        <p:spPr>
          <a:xfrm>
            <a:off x="7592070" y="3233291"/>
            <a:ext cx="3900744"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2A2E"/>
                </a:solidFill>
                <a:latin typeface="IBM Plex Sans" pitchFamily="34" charset="0"/>
                <a:ea typeface="IBM Plex Sans" pitchFamily="34" charset="-122"/>
                <a:cs typeface="IBM Plex Sans" pitchFamily="34" charset="-120"/>
              </a:rPr>
              <a:t>73 %</a:t>
            </a:r>
            <a:r>
              <a:rPr lang="en-US" sz="1300" dirty="0">
                <a:solidFill>
                  <a:srgbClr val="1F2A2E"/>
                </a:solidFill>
                <a:latin typeface="IBM Plex Sans" pitchFamily="34" charset="0"/>
                <a:ea typeface="IBM Plex Sans" pitchFamily="34" charset="-122"/>
                <a:cs typeface="IBM Plex Sans" pitchFamily="34" charset="-120"/>
              </a:rPr>
              <a:t> de la valeur du stock est dans les vélos (14,6 M€)</a:t>
            </a:r>
            <a:endParaRPr lang="en-US" sz="1300" dirty="0"/>
          </a:p>
        </p:txBody>
      </p:sp>
      <p:sp>
        <p:nvSpPr>
          <p:cNvPr id="32" name="Shape 30"/>
          <p:cNvSpPr/>
          <p:nvPr/>
        </p:nvSpPr>
        <p:spPr>
          <a:xfrm>
            <a:off x="7420620" y="3822551"/>
            <a:ext cx="0" cy="462260"/>
          </a:xfrm>
          <a:prstGeom prst="line">
            <a:avLst/>
          </a:prstGeom>
          <a:noFill/>
          <a:ln w="38100">
            <a:solidFill>
              <a:srgbClr val="2F5D6E"/>
            </a:solidFill>
            <a:prstDash val="solid"/>
          </a:ln>
        </p:spPr>
        <p:txBody>
          <a:bodyPr/>
          <a:lstStyle/>
          <a:p>
            <a:endParaRPr lang="fr-FR"/>
          </a:p>
        </p:txBody>
      </p:sp>
      <p:sp>
        <p:nvSpPr>
          <p:cNvPr id="33" name="Text 31"/>
          <p:cNvSpPr/>
          <p:nvPr/>
        </p:nvSpPr>
        <p:spPr>
          <a:xfrm>
            <a:off x="7592070" y="3822551"/>
            <a:ext cx="3900744"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2A2E"/>
                </a:solidFill>
                <a:latin typeface="IBM Plex Sans" pitchFamily="34" charset="0"/>
                <a:ea typeface="IBM Plex Sans" pitchFamily="34" charset="-122"/>
                <a:cs typeface="IBM Plex Sans" pitchFamily="34" charset="-120"/>
              </a:rPr>
              <a:t>Achats : </a:t>
            </a:r>
            <a:r>
              <a:rPr lang="en-US" sz="1300" b="1" dirty="0">
                <a:solidFill>
                  <a:srgbClr val="1F2A2E"/>
                </a:solidFill>
                <a:latin typeface="IBM Plex Sans" pitchFamily="34" charset="0"/>
                <a:ea typeface="IBM Plex Sans" pitchFamily="34" charset="-122"/>
                <a:cs typeface="IBM Plex Sans" pitchFamily="34" charset="-120"/>
              </a:rPr>
              <a:t>20,3 M€</a:t>
            </a:r>
            <a:r>
              <a:rPr lang="en-US" sz="1300" dirty="0">
                <a:solidFill>
                  <a:srgbClr val="1F2A2E"/>
                </a:solidFill>
                <a:latin typeface="IBM Plex Sans" pitchFamily="34" charset="0"/>
                <a:ea typeface="IBM Plex Sans" pitchFamily="34" charset="-122"/>
                <a:cs typeface="IBM Plex Sans" pitchFamily="34" charset="-120"/>
              </a:rPr>
              <a:t> en 2024 → </a:t>
            </a:r>
            <a:r>
              <a:rPr lang="en-US" sz="1300" b="1" dirty="0">
                <a:solidFill>
                  <a:srgbClr val="1F2A2E"/>
                </a:solidFill>
                <a:latin typeface="IBM Plex Sans" pitchFamily="34" charset="0"/>
                <a:ea typeface="IBM Plex Sans" pitchFamily="34" charset="-122"/>
                <a:cs typeface="IBM Plex Sans" pitchFamily="34" charset="-120"/>
              </a:rPr>
              <a:t>39,1 M€</a:t>
            </a:r>
            <a:r>
              <a:rPr lang="en-US" sz="1300" dirty="0">
                <a:solidFill>
                  <a:srgbClr val="1F2A2E"/>
                </a:solidFill>
                <a:latin typeface="IBM Plex Sans" pitchFamily="34" charset="0"/>
                <a:ea typeface="IBM Plex Sans" pitchFamily="34" charset="-122"/>
                <a:cs typeface="IBM Plex Sans" pitchFamily="34" charset="-120"/>
              </a:rPr>
              <a:t> en 2025 (jusqu'à septembre)</a:t>
            </a:r>
            <a:endParaRPr lang="en-US" sz="1300" dirty="0"/>
          </a:p>
        </p:txBody>
      </p:sp>
      <p:sp>
        <p:nvSpPr>
          <p:cNvPr id="34" name="Shape 32"/>
          <p:cNvSpPr/>
          <p:nvPr/>
        </p:nvSpPr>
        <p:spPr>
          <a:xfrm>
            <a:off x="7420620" y="4411811"/>
            <a:ext cx="0" cy="231130"/>
          </a:xfrm>
          <a:prstGeom prst="line">
            <a:avLst/>
          </a:prstGeom>
          <a:noFill/>
          <a:ln w="38100">
            <a:solidFill>
              <a:srgbClr val="C0504D"/>
            </a:solidFill>
            <a:prstDash val="solid"/>
          </a:ln>
        </p:spPr>
        <p:txBody>
          <a:bodyPr/>
          <a:lstStyle/>
          <a:p>
            <a:endParaRPr lang="fr-FR"/>
          </a:p>
        </p:txBody>
      </p:sp>
      <p:sp>
        <p:nvSpPr>
          <p:cNvPr id="35" name="Text 33"/>
          <p:cNvSpPr/>
          <p:nvPr/>
        </p:nvSpPr>
        <p:spPr>
          <a:xfrm>
            <a:off x="7592070" y="4411811"/>
            <a:ext cx="3900744"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2A2E"/>
                </a:solidFill>
                <a:latin typeface="IBM Plex Sans" pitchFamily="34" charset="0"/>
                <a:ea typeface="IBM Plex Sans" pitchFamily="34" charset="-122"/>
                <a:cs typeface="IBM Plex Sans" pitchFamily="34" charset="-120"/>
              </a:rPr>
              <a:t>29</a:t>
            </a:r>
            <a:r>
              <a:rPr lang="en-US" sz="1300" dirty="0">
                <a:solidFill>
                  <a:srgbClr val="1F2A2E"/>
                </a:solidFill>
                <a:latin typeface="IBM Plex Sans" pitchFamily="34" charset="0"/>
                <a:ea typeface="IBM Plex Sans" pitchFamily="34" charset="-122"/>
                <a:cs typeface="IBM Plex Sans" pitchFamily="34" charset="-120"/>
              </a:rPr>
              <a:t> produits finis jamais vendus</a:t>
            </a:r>
            <a:endParaRPr lang="en-US" sz="1300" dirty="0"/>
          </a:p>
        </p:txBody>
      </p:sp>
      <p:sp>
        <p:nvSpPr>
          <p:cNvPr id="36" name="Text 3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3"/>
                </a:solidFill>
                <a:latin typeface="IBM Plex Sans" pitchFamily="34" charset="0"/>
                <a:ea typeface="IBM Plex Sans" pitchFamily="34" charset="-122"/>
                <a:cs typeface="IBM Plex Sans" pitchFamily="34" charset="-120"/>
              </a:rPr>
              <a:t>AdventureWorks · Résultats</a:t>
            </a:r>
            <a:endParaRPr lang="en-US" sz="1200" dirty="0"/>
          </a:p>
        </p:txBody>
      </p:sp>
      <p:sp>
        <p:nvSpPr>
          <p:cNvPr id="37" name="Text 3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B73"/>
                </a:solidFill>
                <a:latin typeface="IBM Plex Sans" pitchFamily="34" charset="0"/>
                <a:ea typeface="IBM Plex Sans" pitchFamily="34" charset="-122"/>
                <a:cs typeface="IBM Plex Sans" pitchFamily="34" charset="-120"/>
              </a:rPr>
              <a:t>11</a:t>
            </a:r>
            <a:endParaRPr lang="en-US" sz="1200" dirty="0"/>
          </a:p>
        </p:txBody>
      </p:sp>
    </p:spTree>
    <p:extLst>
      <p:ext uri="{BB962C8B-B14F-4D97-AF65-F5344CB8AC3E}">
        <p14:creationId xmlns:p14="http://schemas.microsoft.com/office/powerpoint/2010/main" val="2384770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D6E"/>
                </a:solidFill>
                <a:latin typeface="IBM Plex Sans" pitchFamily="34" charset="0"/>
                <a:ea typeface="IBM Plex Sans" pitchFamily="34" charset="-122"/>
                <a:cs typeface="IBM Plex Sans" pitchFamily="34" charset="-120"/>
              </a:rPr>
              <a:t>AXE 3 · VENTE</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F2A2E"/>
                </a:solidFill>
                <a:latin typeface="Rubik" pitchFamily="34" charset="0"/>
                <a:ea typeface="Rubik" pitchFamily="34" charset="-122"/>
                <a:cs typeface="Rubik" pitchFamily="34" charset="-120"/>
              </a:rPr>
              <a:t>Un gros chiffre d'affaires, une marge fine</a:t>
            </a:r>
            <a:endParaRPr lang="en-US" sz="3200" dirty="0"/>
          </a:p>
        </p:txBody>
      </p:sp>
      <p:sp>
        <p:nvSpPr>
          <p:cNvPr id="4" name="Shape 2"/>
          <p:cNvSpPr/>
          <p:nvPr/>
        </p:nvSpPr>
        <p:spPr>
          <a:xfrm>
            <a:off x="815975" y="1903016"/>
            <a:ext cx="2520950" cy="1459111"/>
          </a:xfrm>
          <a:prstGeom prst="roundRect">
            <a:avLst>
              <a:gd name="adj" fmla="val 6746"/>
            </a:avLst>
          </a:prstGeom>
          <a:solidFill>
            <a:srgbClr val="FBFCFB"/>
          </a:solidFill>
          <a:ln w="6350">
            <a:solidFill>
              <a:srgbClr val="DCE3E0"/>
            </a:solidFill>
            <a:prstDash val="solid"/>
          </a:ln>
        </p:spPr>
        <p:txBody>
          <a:bodyPr/>
          <a:lstStyle/>
          <a:p>
            <a:endParaRPr lang="fr-FR"/>
          </a:p>
        </p:txBody>
      </p:sp>
      <p:sp>
        <p:nvSpPr>
          <p:cNvPr id="5" name="Text 3"/>
          <p:cNvSpPr/>
          <p:nvPr/>
        </p:nvSpPr>
        <p:spPr>
          <a:xfrm>
            <a:off x="1022350" y="2109391"/>
            <a:ext cx="2171446"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5D6E"/>
                </a:solidFill>
                <a:latin typeface="Rubik" pitchFamily="34" charset="0"/>
                <a:ea typeface="Rubik" pitchFamily="34" charset="-122"/>
                <a:cs typeface="Rubik" pitchFamily="34" charset="-120"/>
              </a:rPr>
              <a:t>109,8 M€</a:t>
            </a:r>
            <a:endParaRPr lang="en-US" sz="3200" dirty="0"/>
          </a:p>
        </p:txBody>
      </p:sp>
      <p:sp>
        <p:nvSpPr>
          <p:cNvPr id="6" name="Text 4"/>
          <p:cNvSpPr/>
          <p:nvPr/>
        </p:nvSpPr>
        <p:spPr>
          <a:xfrm>
            <a:off x="1022350" y="2729111"/>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chiffre d'affaires net · </a:t>
            </a:r>
            <a:r>
              <a:rPr lang="en-US" sz="1200" b="1" dirty="0">
                <a:solidFill>
                  <a:srgbClr val="3F8F62"/>
                </a:solidFill>
                <a:latin typeface="IBM Plex Sans" pitchFamily="34" charset="0"/>
                <a:ea typeface="IBM Plex Sans" pitchFamily="34" charset="-122"/>
                <a:cs typeface="IBM Plex Sans" pitchFamily="34" charset="-120"/>
              </a:rPr>
              <a:t>+38 %</a:t>
            </a:r>
            <a:r>
              <a:rPr lang="en-US" sz="1200" dirty="0">
                <a:solidFill>
                  <a:srgbClr val="4A5A61"/>
                </a:solidFill>
                <a:latin typeface="IBM Plex Sans" pitchFamily="34" charset="0"/>
                <a:ea typeface="IBM Plex Sans" pitchFamily="34" charset="-122"/>
                <a:cs typeface="IBM Plex Sans" pitchFamily="34" charset="-120"/>
              </a:rPr>
              <a:t> en 2024</a:t>
            </a:r>
            <a:endParaRPr lang="en-US" sz="1200" dirty="0"/>
          </a:p>
        </p:txBody>
      </p:sp>
      <p:sp>
        <p:nvSpPr>
          <p:cNvPr id="7" name="Shape 5"/>
          <p:cNvSpPr/>
          <p:nvPr/>
        </p:nvSpPr>
        <p:spPr>
          <a:xfrm>
            <a:off x="3495675" y="1903016"/>
            <a:ext cx="2520950" cy="1459111"/>
          </a:xfrm>
          <a:prstGeom prst="roundRect">
            <a:avLst>
              <a:gd name="adj" fmla="val 6746"/>
            </a:avLst>
          </a:prstGeom>
          <a:solidFill>
            <a:srgbClr val="FBFCFB"/>
          </a:solidFill>
          <a:ln w="6350">
            <a:solidFill>
              <a:srgbClr val="DCE3E0"/>
            </a:solidFill>
            <a:prstDash val="solid"/>
          </a:ln>
        </p:spPr>
        <p:txBody>
          <a:bodyPr/>
          <a:lstStyle/>
          <a:p>
            <a:endParaRPr lang="fr-FR"/>
          </a:p>
        </p:txBody>
      </p:sp>
      <p:sp>
        <p:nvSpPr>
          <p:cNvPr id="8" name="Text 6"/>
          <p:cNvSpPr/>
          <p:nvPr/>
        </p:nvSpPr>
        <p:spPr>
          <a:xfrm>
            <a:off x="3702050" y="2109391"/>
            <a:ext cx="2171446"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5D6E"/>
                </a:solidFill>
                <a:latin typeface="Rubik" pitchFamily="34" charset="0"/>
                <a:ea typeface="Rubik" pitchFamily="34" charset="-122"/>
                <a:cs typeface="Rubik" pitchFamily="34" charset="-120"/>
              </a:rPr>
              <a:t>9,4 M€</a:t>
            </a:r>
            <a:endParaRPr lang="en-US" sz="3200" dirty="0"/>
          </a:p>
        </p:txBody>
      </p:sp>
      <p:sp>
        <p:nvSpPr>
          <p:cNvPr id="9" name="Text 7"/>
          <p:cNvSpPr/>
          <p:nvPr/>
        </p:nvSpPr>
        <p:spPr>
          <a:xfrm>
            <a:off x="3702050" y="2729111"/>
            <a:ext cx="21714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marge commerciale</a:t>
            </a:r>
            <a:endParaRPr lang="en-US" sz="1200" dirty="0"/>
          </a:p>
        </p:txBody>
      </p:sp>
      <p:sp>
        <p:nvSpPr>
          <p:cNvPr id="10" name="Shape 8"/>
          <p:cNvSpPr/>
          <p:nvPr/>
        </p:nvSpPr>
        <p:spPr>
          <a:xfrm>
            <a:off x="6175375" y="1903016"/>
            <a:ext cx="2520950" cy="1459111"/>
          </a:xfrm>
          <a:prstGeom prst="roundRect">
            <a:avLst>
              <a:gd name="adj" fmla="val 6746"/>
            </a:avLst>
          </a:prstGeom>
          <a:solidFill>
            <a:srgbClr val="FBFCFB"/>
          </a:solidFill>
          <a:ln w="6350">
            <a:solidFill>
              <a:srgbClr val="DCE3E0"/>
            </a:solidFill>
            <a:prstDash val="solid"/>
          </a:ln>
        </p:spPr>
        <p:txBody>
          <a:bodyPr/>
          <a:lstStyle/>
          <a:p>
            <a:endParaRPr lang="fr-FR"/>
          </a:p>
        </p:txBody>
      </p:sp>
      <p:sp>
        <p:nvSpPr>
          <p:cNvPr id="11" name="Text 9"/>
          <p:cNvSpPr/>
          <p:nvPr/>
        </p:nvSpPr>
        <p:spPr>
          <a:xfrm>
            <a:off x="6381750" y="2109391"/>
            <a:ext cx="2171446"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5D6E"/>
                </a:solidFill>
                <a:latin typeface="Rubik" pitchFamily="34" charset="0"/>
                <a:ea typeface="Rubik" pitchFamily="34" charset="-122"/>
                <a:cs typeface="Rubik" pitchFamily="34" charset="-120"/>
              </a:rPr>
              <a:t>8,5 %</a:t>
            </a:r>
            <a:endParaRPr lang="en-US" sz="3200" dirty="0"/>
          </a:p>
        </p:txBody>
      </p:sp>
      <p:sp>
        <p:nvSpPr>
          <p:cNvPr id="12" name="Text 10"/>
          <p:cNvSpPr/>
          <p:nvPr/>
        </p:nvSpPr>
        <p:spPr>
          <a:xfrm>
            <a:off x="6381750" y="2729111"/>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taux de marge · </a:t>
            </a:r>
            <a:r>
              <a:rPr lang="en-US" sz="1200" b="1" dirty="0">
                <a:solidFill>
                  <a:srgbClr val="3F8F62"/>
                </a:solidFill>
                <a:latin typeface="IBM Plex Sans" pitchFamily="34" charset="0"/>
                <a:ea typeface="IBM Plex Sans" pitchFamily="34" charset="-122"/>
                <a:cs typeface="IBM Plex Sans" pitchFamily="34" charset="-120"/>
              </a:rPr>
              <a:t>+4,8 pts</a:t>
            </a:r>
            <a:r>
              <a:rPr lang="en-US" sz="1200" dirty="0">
                <a:solidFill>
                  <a:srgbClr val="4A5A61"/>
                </a:solidFill>
                <a:latin typeface="IBM Plex Sans" pitchFamily="34" charset="0"/>
                <a:ea typeface="IBM Plex Sans" pitchFamily="34" charset="-122"/>
                <a:cs typeface="IBM Plex Sans" pitchFamily="34" charset="-120"/>
              </a:rPr>
              <a:t> en 2024</a:t>
            </a:r>
            <a:endParaRPr lang="en-US" sz="1200" dirty="0"/>
          </a:p>
        </p:txBody>
      </p:sp>
      <p:sp>
        <p:nvSpPr>
          <p:cNvPr id="13" name="Shape 11"/>
          <p:cNvSpPr/>
          <p:nvPr/>
        </p:nvSpPr>
        <p:spPr>
          <a:xfrm>
            <a:off x="8855075" y="1903016"/>
            <a:ext cx="2520950" cy="1459111"/>
          </a:xfrm>
          <a:prstGeom prst="roundRect">
            <a:avLst>
              <a:gd name="adj" fmla="val 6746"/>
            </a:avLst>
          </a:prstGeom>
          <a:solidFill>
            <a:srgbClr val="FBFCFB"/>
          </a:solidFill>
          <a:ln w="6350">
            <a:solidFill>
              <a:srgbClr val="DCE3E0"/>
            </a:solidFill>
            <a:prstDash val="solid"/>
          </a:ln>
        </p:spPr>
        <p:txBody>
          <a:bodyPr/>
          <a:lstStyle/>
          <a:p>
            <a:endParaRPr lang="fr-FR"/>
          </a:p>
        </p:txBody>
      </p:sp>
      <p:sp>
        <p:nvSpPr>
          <p:cNvPr id="14" name="Text 12"/>
          <p:cNvSpPr/>
          <p:nvPr/>
        </p:nvSpPr>
        <p:spPr>
          <a:xfrm>
            <a:off x="9061450" y="2109391"/>
            <a:ext cx="2171446"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5D6E"/>
                </a:solidFill>
                <a:latin typeface="Rubik" pitchFamily="34" charset="0"/>
                <a:ea typeface="Rubik" pitchFamily="34" charset="-122"/>
                <a:cs typeface="Rubik" pitchFamily="34" charset="-120"/>
              </a:rPr>
              <a:t>3 491 €</a:t>
            </a:r>
            <a:endParaRPr lang="en-US" sz="3200" dirty="0"/>
          </a:p>
        </p:txBody>
      </p:sp>
      <p:sp>
        <p:nvSpPr>
          <p:cNvPr id="15" name="Text 13"/>
          <p:cNvSpPr/>
          <p:nvPr/>
        </p:nvSpPr>
        <p:spPr>
          <a:xfrm>
            <a:off x="9061450" y="2729111"/>
            <a:ext cx="21714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1"/>
                </a:solidFill>
                <a:latin typeface="IBM Plex Sans" pitchFamily="34" charset="0"/>
                <a:ea typeface="IBM Plex Sans" pitchFamily="34" charset="-122"/>
                <a:cs typeface="IBM Plex Sans" pitchFamily="34" charset="-120"/>
              </a:rPr>
              <a:t>panier moyen</a:t>
            </a:r>
            <a:endParaRPr lang="en-US" sz="1200" dirty="0"/>
          </a:p>
        </p:txBody>
      </p:sp>
      <p:sp>
        <p:nvSpPr>
          <p:cNvPr id="16" name="Shape 14"/>
          <p:cNvSpPr/>
          <p:nvPr/>
        </p:nvSpPr>
        <p:spPr>
          <a:xfrm>
            <a:off x="831850" y="3670102"/>
            <a:ext cx="0" cy="1097161"/>
          </a:xfrm>
          <a:prstGeom prst="line">
            <a:avLst/>
          </a:prstGeom>
          <a:noFill/>
          <a:ln w="38100">
            <a:solidFill>
              <a:srgbClr val="2F5D6E"/>
            </a:solidFill>
            <a:prstDash val="solid"/>
          </a:ln>
        </p:spPr>
        <p:txBody>
          <a:bodyPr/>
          <a:lstStyle/>
          <a:p>
            <a:endParaRPr lang="fr-FR"/>
          </a:p>
        </p:txBody>
      </p:sp>
      <p:sp>
        <p:nvSpPr>
          <p:cNvPr id="17" name="Text 15"/>
          <p:cNvSpPr/>
          <p:nvPr/>
        </p:nvSpPr>
        <p:spPr>
          <a:xfrm>
            <a:off x="1028700" y="3670102"/>
            <a:ext cx="3300755"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A2E"/>
                </a:solidFill>
                <a:latin typeface="Rubik" pitchFamily="34" charset="0"/>
                <a:ea typeface="Rubik" pitchFamily="34" charset="-122"/>
                <a:cs typeface="Rubik" pitchFamily="34" charset="-120"/>
              </a:rPr>
              <a:t>57 % aux États-Unis</a:t>
            </a:r>
            <a:endParaRPr lang="en-US" sz="1800" dirty="0"/>
          </a:p>
        </p:txBody>
      </p:sp>
      <p:sp>
        <p:nvSpPr>
          <p:cNvPr id="18" name="Text 16"/>
          <p:cNvSpPr/>
          <p:nvPr/>
        </p:nvSpPr>
        <p:spPr>
          <a:xfrm>
            <a:off x="1028700" y="4020592"/>
            <a:ext cx="3300755"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1"/>
                </a:solidFill>
                <a:latin typeface="IBM Plex Sans" pitchFamily="34" charset="0"/>
                <a:ea typeface="IBM Plex Sans" pitchFamily="34" charset="-122"/>
                <a:cs typeface="IBM Plex Sans" pitchFamily="34" charset="-120"/>
              </a:rPr>
              <a:t>Puis Canada (15 %) et Australie (10 %). L'Europe pèse 18 %.</a:t>
            </a:r>
            <a:endParaRPr lang="en-US" sz="1400" dirty="0"/>
          </a:p>
        </p:txBody>
      </p:sp>
      <p:sp>
        <p:nvSpPr>
          <p:cNvPr id="19" name="Shape 17"/>
          <p:cNvSpPr/>
          <p:nvPr/>
        </p:nvSpPr>
        <p:spPr>
          <a:xfrm>
            <a:off x="4404767" y="3670102"/>
            <a:ext cx="0" cy="1097161"/>
          </a:xfrm>
          <a:prstGeom prst="line">
            <a:avLst/>
          </a:prstGeom>
          <a:noFill/>
          <a:ln w="38100">
            <a:solidFill>
              <a:srgbClr val="7DBE9A"/>
            </a:solidFill>
            <a:prstDash val="solid"/>
          </a:ln>
        </p:spPr>
        <p:txBody>
          <a:bodyPr/>
          <a:lstStyle/>
          <a:p>
            <a:endParaRPr lang="fr-FR"/>
          </a:p>
        </p:txBody>
      </p:sp>
      <p:sp>
        <p:nvSpPr>
          <p:cNvPr id="20" name="Text 18"/>
          <p:cNvSpPr/>
          <p:nvPr/>
        </p:nvSpPr>
        <p:spPr>
          <a:xfrm>
            <a:off x="4601617" y="3670102"/>
            <a:ext cx="330080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A2E"/>
                </a:solidFill>
                <a:latin typeface="Rubik" pitchFamily="34" charset="0"/>
                <a:ea typeface="Rubik" pitchFamily="34" charset="-122"/>
                <a:cs typeface="Rubik" pitchFamily="34" charset="-120"/>
              </a:rPr>
              <a:t>Deux canaux</a:t>
            </a:r>
            <a:endParaRPr lang="en-US" sz="1800" dirty="0"/>
          </a:p>
        </p:txBody>
      </p:sp>
      <p:sp>
        <p:nvSpPr>
          <p:cNvPr id="21" name="Text 19"/>
          <p:cNvSpPr/>
          <p:nvPr/>
        </p:nvSpPr>
        <p:spPr>
          <a:xfrm>
            <a:off x="4601617" y="4020592"/>
            <a:ext cx="3300806"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1"/>
                </a:solidFill>
                <a:latin typeface="IBM Plex Sans" pitchFamily="34" charset="0"/>
                <a:ea typeface="IBM Plex Sans" pitchFamily="34" charset="-122"/>
                <a:cs typeface="IBM Plex Sans" pitchFamily="34" charset="-120"/>
              </a:rPr>
              <a:t>En ligne : 88 % des commandes mais 27 % du CA. Panier hors ligne : 21 148 € contre 1 061 € en ligne.</a:t>
            </a:r>
            <a:endParaRPr lang="en-US" sz="1400" dirty="0"/>
          </a:p>
        </p:txBody>
      </p:sp>
      <p:sp>
        <p:nvSpPr>
          <p:cNvPr id="22" name="Shape 20"/>
          <p:cNvSpPr/>
          <p:nvPr/>
        </p:nvSpPr>
        <p:spPr>
          <a:xfrm>
            <a:off x="7977733" y="3670102"/>
            <a:ext cx="0" cy="1097161"/>
          </a:xfrm>
          <a:prstGeom prst="line">
            <a:avLst/>
          </a:prstGeom>
          <a:noFill/>
          <a:ln w="38100">
            <a:solidFill>
              <a:srgbClr val="C0504D"/>
            </a:solidFill>
            <a:prstDash val="solid"/>
          </a:ln>
        </p:spPr>
        <p:txBody>
          <a:bodyPr/>
          <a:lstStyle/>
          <a:p>
            <a:endParaRPr lang="fr-FR"/>
          </a:p>
        </p:txBody>
      </p:sp>
      <p:sp>
        <p:nvSpPr>
          <p:cNvPr id="23" name="Text 21"/>
          <p:cNvSpPr/>
          <p:nvPr/>
        </p:nvSpPr>
        <p:spPr>
          <a:xfrm>
            <a:off x="8174583" y="3670102"/>
            <a:ext cx="3300755"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A2E"/>
                </a:solidFill>
                <a:latin typeface="Rubik" pitchFamily="34" charset="0"/>
                <a:ea typeface="Rubik" pitchFamily="34" charset="-122"/>
                <a:cs typeface="Rubik" pitchFamily="34" charset="-120"/>
              </a:rPr>
              <a:t>Ventes à perte</a:t>
            </a:r>
            <a:endParaRPr lang="en-US" sz="1800" dirty="0"/>
          </a:p>
        </p:txBody>
      </p:sp>
      <p:sp>
        <p:nvSpPr>
          <p:cNvPr id="24" name="Text 22"/>
          <p:cNvSpPr/>
          <p:nvPr/>
        </p:nvSpPr>
        <p:spPr>
          <a:xfrm>
            <a:off x="8174583" y="4020592"/>
            <a:ext cx="3300755"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1"/>
                </a:solidFill>
                <a:latin typeface="IBM Plex Sans" pitchFamily="34" charset="0"/>
                <a:ea typeface="IBM Plex Sans" pitchFamily="34" charset="-122"/>
                <a:cs typeface="IBM Plex Sans" pitchFamily="34" charset="-120"/>
              </a:rPr>
              <a:t>Maillots : −20 % de marge. Cadres route : −4,5 %.</a:t>
            </a:r>
            <a:endParaRPr lang="en-US" sz="1400" dirty="0"/>
          </a:p>
        </p:txBody>
      </p:sp>
      <p:sp>
        <p:nvSpPr>
          <p:cNvPr id="25" name="Text 2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3"/>
                </a:solidFill>
                <a:latin typeface="IBM Plex Sans" pitchFamily="34" charset="0"/>
                <a:ea typeface="IBM Plex Sans" pitchFamily="34" charset="-122"/>
                <a:cs typeface="IBM Plex Sans" pitchFamily="34" charset="-120"/>
              </a:rPr>
              <a:t>AdventureWorks · Résultats</a:t>
            </a:r>
            <a:endParaRPr lang="en-US" sz="1200" dirty="0"/>
          </a:p>
        </p:txBody>
      </p:sp>
      <p:sp>
        <p:nvSpPr>
          <p:cNvPr id="26" name="Text 2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B73"/>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3B4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7DBE9A"/>
                </a:solidFill>
                <a:latin typeface="IBM Plex Sans" pitchFamily="34" charset="0"/>
                <a:ea typeface="IBM Plex Sans" pitchFamily="34" charset="-122"/>
                <a:cs typeface="IBM Plex Sans" pitchFamily="34" charset="-120"/>
              </a:rPr>
              <a:t>INSIGHT CLÉ</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F4F6F5"/>
                </a:solidFill>
                <a:latin typeface="Rubik" pitchFamily="34" charset="0"/>
                <a:ea typeface="Rubik" pitchFamily="34" charset="-122"/>
                <a:cs typeface="Rubik" pitchFamily="34" charset="-120"/>
              </a:rPr>
              <a:t>Le prix d'achat réel érode la marge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3618539487"/>
              </p:ext>
            </p:extLst>
          </p:nvPr>
        </p:nvGraphicFramePr>
        <p:xfrm>
          <a:off x="825500" y="1912541"/>
          <a:ext cx="6083300" cy="2178945"/>
        </p:xfrm>
        <a:graphic>
          <a:graphicData uri="http://schemas.openxmlformats.org/drawingml/2006/table">
            <a:tbl>
              <a:tblPr/>
              <a:tblGrid>
                <a:gridCol w="1581658">
                  <a:extLst>
                    <a:ext uri="{9D8B030D-6E8A-4147-A177-3AD203B41FA5}">
                      <a16:colId xmlns:a16="http://schemas.microsoft.com/office/drawing/2014/main" val="20000"/>
                    </a:ext>
                  </a:extLst>
                </a:gridCol>
                <a:gridCol w="1459992">
                  <a:extLst>
                    <a:ext uri="{9D8B030D-6E8A-4147-A177-3AD203B41FA5}">
                      <a16:colId xmlns:a16="http://schemas.microsoft.com/office/drawing/2014/main" val="20001"/>
                    </a:ext>
                  </a:extLst>
                </a:gridCol>
                <a:gridCol w="1581658">
                  <a:extLst>
                    <a:ext uri="{9D8B030D-6E8A-4147-A177-3AD203B41FA5}">
                      <a16:colId xmlns:a16="http://schemas.microsoft.com/office/drawing/2014/main" val="20002"/>
                    </a:ext>
                  </a:extLst>
                </a:gridCol>
                <a:gridCol w="1459992">
                  <a:extLst>
                    <a:ext uri="{9D8B030D-6E8A-4147-A177-3AD203B41FA5}">
                      <a16:colId xmlns:a16="http://schemas.microsoft.com/office/drawing/2014/main" val="20003"/>
                    </a:ext>
                  </a:extLst>
                </a:gridCol>
              </a:tblGrid>
              <a:tr h="634901">
                <a:tc>
                  <a:txBody>
                    <a:bodyPr/>
                    <a:lstStyle/>
                    <a:p>
                      <a:pPr marL="0" indent="0">
                        <a:lnSpc>
                          <a:spcPts val="1960"/>
                        </a:lnSpc>
                        <a:buNone/>
                      </a:pPr>
                      <a:r>
                        <a:rPr lang="en-US" sz="1400" b="1" dirty="0">
                          <a:solidFill>
                            <a:srgbClr val="F4F6F5"/>
                          </a:solidFill>
                          <a:latin typeface="IBM Plex Sans" pitchFamily="34" charset="0"/>
                          <a:ea typeface="IBM Plex Sans" pitchFamily="34" charset="-122"/>
                          <a:cs typeface="IBM Plex Sans" pitchFamily="34" charset="-120"/>
                        </a:rPr>
                        <a:t>Produits revendus</a:t>
                      </a:r>
                      <a:endParaRPr lang="en-US" sz="1400" dirty="0">
                        <a:latin typeface="IBM Plex Sans" charset="0"/>
                        <a:ea typeface="IBM Plex Sans" charset="0"/>
                        <a:cs typeface="IBM Plex Sans" charset="0"/>
                      </a:endParaRPr>
                    </a:p>
                  </a:txBody>
                  <a:tcPr marL="62230" marR="62230" marT="62230" marB="62230">
                    <a:lnL w="12700" cap="flat" cmpd="sng" algn="ctr">
                      <a:solidFill>
                        <a:srgbClr val="4F656D"/>
                      </a:solidFill>
                      <a:prstDash val="solid"/>
                      <a:round/>
                      <a:headEnd type="none" w="med" len="med"/>
                      <a:tailEnd type="none" w="med" len="med"/>
                    </a:lnL>
                    <a:lnR w="12700" cap="flat" cmpd="sng" algn="ctr">
                      <a:solidFill>
                        <a:srgbClr val="5C7F8C"/>
                      </a:solidFill>
                      <a:prstDash val="solid"/>
                      <a:round/>
                      <a:headEnd type="none" w="med" len="med"/>
                      <a:tailEnd type="none" w="med" len="med"/>
                    </a:lnR>
                    <a:lnT w="12700" cap="flat" cmpd="sng" algn="ctr">
                      <a:solidFill>
                        <a:srgbClr val="4F656D"/>
                      </a:solidFill>
                      <a:prstDash val="solid"/>
                      <a:round/>
                      <a:headEnd type="none" w="med" len="med"/>
                      <a:tailEnd type="none" w="med" len="med"/>
                    </a:lnT>
                    <a:lnB w="12700" cap="flat" cmpd="sng" algn="ctr">
                      <a:solidFill>
                        <a:srgbClr val="5C7F8C"/>
                      </a:solidFill>
                      <a:prstDash val="solid"/>
                      <a:round/>
                      <a:headEnd type="none" w="med" len="med"/>
                      <a:tailEnd type="none" w="med" len="med"/>
                    </a:lnB>
                    <a:solidFill>
                      <a:srgbClr val="2F5D6E"/>
                    </a:solidFill>
                  </a:tcPr>
                </a:tc>
                <a:tc>
                  <a:txBody>
                    <a:bodyPr/>
                    <a:lstStyle/>
                    <a:p>
                      <a:pPr marL="0" indent="0" algn="r">
                        <a:lnSpc>
                          <a:spcPts val="1960"/>
                        </a:lnSpc>
                        <a:buNone/>
                      </a:pPr>
                      <a:r>
                        <a:rPr lang="en-US" sz="1400" b="1" dirty="0">
                          <a:solidFill>
                            <a:srgbClr val="F4F6F5"/>
                          </a:solidFill>
                          <a:latin typeface="IBM Plex Sans" pitchFamily="34" charset="0"/>
                          <a:ea typeface="IBM Plex Sans" pitchFamily="34" charset="-122"/>
                          <a:cs typeface="IBM Plex Sans" pitchFamily="34" charset="-120"/>
                        </a:rPr>
                        <a:t>Marge au coût standard</a:t>
                      </a:r>
                      <a:endParaRPr lang="en-US" sz="1400" dirty="0">
                        <a:latin typeface="IBM Plex Sans" charset="0"/>
                        <a:ea typeface="IBM Plex Sans" charset="0"/>
                        <a:cs typeface="IBM Plex Sans" charset="0"/>
                      </a:endParaRPr>
                    </a:p>
                  </a:txBody>
                  <a:tcPr marL="62230" marR="62230" marT="62230" marB="62230">
                    <a:lnL w="12700" cap="flat" cmpd="sng" algn="ctr">
                      <a:solidFill>
                        <a:srgbClr val="5C7F8C"/>
                      </a:solidFill>
                      <a:prstDash val="solid"/>
                      <a:round/>
                      <a:headEnd type="none" w="med" len="med"/>
                      <a:tailEnd type="none" w="med" len="med"/>
                    </a:lnL>
                    <a:lnR w="12700" cap="flat" cmpd="sng" algn="ctr">
                      <a:solidFill>
                        <a:srgbClr val="5C7F8C"/>
                      </a:solidFill>
                      <a:prstDash val="solid"/>
                      <a:round/>
                      <a:headEnd type="none" w="med" len="med"/>
                      <a:tailEnd type="none" w="med" len="med"/>
                    </a:lnR>
                    <a:lnT w="12700" cap="flat" cmpd="sng" algn="ctr">
                      <a:solidFill>
                        <a:srgbClr val="4F656D"/>
                      </a:solidFill>
                      <a:prstDash val="solid"/>
                      <a:round/>
                      <a:headEnd type="none" w="med" len="med"/>
                      <a:tailEnd type="none" w="med" len="med"/>
                    </a:lnT>
                    <a:lnB w="12700" cap="flat" cmpd="sng" algn="ctr">
                      <a:solidFill>
                        <a:srgbClr val="5C7F8C"/>
                      </a:solidFill>
                      <a:prstDash val="solid"/>
                      <a:round/>
                      <a:headEnd type="none" w="med" len="med"/>
                      <a:tailEnd type="none" w="med" len="med"/>
                    </a:lnB>
                    <a:solidFill>
                      <a:srgbClr val="2F5D6E"/>
                    </a:solidFill>
                  </a:tcPr>
                </a:tc>
                <a:tc>
                  <a:txBody>
                    <a:bodyPr/>
                    <a:lstStyle/>
                    <a:p>
                      <a:pPr marL="0" indent="0" algn="r">
                        <a:lnSpc>
                          <a:spcPts val="1960"/>
                        </a:lnSpc>
                        <a:buNone/>
                      </a:pPr>
                      <a:r>
                        <a:rPr lang="en-US" sz="1400" b="1" dirty="0">
                          <a:solidFill>
                            <a:srgbClr val="F4F6F5"/>
                          </a:solidFill>
                          <a:latin typeface="IBM Plex Sans" pitchFamily="34" charset="0"/>
                          <a:ea typeface="IBM Plex Sans" pitchFamily="34" charset="-122"/>
                          <a:cs typeface="IBM Plex Sans" pitchFamily="34" charset="-120"/>
                        </a:rPr>
                        <a:t>Marge au prix d'achat réel</a:t>
                      </a:r>
                      <a:endParaRPr lang="en-US" sz="1400" dirty="0">
                        <a:latin typeface="IBM Plex Sans" charset="0"/>
                        <a:ea typeface="IBM Plex Sans" charset="0"/>
                        <a:cs typeface="IBM Plex Sans" charset="0"/>
                      </a:endParaRPr>
                    </a:p>
                  </a:txBody>
                  <a:tcPr marL="62230" marR="62230" marT="62230" marB="62230">
                    <a:lnL w="12700" cap="flat" cmpd="sng" algn="ctr">
                      <a:solidFill>
                        <a:srgbClr val="5C7F8C"/>
                      </a:solidFill>
                      <a:prstDash val="solid"/>
                      <a:round/>
                      <a:headEnd type="none" w="med" len="med"/>
                      <a:tailEnd type="none" w="med" len="med"/>
                    </a:lnL>
                    <a:lnR w="12700" cap="flat" cmpd="sng" algn="ctr">
                      <a:solidFill>
                        <a:srgbClr val="5C7F8C"/>
                      </a:solidFill>
                      <a:prstDash val="solid"/>
                      <a:round/>
                      <a:headEnd type="none" w="med" len="med"/>
                      <a:tailEnd type="none" w="med" len="med"/>
                    </a:lnR>
                    <a:lnT w="12700" cap="flat" cmpd="sng" algn="ctr">
                      <a:solidFill>
                        <a:srgbClr val="4F656D"/>
                      </a:solidFill>
                      <a:prstDash val="solid"/>
                      <a:round/>
                      <a:headEnd type="none" w="med" len="med"/>
                      <a:tailEnd type="none" w="med" len="med"/>
                    </a:lnT>
                    <a:lnB w="12700" cap="flat" cmpd="sng" algn="ctr">
                      <a:solidFill>
                        <a:srgbClr val="5C7F8C"/>
                      </a:solidFill>
                      <a:prstDash val="solid"/>
                      <a:round/>
                      <a:headEnd type="none" w="med" len="med"/>
                      <a:tailEnd type="none" w="med" len="med"/>
                    </a:lnB>
                    <a:solidFill>
                      <a:srgbClr val="2F5D6E"/>
                    </a:solidFill>
                  </a:tcPr>
                </a:tc>
                <a:tc>
                  <a:txBody>
                    <a:bodyPr/>
                    <a:lstStyle/>
                    <a:p>
                      <a:pPr marL="0" indent="0" algn="r">
                        <a:lnSpc>
                          <a:spcPts val="1960"/>
                        </a:lnSpc>
                        <a:buNone/>
                      </a:pPr>
                      <a:r>
                        <a:rPr lang="en-US" sz="1400" b="1" dirty="0">
                          <a:solidFill>
                            <a:srgbClr val="F4F6F5"/>
                          </a:solidFill>
                          <a:latin typeface="IBM Plex Sans" pitchFamily="34" charset="0"/>
                          <a:ea typeface="IBM Plex Sans" pitchFamily="34" charset="-122"/>
                          <a:cs typeface="IBM Plex Sans" pitchFamily="34" charset="-120"/>
                        </a:rPr>
                        <a:t>Prix d'achat vs standard</a:t>
                      </a:r>
                      <a:endParaRPr lang="en-US" sz="1400" dirty="0">
                        <a:latin typeface="IBM Plex Sans" charset="0"/>
                        <a:ea typeface="IBM Plex Sans" charset="0"/>
                        <a:cs typeface="IBM Plex Sans" charset="0"/>
                      </a:endParaRPr>
                    </a:p>
                  </a:txBody>
                  <a:tcPr marL="62230" marR="62230" marT="62230" marB="62230">
                    <a:lnL w="12700" cap="flat" cmpd="sng" algn="ctr">
                      <a:solidFill>
                        <a:srgbClr val="5C7F8C"/>
                      </a:solidFill>
                      <a:prstDash val="solid"/>
                      <a:round/>
                      <a:headEnd type="none" w="med" len="med"/>
                      <a:tailEnd type="none" w="med" len="med"/>
                    </a:lnL>
                    <a:lnR w="12700" cap="flat" cmpd="sng" algn="ctr">
                      <a:solidFill>
                        <a:srgbClr val="5C7F8C"/>
                      </a:solidFill>
                      <a:prstDash val="solid"/>
                      <a:round/>
                      <a:headEnd type="none" w="med" len="med"/>
                      <a:tailEnd type="none" w="med" len="med"/>
                    </a:lnR>
                    <a:lnT w="12700" cap="flat" cmpd="sng" algn="ctr">
                      <a:solidFill>
                        <a:srgbClr val="4F656D"/>
                      </a:solidFill>
                      <a:prstDash val="solid"/>
                      <a:round/>
                      <a:headEnd type="none" w="med" len="med"/>
                      <a:tailEnd type="none" w="med" len="med"/>
                    </a:lnT>
                    <a:lnB w="12700" cap="flat" cmpd="sng" algn="ctr">
                      <a:solidFill>
                        <a:srgbClr val="5C7F8C"/>
                      </a:solidFill>
                      <a:prstDash val="solid"/>
                      <a:round/>
                      <a:headEnd type="none" w="med" len="med"/>
                      <a:tailEnd type="none" w="med" len="med"/>
                    </a:lnB>
                    <a:solidFill>
                      <a:srgbClr val="2F5D6E"/>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F4F6F5"/>
                          </a:solidFill>
                          <a:latin typeface="IBM Plex Sans" pitchFamily="34" charset="0"/>
                          <a:ea typeface="IBM Plex Sans" pitchFamily="34" charset="-122"/>
                          <a:cs typeface="IBM Plex Sans" pitchFamily="34" charset="-120"/>
                        </a:rPr>
                        <a:t>Accessoires</a:t>
                      </a:r>
                      <a:endParaRPr lang="en-US" sz="1400" dirty="0">
                        <a:latin typeface="IBM Plex Sans" charset="0"/>
                        <a:ea typeface="IBM Plex Sans" charset="0"/>
                        <a:cs typeface="IBM Plex Sans" charset="0"/>
                      </a:endParaRPr>
                    </a:p>
                  </a:txBody>
                  <a:tcPr marL="62230" marR="62230" marT="62230" marB="62230">
                    <a:lnL w="12700" cap="flat" cmpd="sng" algn="ctr">
                      <a:solidFill>
                        <a:srgbClr val="4F656D"/>
                      </a:solidFill>
                      <a:prstDash val="solid"/>
                      <a:round/>
                      <a:headEnd type="none" w="med" len="med"/>
                      <a:tailEnd type="none" w="med" len="med"/>
                    </a:lnL>
                    <a:lnR w="12700" cap="flat" cmpd="sng" algn="ctr">
                      <a:solidFill>
                        <a:srgbClr val="4F656D"/>
                      </a:solidFill>
                      <a:prstDash val="solid"/>
                      <a:round/>
                      <a:headEnd type="none" w="med" len="med"/>
                      <a:tailEnd type="none" w="med" len="med"/>
                    </a:lnR>
                    <a:lnT w="12700" cap="flat" cmpd="sng" algn="ctr">
                      <a:solidFill>
                        <a:srgbClr val="5C7F8C"/>
                      </a:solidFill>
                      <a:prstDash val="solid"/>
                      <a:round/>
                      <a:headEnd type="none" w="med" len="med"/>
                      <a:tailEnd type="none" w="med" len="med"/>
                    </a:lnT>
                    <a:lnB w="12700" cap="flat" cmpd="sng" algn="ctr">
                      <a:solidFill>
                        <a:srgbClr val="4F656D"/>
                      </a:solidFill>
                      <a:prstDash val="solid"/>
                      <a:round/>
                      <a:headEnd type="none" w="med" len="med"/>
                      <a:tailEnd type="none" w="med" len="med"/>
                    </a:lnB>
                  </a:tcPr>
                </a:tc>
                <a:tc>
                  <a:txBody>
                    <a:bodyPr/>
                    <a:lstStyle/>
                    <a:p>
                      <a:pPr marL="0" indent="0" algn="r">
                        <a:lnSpc>
                          <a:spcPts val="1960"/>
                        </a:lnSpc>
                        <a:buNone/>
                      </a:pPr>
                      <a:r>
                        <a:rPr lang="en-US" sz="1400" dirty="0">
                          <a:solidFill>
                            <a:srgbClr val="F4F6F5"/>
                          </a:solidFill>
                          <a:latin typeface="IBM Plex Sans" pitchFamily="34" charset="0"/>
                          <a:ea typeface="IBM Plex Sans" pitchFamily="34" charset="-122"/>
                          <a:cs typeface="IBM Plex Sans" pitchFamily="34" charset="-120"/>
                        </a:rPr>
                        <a:t>50,0 %</a:t>
                      </a:r>
                      <a:endParaRPr lang="en-US" sz="1400" dirty="0">
                        <a:latin typeface="IBM Plex Sans" charset="0"/>
                        <a:ea typeface="IBM Plex Sans" charset="0"/>
                        <a:cs typeface="IBM Plex Sans" charset="0"/>
                      </a:endParaRPr>
                    </a:p>
                  </a:txBody>
                  <a:tcPr marL="62230" marR="62230" marT="62230" marB="62230">
                    <a:lnL w="12700" cap="flat" cmpd="sng" algn="ctr">
                      <a:solidFill>
                        <a:srgbClr val="4F656D"/>
                      </a:solidFill>
                      <a:prstDash val="solid"/>
                      <a:round/>
                      <a:headEnd type="none" w="med" len="med"/>
                      <a:tailEnd type="none" w="med" len="med"/>
                    </a:lnL>
                    <a:lnR w="12700" cap="flat" cmpd="sng" algn="ctr">
                      <a:solidFill>
                        <a:srgbClr val="4F656D"/>
                      </a:solidFill>
                      <a:prstDash val="solid"/>
                      <a:round/>
                      <a:headEnd type="none" w="med" len="med"/>
                      <a:tailEnd type="none" w="med" len="med"/>
                    </a:lnR>
                    <a:lnT w="12700" cap="flat" cmpd="sng" algn="ctr">
                      <a:solidFill>
                        <a:srgbClr val="5C7F8C"/>
                      </a:solidFill>
                      <a:prstDash val="solid"/>
                      <a:round/>
                      <a:headEnd type="none" w="med" len="med"/>
                      <a:tailEnd type="none" w="med" len="med"/>
                    </a:lnT>
                    <a:lnB w="12700" cap="flat" cmpd="sng" algn="ctr">
                      <a:solidFill>
                        <a:srgbClr val="4F656D"/>
                      </a:solidFill>
                      <a:prstDash val="solid"/>
                      <a:round/>
                      <a:headEnd type="none" w="med" len="med"/>
                      <a:tailEnd type="none" w="med" len="med"/>
                    </a:lnB>
                  </a:tcPr>
                </a:tc>
                <a:tc>
                  <a:txBody>
                    <a:bodyPr/>
                    <a:lstStyle/>
                    <a:p>
                      <a:pPr marL="0" indent="0" algn="r">
                        <a:lnSpc>
                          <a:spcPts val="1960"/>
                        </a:lnSpc>
                        <a:buNone/>
                      </a:pPr>
                      <a:r>
                        <a:rPr lang="en-US" sz="1400" dirty="0">
                          <a:solidFill>
                            <a:srgbClr val="F4F6F5"/>
                          </a:solidFill>
                          <a:latin typeface="IBM Plex Sans" pitchFamily="34" charset="0"/>
                          <a:ea typeface="IBM Plex Sans" pitchFamily="34" charset="-122"/>
                          <a:cs typeface="IBM Plex Sans" pitchFamily="34" charset="-120"/>
                        </a:rPr>
                        <a:t>34,8 %</a:t>
                      </a:r>
                      <a:endParaRPr lang="en-US" sz="1400" dirty="0">
                        <a:latin typeface="IBM Plex Sans" charset="0"/>
                        <a:ea typeface="IBM Plex Sans" charset="0"/>
                        <a:cs typeface="IBM Plex Sans" charset="0"/>
                      </a:endParaRPr>
                    </a:p>
                  </a:txBody>
                  <a:tcPr marL="62230" marR="62230" marT="62230" marB="62230">
                    <a:lnL w="12700" cap="flat" cmpd="sng" algn="ctr">
                      <a:solidFill>
                        <a:srgbClr val="4F656D"/>
                      </a:solidFill>
                      <a:prstDash val="solid"/>
                      <a:round/>
                      <a:headEnd type="none" w="med" len="med"/>
                      <a:tailEnd type="none" w="med" len="med"/>
                    </a:lnL>
                    <a:lnR w="12700" cap="flat" cmpd="sng" algn="ctr">
                      <a:solidFill>
                        <a:srgbClr val="4F656D"/>
                      </a:solidFill>
                      <a:prstDash val="solid"/>
                      <a:round/>
                      <a:headEnd type="none" w="med" len="med"/>
                      <a:tailEnd type="none" w="med" len="med"/>
                    </a:lnR>
                    <a:lnT w="12700" cap="flat" cmpd="sng" algn="ctr">
                      <a:solidFill>
                        <a:srgbClr val="5C7F8C"/>
                      </a:solidFill>
                      <a:prstDash val="solid"/>
                      <a:round/>
                      <a:headEnd type="none" w="med" len="med"/>
                      <a:tailEnd type="none" w="med" len="med"/>
                    </a:lnT>
                    <a:lnB w="12700" cap="flat" cmpd="sng" algn="ctr">
                      <a:solidFill>
                        <a:srgbClr val="4F656D"/>
                      </a:solidFill>
                      <a:prstDash val="solid"/>
                      <a:round/>
                      <a:headEnd type="none" w="med" len="med"/>
                      <a:tailEnd type="none" w="med" len="med"/>
                    </a:lnB>
                  </a:tcPr>
                </a:tc>
                <a:tc>
                  <a:txBody>
                    <a:bodyPr/>
                    <a:lstStyle/>
                    <a:p>
                      <a:pPr marL="0" indent="0" algn="r">
                        <a:lnSpc>
                          <a:spcPts val="1960"/>
                        </a:lnSpc>
                        <a:buNone/>
                      </a:pPr>
                      <a:r>
                        <a:rPr lang="en-US" sz="1400" dirty="0">
                          <a:solidFill>
                            <a:srgbClr val="F4F6F5"/>
                          </a:solidFill>
                          <a:latin typeface="IBM Plex Sans" pitchFamily="34" charset="0"/>
                          <a:ea typeface="IBM Plex Sans" pitchFamily="34" charset="-122"/>
                          <a:cs typeface="IBM Plex Sans" pitchFamily="34" charset="-120"/>
                        </a:rPr>
                        <a:t>+31 %</a:t>
                      </a:r>
                      <a:endParaRPr lang="en-US" sz="1400" dirty="0">
                        <a:latin typeface="IBM Plex Sans" charset="0"/>
                        <a:ea typeface="IBM Plex Sans" charset="0"/>
                        <a:cs typeface="IBM Plex Sans" charset="0"/>
                      </a:endParaRPr>
                    </a:p>
                  </a:txBody>
                  <a:tcPr marL="62230" marR="62230" marT="62230" marB="62230">
                    <a:lnL w="12700" cap="flat" cmpd="sng" algn="ctr">
                      <a:solidFill>
                        <a:srgbClr val="4F656D"/>
                      </a:solidFill>
                      <a:prstDash val="solid"/>
                      <a:round/>
                      <a:headEnd type="none" w="med" len="med"/>
                      <a:tailEnd type="none" w="med" len="med"/>
                    </a:lnL>
                    <a:lnR w="12700" cap="flat" cmpd="sng" algn="ctr">
                      <a:solidFill>
                        <a:srgbClr val="4F656D"/>
                      </a:solidFill>
                      <a:prstDash val="solid"/>
                      <a:round/>
                      <a:headEnd type="none" w="med" len="med"/>
                      <a:tailEnd type="none" w="med" len="med"/>
                    </a:lnR>
                    <a:lnT w="12700" cap="flat" cmpd="sng" algn="ctr">
                      <a:solidFill>
                        <a:srgbClr val="5C7F8C"/>
                      </a:solidFill>
                      <a:prstDash val="solid"/>
                      <a:round/>
                      <a:headEnd type="none" w="med" len="med"/>
                      <a:tailEnd type="none" w="med" len="med"/>
                    </a:lnT>
                    <a:lnB w="12700" cap="flat" cmpd="sng" algn="ctr">
                      <a:solidFill>
                        <a:srgbClr val="4F656D"/>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F4F6F5"/>
                          </a:solidFill>
                          <a:latin typeface="IBM Plex Sans" pitchFamily="34" charset="0"/>
                          <a:ea typeface="IBM Plex Sans" pitchFamily="34" charset="-122"/>
                          <a:cs typeface="IBM Plex Sans" pitchFamily="34" charset="-120"/>
                        </a:rPr>
                        <a:t>Vêtements</a:t>
                      </a:r>
                      <a:endParaRPr lang="en-US" sz="1400" dirty="0">
                        <a:latin typeface="IBM Plex Sans" charset="0"/>
                        <a:ea typeface="IBM Plex Sans" charset="0"/>
                        <a:cs typeface="IBM Plex Sans" charset="0"/>
                      </a:endParaRPr>
                    </a:p>
                  </a:txBody>
                  <a:tcPr marL="62230" marR="62230" marT="62230" marB="62230">
                    <a:lnL w="12700" cap="flat" cmpd="sng" algn="ctr">
                      <a:solidFill>
                        <a:srgbClr val="4F656D"/>
                      </a:solidFill>
                      <a:prstDash val="solid"/>
                      <a:round/>
                      <a:headEnd type="none" w="med" len="med"/>
                      <a:tailEnd type="none" w="med" len="med"/>
                    </a:lnL>
                    <a:lnR w="12700" cap="flat" cmpd="sng" algn="ctr">
                      <a:solidFill>
                        <a:srgbClr val="4F656D"/>
                      </a:solidFill>
                      <a:prstDash val="solid"/>
                      <a:round/>
                      <a:headEnd type="none" w="med" len="med"/>
                      <a:tailEnd type="none" w="med" len="med"/>
                    </a:lnR>
                    <a:lnT w="12700" cap="flat" cmpd="sng" algn="ctr">
                      <a:solidFill>
                        <a:srgbClr val="4F656D"/>
                      </a:solidFill>
                      <a:prstDash val="solid"/>
                      <a:round/>
                      <a:headEnd type="none" w="med" len="med"/>
                      <a:tailEnd type="none" w="med" len="med"/>
                    </a:lnT>
                    <a:lnB w="12700" cap="flat" cmpd="sng" algn="ctr">
                      <a:solidFill>
                        <a:srgbClr val="4F656D"/>
                      </a:solidFill>
                      <a:prstDash val="solid"/>
                      <a:round/>
                      <a:headEnd type="none" w="med" len="med"/>
                      <a:tailEnd type="none" w="med" len="med"/>
                    </a:lnB>
                  </a:tcPr>
                </a:tc>
                <a:tc>
                  <a:txBody>
                    <a:bodyPr/>
                    <a:lstStyle/>
                    <a:p>
                      <a:pPr marL="0" indent="0" algn="r">
                        <a:lnSpc>
                          <a:spcPts val="1960"/>
                        </a:lnSpc>
                        <a:buNone/>
                      </a:pPr>
                      <a:r>
                        <a:rPr lang="en-US" sz="1400" dirty="0">
                          <a:solidFill>
                            <a:srgbClr val="F4F6F5"/>
                          </a:solidFill>
                          <a:latin typeface="IBM Plex Sans" pitchFamily="34" charset="0"/>
                          <a:ea typeface="IBM Plex Sans" pitchFamily="34" charset="-122"/>
                          <a:cs typeface="IBM Plex Sans" pitchFamily="34" charset="-120"/>
                        </a:rPr>
                        <a:t>14,6 %</a:t>
                      </a:r>
                      <a:endParaRPr lang="en-US" sz="1400" dirty="0">
                        <a:latin typeface="IBM Plex Sans" charset="0"/>
                        <a:ea typeface="IBM Plex Sans" charset="0"/>
                        <a:cs typeface="IBM Plex Sans" charset="0"/>
                      </a:endParaRPr>
                    </a:p>
                  </a:txBody>
                  <a:tcPr marL="62230" marR="62230" marT="62230" marB="62230">
                    <a:lnL w="12700" cap="flat" cmpd="sng" algn="ctr">
                      <a:solidFill>
                        <a:srgbClr val="4F656D"/>
                      </a:solidFill>
                      <a:prstDash val="solid"/>
                      <a:round/>
                      <a:headEnd type="none" w="med" len="med"/>
                      <a:tailEnd type="none" w="med" len="med"/>
                    </a:lnL>
                    <a:lnR w="12700" cap="flat" cmpd="sng" algn="ctr">
                      <a:solidFill>
                        <a:srgbClr val="4F656D"/>
                      </a:solidFill>
                      <a:prstDash val="solid"/>
                      <a:round/>
                      <a:headEnd type="none" w="med" len="med"/>
                      <a:tailEnd type="none" w="med" len="med"/>
                    </a:lnR>
                    <a:lnT w="12700" cap="flat" cmpd="sng" algn="ctr">
                      <a:solidFill>
                        <a:srgbClr val="4F656D"/>
                      </a:solidFill>
                      <a:prstDash val="solid"/>
                      <a:round/>
                      <a:headEnd type="none" w="med" len="med"/>
                      <a:tailEnd type="none" w="med" len="med"/>
                    </a:lnT>
                    <a:lnB w="12700" cap="flat" cmpd="sng" algn="ctr">
                      <a:solidFill>
                        <a:srgbClr val="4F656D"/>
                      </a:solidFill>
                      <a:prstDash val="solid"/>
                      <a:round/>
                      <a:headEnd type="none" w="med" len="med"/>
                      <a:tailEnd type="none" w="med" len="med"/>
                    </a:lnB>
                  </a:tcPr>
                </a:tc>
                <a:tc>
                  <a:txBody>
                    <a:bodyPr/>
                    <a:lstStyle/>
                    <a:p>
                      <a:pPr marL="0" indent="0" algn="r">
                        <a:lnSpc>
                          <a:spcPts val="1960"/>
                        </a:lnSpc>
                        <a:buNone/>
                      </a:pPr>
                      <a:r>
                        <a:rPr lang="en-US" sz="1400" dirty="0">
                          <a:solidFill>
                            <a:srgbClr val="F4F6F5"/>
                          </a:solidFill>
                          <a:latin typeface="IBM Plex Sans" pitchFamily="34" charset="0"/>
                          <a:ea typeface="IBM Plex Sans" pitchFamily="34" charset="-122"/>
                          <a:cs typeface="IBM Plex Sans" pitchFamily="34" charset="-120"/>
                        </a:rPr>
                        <a:t>14,7 %</a:t>
                      </a:r>
                      <a:endParaRPr lang="en-US" sz="1400" dirty="0">
                        <a:latin typeface="IBM Plex Sans" charset="0"/>
                        <a:ea typeface="IBM Plex Sans" charset="0"/>
                        <a:cs typeface="IBM Plex Sans" charset="0"/>
                      </a:endParaRPr>
                    </a:p>
                  </a:txBody>
                  <a:tcPr marL="62230" marR="62230" marT="62230" marB="62230">
                    <a:lnL w="12700" cap="flat" cmpd="sng" algn="ctr">
                      <a:solidFill>
                        <a:srgbClr val="4F656D"/>
                      </a:solidFill>
                      <a:prstDash val="solid"/>
                      <a:round/>
                      <a:headEnd type="none" w="med" len="med"/>
                      <a:tailEnd type="none" w="med" len="med"/>
                    </a:lnL>
                    <a:lnR w="12700" cap="flat" cmpd="sng" algn="ctr">
                      <a:solidFill>
                        <a:srgbClr val="4F656D"/>
                      </a:solidFill>
                      <a:prstDash val="solid"/>
                      <a:round/>
                      <a:headEnd type="none" w="med" len="med"/>
                      <a:tailEnd type="none" w="med" len="med"/>
                    </a:lnR>
                    <a:lnT w="12700" cap="flat" cmpd="sng" algn="ctr">
                      <a:solidFill>
                        <a:srgbClr val="4F656D"/>
                      </a:solidFill>
                      <a:prstDash val="solid"/>
                      <a:round/>
                      <a:headEnd type="none" w="med" len="med"/>
                      <a:tailEnd type="none" w="med" len="med"/>
                    </a:lnT>
                    <a:lnB w="12700" cap="flat" cmpd="sng" algn="ctr">
                      <a:solidFill>
                        <a:srgbClr val="4F656D"/>
                      </a:solidFill>
                      <a:prstDash val="solid"/>
                      <a:round/>
                      <a:headEnd type="none" w="med" len="med"/>
                      <a:tailEnd type="none" w="med" len="med"/>
                    </a:lnB>
                  </a:tcPr>
                </a:tc>
                <a:tc>
                  <a:txBody>
                    <a:bodyPr/>
                    <a:lstStyle/>
                    <a:p>
                      <a:pPr marL="0" indent="0" algn="r">
                        <a:lnSpc>
                          <a:spcPts val="1960"/>
                        </a:lnSpc>
                        <a:buNone/>
                      </a:pPr>
                      <a:r>
                        <a:rPr lang="en-US" sz="1400" dirty="0">
                          <a:solidFill>
                            <a:srgbClr val="F4F6F5"/>
                          </a:solidFill>
                          <a:latin typeface="IBM Plex Sans" pitchFamily="34" charset="0"/>
                          <a:ea typeface="IBM Plex Sans" pitchFamily="34" charset="-122"/>
                          <a:cs typeface="IBM Plex Sans" pitchFamily="34" charset="-120"/>
                        </a:rPr>
                        <a:t>≈ 0 %</a:t>
                      </a:r>
                      <a:endParaRPr lang="en-US" sz="1400" dirty="0">
                        <a:latin typeface="IBM Plex Sans" charset="0"/>
                        <a:ea typeface="IBM Plex Sans" charset="0"/>
                        <a:cs typeface="IBM Plex Sans" charset="0"/>
                      </a:endParaRPr>
                    </a:p>
                  </a:txBody>
                  <a:tcPr marL="62230" marR="62230" marT="62230" marB="62230">
                    <a:lnL w="12700" cap="flat" cmpd="sng" algn="ctr">
                      <a:solidFill>
                        <a:srgbClr val="4F656D"/>
                      </a:solidFill>
                      <a:prstDash val="solid"/>
                      <a:round/>
                      <a:headEnd type="none" w="med" len="med"/>
                      <a:tailEnd type="none" w="med" len="med"/>
                    </a:lnL>
                    <a:lnR w="12700" cap="flat" cmpd="sng" algn="ctr">
                      <a:solidFill>
                        <a:srgbClr val="4F656D"/>
                      </a:solidFill>
                      <a:prstDash val="solid"/>
                      <a:round/>
                      <a:headEnd type="none" w="med" len="med"/>
                      <a:tailEnd type="none" w="med" len="med"/>
                    </a:lnR>
                    <a:lnT w="12700" cap="flat" cmpd="sng" algn="ctr">
                      <a:solidFill>
                        <a:srgbClr val="4F656D"/>
                      </a:solidFill>
                      <a:prstDash val="solid"/>
                      <a:round/>
                      <a:headEnd type="none" w="med" len="med"/>
                      <a:tailEnd type="none" w="med" len="med"/>
                    </a:lnT>
                    <a:lnB w="12700" cap="flat" cmpd="sng" algn="ctr">
                      <a:solidFill>
                        <a:srgbClr val="4F656D"/>
                      </a:solidFill>
                      <a:prstDash val="solid"/>
                      <a:round/>
                      <a:headEnd type="none" w="med" len="med"/>
                      <a:tailEnd type="none" w="med" len="med"/>
                    </a:lnB>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F4F6F5"/>
                          </a:solidFill>
                          <a:latin typeface="IBM Plex Sans" pitchFamily="34" charset="0"/>
                          <a:ea typeface="IBM Plex Sans" pitchFamily="34" charset="-122"/>
                          <a:cs typeface="IBM Plex Sans" pitchFamily="34" charset="-120"/>
                        </a:rPr>
                        <a:t>Composants</a:t>
                      </a:r>
                      <a:endParaRPr lang="en-US" sz="1400" dirty="0">
                        <a:latin typeface="IBM Plex Sans" charset="0"/>
                        <a:ea typeface="IBM Plex Sans" charset="0"/>
                        <a:cs typeface="IBM Plex Sans" charset="0"/>
                      </a:endParaRPr>
                    </a:p>
                  </a:txBody>
                  <a:tcPr marL="62230" marR="62230" marT="62230" marB="62230">
                    <a:lnL w="12700" cap="flat" cmpd="sng" algn="ctr">
                      <a:solidFill>
                        <a:srgbClr val="4F656D"/>
                      </a:solidFill>
                      <a:prstDash val="solid"/>
                      <a:round/>
                      <a:headEnd type="none" w="med" len="med"/>
                      <a:tailEnd type="none" w="med" len="med"/>
                    </a:lnL>
                    <a:lnR w="12700" cap="flat" cmpd="sng" algn="ctr">
                      <a:solidFill>
                        <a:srgbClr val="7D5B5E"/>
                      </a:solidFill>
                      <a:prstDash val="solid"/>
                      <a:round/>
                      <a:headEnd type="none" w="med" len="med"/>
                      <a:tailEnd type="none" w="med" len="med"/>
                    </a:lnR>
                    <a:lnT w="12700" cap="flat" cmpd="sng" algn="ctr">
                      <a:solidFill>
                        <a:srgbClr val="4F656D"/>
                      </a:solidFill>
                      <a:prstDash val="solid"/>
                      <a:round/>
                      <a:headEnd type="none" w="med" len="med"/>
                      <a:tailEnd type="none" w="med" len="med"/>
                    </a:lnT>
                    <a:lnB w="12700" cap="flat" cmpd="sng" algn="ctr">
                      <a:solidFill>
                        <a:srgbClr val="7D5B5E"/>
                      </a:solidFill>
                      <a:prstDash val="solid"/>
                      <a:round/>
                      <a:headEnd type="none" w="med" len="med"/>
                      <a:tailEnd type="none" w="med" len="med"/>
                    </a:lnB>
                    <a:solidFill>
                      <a:srgbClr val="5A2E33"/>
                    </a:solidFill>
                  </a:tcPr>
                </a:tc>
                <a:tc>
                  <a:txBody>
                    <a:bodyPr/>
                    <a:lstStyle/>
                    <a:p>
                      <a:pPr marL="0" indent="0" algn="r">
                        <a:lnSpc>
                          <a:spcPts val="1960"/>
                        </a:lnSpc>
                        <a:buNone/>
                      </a:pPr>
                      <a:r>
                        <a:rPr lang="en-US" sz="1400" dirty="0">
                          <a:solidFill>
                            <a:srgbClr val="F4F6F5"/>
                          </a:solidFill>
                          <a:latin typeface="IBM Plex Sans" pitchFamily="34" charset="0"/>
                          <a:ea typeface="IBM Plex Sans" pitchFamily="34" charset="-122"/>
                          <a:cs typeface="IBM Plex Sans" pitchFamily="34" charset="-120"/>
                        </a:rPr>
                        <a:t>25,9 %</a:t>
                      </a:r>
                      <a:endParaRPr lang="en-US" sz="1400" dirty="0">
                        <a:latin typeface="IBM Plex Sans" charset="0"/>
                        <a:ea typeface="IBM Plex Sans" charset="0"/>
                        <a:cs typeface="IBM Plex Sans" charset="0"/>
                      </a:endParaRPr>
                    </a:p>
                  </a:txBody>
                  <a:tcPr marL="62230" marR="62230" marT="62230" marB="62230">
                    <a:lnL w="12700" cap="flat" cmpd="sng" algn="ctr">
                      <a:solidFill>
                        <a:srgbClr val="7D5B5E"/>
                      </a:solidFill>
                      <a:prstDash val="solid"/>
                      <a:round/>
                      <a:headEnd type="none" w="med" len="med"/>
                      <a:tailEnd type="none" w="med" len="med"/>
                    </a:lnL>
                    <a:lnR w="12700" cap="flat" cmpd="sng" algn="ctr">
                      <a:solidFill>
                        <a:srgbClr val="7D5B5E"/>
                      </a:solidFill>
                      <a:prstDash val="solid"/>
                      <a:round/>
                      <a:headEnd type="none" w="med" len="med"/>
                      <a:tailEnd type="none" w="med" len="med"/>
                    </a:lnR>
                    <a:lnT w="12700" cap="flat" cmpd="sng" algn="ctr">
                      <a:solidFill>
                        <a:srgbClr val="4F656D"/>
                      </a:solidFill>
                      <a:prstDash val="solid"/>
                      <a:round/>
                      <a:headEnd type="none" w="med" len="med"/>
                      <a:tailEnd type="none" w="med" len="med"/>
                    </a:lnT>
                    <a:lnB w="12700" cap="flat" cmpd="sng" algn="ctr">
                      <a:solidFill>
                        <a:srgbClr val="7D5B5E"/>
                      </a:solidFill>
                      <a:prstDash val="solid"/>
                      <a:round/>
                      <a:headEnd type="none" w="med" len="med"/>
                      <a:tailEnd type="none" w="med" len="med"/>
                    </a:lnB>
                    <a:solidFill>
                      <a:srgbClr val="5A2E33"/>
                    </a:solidFill>
                  </a:tcPr>
                </a:tc>
                <a:tc>
                  <a:txBody>
                    <a:bodyPr/>
                    <a:lstStyle/>
                    <a:p>
                      <a:pPr marL="0" indent="0" algn="r">
                        <a:lnSpc>
                          <a:spcPts val="1960"/>
                        </a:lnSpc>
                        <a:buNone/>
                      </a:pPr>
                      <a:r>
                        <a:rPr lang="en-US" sz="1400" dirty="0">
                          <a:solidFill>
                            <a:srgbClr val="F4F6F5"/>
                          </a:solidFill>
                          <a:latin typeface="IBM Plex Sans" pitchFamily="34" charset="0"/>
                          <a:ea typeface="IBM Plex Sans" pitchFamily="34" charset="-122"/>
                          <a:cs typeface="IBM Plex Sans" pitchFamily="34" charset="-120"/>
                        </a:rPr>
                        <a:t>−29,8 %</a:t>
                      </a:r>
                      <a:endParaRPr lang="en-US" sz="1400" dirty="0">
                        <a:latin typeface="IBM Plex Sans" charset="0"/>
                        <a:ea typeface="IBM Plex Sans" charset="0"/>
                        <a:cs typeface="IBM Plex Sans" charset="0"/>
                      </a:endParaRPr>
                    </a:p>
                  </a:txBody>
                  <a:tcPr marL="62230" marR="62230" marT="62230" marB="62230">
                    <a:lnL w="12700" cap="flat" cmpd="sng" algn="ctr">
                      <a:solidFill>
                        <a:srgbClr val="7D5B5E"/>
                      </a:solidFill>
                      <a:prstDash val="solid"/>
                      <a:round/>
                      <a:headEnd type="none" w="med" len="med"/>
                      <a:tailEnd type="none" w="med" len="med"/>
                    </a:lnL>
                    <a:lnR w="12700" cap="flat" cmpd="sng" algn="ctr">
                      <a:solidFill>
                        <a:srgbClr val="7D5B5E"/>
                      </a:solidFill>
                      <a:prstDash val="solid"/>
                      <a:round/>
                      <a:headEnd type="none" w="med" len="med"/>
                      <a:tailEnd type="none" w="med" len="med"/>
                    </a:lnR>
                    <a:lnT w="12700" cap="flat" cmpd="sng" algn="ctr">
                      <a:solidFill>
                        <a:srgbClr val="4F656D"/>
                      </a:solidFill>
                      <a:prstDash val="solid"/>
                      <a:round/>
                      <a:headEnd type="none" w="med" len="med"/>
                      <a:tailEnd type="none" w="med" len="med"/>
                    </a:lnT>
                    <a:lnB w="12700" cap="flat" cmpd="sng" algn="ctr">
                      <a:solidFill>
                        <a:srgbClr val="7D5B5E"/>
                      </a:solidFill>
                      <a:prstDash val="solid"/>
                      <a:round/>
                      <a:headEnd type="none" w="med" len="med"/>
                      <a:tailEnd type="none" w="med" len="med"/>
                    </a:lnB>
                    <a:solidFill>
                      <a:srgbClr val="5A2E33"/>
                    </a:solidFill>
                  </a:tcPr>
                </a:tc>
                <a:tc>
                  <a:txBody>
                    <a:bodyPr/>
                    <a:lstStyle/>
                    <a:p>
                      <a:pPr marL="0" indent="0" algn="r">
                        <a:lnSpc>
                          <a:spcPts val="1960"/>
                        </a:lnSpc>
                        <a:buNone/>
                      </a:pPr>
                      <a:r>
                        <a:rPr lang="en-US" sz="1400" dirty="0">
                          <a:solidFill>
                            <a:srgbClr val="F4F6F5"/>
                          </a:solidFill>
                          <a:latin typeface="IBM Plex Sans" pitchFamily="34" charset="0"/>
                          <a:ea typeface="IBM Plex Sans" pitchFamily="34" charset="-122"/>
                          <a:cs typeface="IBM Plex Sans" pitchFamily="34" charset="-120"/>
                        </a:rPr>
                        <a:t>+75 %</a:t>
                      </a:r>
                      <a:endParaRPr lang="en-US" sz="1400" dirty="0">
                        <a:latin typeface="IBM Plex Sans" charset="0"/>
                        <a:ea typeface="IBM Plex Sans" charset="0"/>
                        <a:cs typeface="IBM Plex Sans" charset="0"/>
                      </a:endParaRPr>
                    </a:p>
                  </a:txBody>
                  <a:tcPr marL="62230" marR="62230" marT="62230" marB="62230">
                    <a:lnL w="12700" cap="flat" cmpd="sng" algn="ctr">
                      <a:solidFill>
                        <a:srgbClr val="7D5B5E"/>
                      </a:solidFill>
                      <a:prstDash val="solid"/>
                      <a:round/>
                      <a:headEnd type="none" w="med" len="med"/>
                      <a:tailEnd type="none" w="med" len="med"/>
                    </a:lnL>
                    <a:lnR w="12700" cap="flat" cmpd="sng" algn="ctr">
                      <a:solidFill>
                        <a:srgbClr val="7D5B5E"/>
                      </a:solidFill>
                      <a:prstDash val="solid"/>
                      <a:round/>
                      <a:headEnd type="none" w="med" len="med"/>
                      <a:tailEnd type="none" w="med" len="med"/>
                    </a:lnR>
                    <a:lnT w="12700" cap="flat" cmpd="sng" algn="ctr">
                      <a:solidFill>
                        <a:srgbClr val="4F656D"/>
                      </a:solidFill>
                      <a:prstDash val="solid"/>
                      <a:round/>
                      <a:headEnd type="none" w="med" len="med"/>
                      <a:tailEnd type="none" w="med" len="med"/>
                    </a:lnT>
                    <a:lnB w="12700" cap="flat" cmpd="sng" algn="ctr">
                      <a:solidFill>
                        <a:srgbClr val="7D5B5E"/>
                      </a:solidFill>
                      <a:prstDash val="solid"/>
                      <a:round/>
                      <a:headEnd type="none" w="med" len="med"/>
                      <a:tailEnd type="none" w="med" len="med"/>
                    </a:lnB>
                    <a:solidFill>
                      <a:srgbClr val="5A2E33"/>
                    </a:solidFill>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F4F6F5"/>
                          </a:solidFill>
                          <a:latin typeface="IBM Plex Sans" pitchFamily="34" charset="0"/>
                          <a:ea typeface="IBM Plex Sans" pitchFamily="34" charset="-122"/>
                          <a:cs typeface="IBM Plex Sans" pitchFamily="34" charset="-120"/>
                        </a:rPr>
                        <a:t>Total</a:t>
                      </a:r>
                      <a:endParaRPr lang="en-US" sz="1400" dirty="0">
                        <a:latin typeface="IBM Plex Sans" charset="0"/>
                        <a:ea typeface="IBM Plex Sans" charset="0"/>
                        <a:cs typeface="IBM Plex Sans" charset="0"/>
                      </a:endParaRPr>
                    </a:p>
                  </a:txBody>
                  <a:tcPr marL="62230" marR="62230" marT="62230" marB="62230">
                    <a:lnL w="12700" cap="flat" cmpd="sng" algn="ctr">
                      <a:solidFill>
                        <a:srgbClr val="4F656D"/>
                      </a:solidFill>
                      <a:prstDash val="solid"/>
                      <a:round/>
                      <a:headEnd type="none" w="med" len="med"/>
                      <a:tailEnd type="none" w="med" len="med"/>
                    </a:lnL>
                    <a:lnR w="12700" cap="flat" cmpd="sng" algn="ctr">
                      <a:solidFill>
                        <a:srgbClr val="56707C"/>
                      </a:solidFill>
                      <a:prstDash val="solid"/>
                      <a:round/>
                      <a:headEnd type="none" w="med" len="med"/>
                      <a:tailEnd type="none" w="med" len="med"/>
                    </a:lnR>
                    <a:lnT w="12700" cap="flat" cmpd="sng" algn="ctr">
                      <a:solidFill>
                        <a:srgbClr val="7D5B5E"/>
                      </a:solidFill>
                      <a:prstDash val="solid"/>
                      <a:round/>
                      <a:headEnd type="none" w="med" len="med"/>
                      <a:tailEnd type="none" w="med" len="med"/>
                    </a:lnT>
                    <a:lnB w="12700" cap="flat" cmpd="sng" algn="ctr">
                      <a:solidFill>
                        <a:srgbClr val="56707C"/>
                      </a:solidFill>
                      <a:prstDash val="solid"/>
                      <a:round/>
                      <a:headEnd type="none" w="med" len="med"/>
                      <a:tailEnd type="none" w="med" len="med"/>
                    </a:lnB>
                    <a:solidFill>
                      <a:srgbClr val="28495A"/>
                    </a:solidFill>
                  </a:tcPr>
                </a:tc>
                <a:tc>
                  <a:txBody>
                    <a:bodyPr/>
                    <a:lstStyle/>
                    <a:p>
                      <a:pPr marL="0" indent="0" algn="r">
                        <a:lnSpc>
                          <a:spcPts val="1960"/>
                        </a:lnSpc>
                        <a:buNone/>
                      </a:pPr>
                      <a:r>
                        <a:rPr lang="en-US" sz="1400" dirty="0">
                          <a:solidFill>
                            <a:srgbClr val="F4F6F5"/>
                          </a:solidFill>
                          <a:latin typeface="IBM Plex Sans" pitchFamily="34" charset="0"/>
                          <a:ea typeface="IBM Plex Sans" pitchFamily="34" charset="-122"/>
                          <a:cs typeface="IBM Plex Sans" pitchFamily="34" charset="-120"/>
                        </a:rPr>
                        <a:t>27,7 %</a:t>
                      </a:r>
                      <a:endParaRPr lang="en-US" sz="1400" dirty="0">
                        <a:latin typeface="IBM Plex Sans" charset="0"/>
                        <a:ea typeface="IBM Plex Sans" charset="0"/>
                        <a:cs typeface="IBM Plex Sans" charset="0"/>
                      </a:endParaRPr>
                    </a:p>
                  </a:txBody>
                  <a:tcPr marL="62230" marR="62230" marT="62230" marB="62230">
                    <a:lnL w="12700" cap="flat" cmpd="sng" algn="ctr">
                      <a:solidFill>
                        <a:srgbClr val="56707C"/>
                      </a:solidFill>
                      <a:prstDash val="solid"/>
                      <a:round/>
                      <a:headEnd type="none" w="med" len="med"/>
                      <a:tailEnd type="none" w="med" len="med"/>
                    </a:lnL>
                    <a:lnR w="12700" cap="flat" cmpd="sng" algn="ctr">
                      <a:solidFill>
                        <a:srgbClr val="56707C"/>
                      </a:solidFill>
                      <a:prstDash val="solid"/>
                      <a:round/>
                      <a:headEnd type="none" w="med" len="med"/>
                      <a:tailEnd type="none" w="med" len="med"/>
                    </a:lnR>
                    <a:lnT w="12700" cap="flat" cmpd="sng" algn="ctr">
                      <a:solidFill>
                        <a:srgbClr val="7D5B5E"/>
                      </a:solidFill>
                      <a:prstDash val="solid"/>
                      <a:round/>
                      <a:headEnd type="none" w="med" len="med"/>
                      <a:tailEnd type="none" w="med" len="med"/>
                    </a:lnT>
                    <a:lnB w="12700" cap="flat" cmpd="sng" algn="ctr">
                      <a:solidFill>
                        <a:srgbClr val="56707C"/>
                      </a:solidFill>
                      <a:prstDash val="solid"/>
                      <a:round/>
                      <a:headEnd type="none" w="med" len="med"/>
                      <a:tailEnd type="none" w="med" len="med"/>
                    </a:lnB>
                    <a:solidFill>
                      <a:srgbClr val="28495A"/>
                    </a:solidFill>
                  </a:tcPr>
                </a:tc>
                <a:tc>
                  <a:txBody>
                    <a:bodyPr/>
                    <a:lstStyle/>
                    <a:p>
                      <a:pPr marL="0" indent="0" algn="r">
                        <a:lnSpc>
                          <a:spcPts val="1960"/>
                        </a:lnSpc>
                        <a:buNone/>
                      </a:pPr>
                      <a:r>
                        <a:rPr lang="en-US" sz="1400" dirty="0">
                          <a:solidFill>
                            <a:srgbClr val="F4F6F5"/>
                          </a:solidFill>
                          <a:latin typeface="IBM Plex Sans" pitchFamily="34" charset="0"/>
                          <a:ea typeface="IBM Plex Sans" pitchFamily="34" charset="-122"/>
                          <a:cs typeface="IBM Plex Sans" pitchFamily="34" charset="-120"/>
                        </a:rPr>
                        <a:t>18,3 %</a:t>
                      </a:r>
                      <a:endParaRPr lang="en-US" sz="1400" dirty="0">
                        <a:latin typeface="IBM Plex Sans" charset="0"/>
                        <a:ea typeface="IBM Plex Sans" charset="0"/>
                        <a:cs typeface="IBM Plex Sans" charset="0"/>
                      </a:endParaRPr>
                    </a:p>
                  </a:txBody>
                  <a:tcPr marL="62230" marR="62230" marT="62230" marB="62230">
                    <a:lnL w="12700" cap="flat" cmpd="sng" algn="ctr">
                      <a:solidFill>
                        <a:srgbClr val="56707C"/>
                      </a:solidFill>
                      <a:prstDash val="solid"/>
                      <a:round/>
                      <a:headEnd type="none" w="med" len="med"/>
                      <a:tailEnd type="none" w="med" len="med"/>
                    </a:lnL>
                    <a:lnR w="12700" cap="flat" cmpd="sng" algn="ctr">
                      <a:solidFill>
                        <a:srgbClr val="56707C"/>
                      </a:solidFill>
                      <a:prstDash val="solid"/>
                      <a:round/>
                      <a:headEnd type="none" w="med" len="med"/>
                      <a:tailEnd type="none" w="med" len="med"/>
                    </a:lnR>
                    <a:lnT w="12700" cap="flat" cmpd="sng" algn="ctr">
                      <a:solidFill>
                        <a:srgbClr val="7D5B5E"/>
                      </a:solidFill>
                      <a:prstDash val="solid"/>
                      <a:round/>
                      <a:headEnd type="none" w="med" len="med"/>
                      <a:tailEnd type="none" w="med" len="med"/>
                    </a:lnT>
                    <a:lnB w="12700" cap="flat" cmpd="sng" algn="ctr">
                      <a:solidFill>
                        <a:srgbClr val="56707C"/>
                      </a:solidFill>
                      <a:prstDash val="solid"/>
                      <a:round/>
                      <a:headEnd type="none" w="med" len="med"/>
                      <a:tailEnd type="none" w="med" len="med"/>
                    </a:lnB>
                    <a:solidFill>
                      <a:srgbClr val="28495A"/>
                    </a:solidFill>
                  </a:tcPr>
                </a:tc>
                <a:tc>
                  <a:txBody>
                    <a:bodyPr/>
                    <a:lstStyle/>
                    <a:p>
                      <a:pPr marL="0" indent="0" algn="r">
                        <a:lnSpc>
                          <a:spcPts val="1960"/>
                        </a:lnSpc>
                        <a:buNone/>
                      </a:pPr>
                      <a:endParaRPr lang="en-US" sz="1400" dirty="0">
                        <a:latin typeface="IBM Plex Sans" charset="0"/>
                        <a:ea typeface="IBM Plex Sans" charset="0"/>
                        <a:cs typeface="IBM Plex Sans" charset="0"/>
                      </a:endParaRPr>
                    </a:p>
                  </a:txBody>
                  <a:tcPr marL="62230" marR="62230" marT="62230" marB="62230">
                    <a:lnL w="12700" cap="flat" cmpd="sng" algn="ctr">
                      <a:solidFill>
                        <a:srgbClr val="56707C"/>
                      </a:solidFill>
                      <a:prstDash val="solid"/>
                      <a:round/>
                      <a:headEnd type="none" w="med" len="med"/>
                      <a:tailEnd type="none" w="med" len="med"/>
                    </a:lnL>
                    <a:lnR w="12700" cap="flat" cmpd="sng" algn="ctr">
                      <a:solidFill>
                        <a:srgbClr val="56707C"/>
                      </a:solidFill>
                      <a:prstDash val="solid"/>
                      <a:round/>
                      <a:headEnd type="none" w="med" len="med"/>
                      <a:tailEnd type="none" w="med" len="med"/>
                    </a:lnR>
                    <a:lnT w="12700" cap="flat" cmpd="sng" algn="ctr">
                      <a:solidFill>
                        <a:srgbClr val="7D5B5E"/>
                      </a:solidFill>
                      <a:prstDash val="solid"/>
                      <a:round/>
                      <a:headEnd type="none" w="med" len="med"/>
                      <a:tailEnd type="none" w="med" len="med"/>
                    </a:lnT>
                    <a:lnB w="12700" cap="flat" cmpd="sng" algn="ctr">
                      <a:solidFill>
                        <a:srgbClr val="56707C"/>
                      </a:solidFill>
                      <a:prstDash val="solid"/>
                      <a:round/>
                      <a:headEnd type="none" w="med" len="med"/>
                      <a:tailEnd type="none" w="med" len="med"/>
                    </a:lnB>
                    <a:solidFill>
                      <a:srgbClr val="28495A"/>
                    </a:solidFill>
                  </a:tcPr>
                </a:tc>
                <a:extLst>
                  <a:ext uri="{0D108BD9-81ED-4DB2-BD59-A6C34878D82A}">
                    <a16:rowId xmlns:a16="http://schemas.microsoft.com/office/drawing/2014/main" val="10004"/>
                  </a:ext>
                </a:extLst>
              </a:tr>
            </a:tbl>
          </a:graphicData>
        </a:graphic>
      </p:graphicFrame>
      <p:sp>
        <p:nvSpPr>
          <p:cNvPr id="5" name="Text 2"/>
          <p:cNvSpPr/>
          <p:nvPr/>
        </p:nvSpPr>
        <p:spPr>
          <a:xfrm>
            <a:off x="812800" y="4218484"/>
            <a:ext cx="6278880" cy="452041"/>
          </a:xfrm>
          <a:prstGeom prst="rect">
            <a:avLst/>
          </a:prstGeom>
          <a:noFill/>
          <a:ln/>
        </p:spPr>
        <p:txBody>
          <a:bodyPr wrap="square" lIns="0" tIns="0" rIns="0" bIns="0" rtlCol="0" anchor="t">
            <a:normAutofit/>
          </a:bodyPr>
          <a:lstStyle/>
          <a:p>
            <a:r>
              <a:rPr lang="fr-FR" sz="1200" dirty="0">
                <a:solidFill>
                  <a:schemeClr val="bg1"/>
                </a:solidFill>
              </a:rPr>
              <a:t>76 produits achetés puis revendus. Écart calculé sur les ventes.</a:t>
            </a:r>
            <a:endParaRPr lang="en-US" sz="1200" dirty="0">
              <a:solidFill>
                <a:schemeClr val="bg1"/>
              </a:solidFill>
            </a:endParaRPr>
          </a:p>
        </p:txBody>
      </p:sp>
      <p:sp>
        <p:nvSpPr>
          <p:cNvPr id="6" name="Text 3"/>
          <p:cNvSpPr/>
          <p:nvPr/>
        </p:nvSpPr>
        <p:spPr>
          <a:xfrm>
            <a:off x="7315200" y="2157462"/>
            <a:ext cx="4185920"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7DBE9A"/>
                </a:solidFill>
                <a:latin typeface="Rubik" pitchFamily="34" charset="0"/>
                <a:ea typeface="Rubik" pitchFamily="34" charset="-122"/>
                <a:cs typeface="Rubik" pitchFamily="34" charset="-120"/>
              </a:rPr>
              <a:t>−9,4 </a:t>
            </a:r>
            <a:r>
              <a:rPr lang="fr-FR" sz="8000" b="1" dirty="0">
                <a:solidFill>
                  <a:srgbClr val="7DBE9A"/>
                </a:solidFill>
                <a:latin typeface="Rubik" pitchFamily="34" charset="0"/>
                <a:ea typeface="Rubik" pitchFamily="34" charset="-122"/>
                <a:cs typeface="Rubik" pitchFamily="34" charset="-120"/>
              </a:rPr>
              <a:t>pts</a:t>
            </a:r>
            <a:endParaRPr lang="en-US" sz="8000" dirty="0"/>
          </a:p>
        </p:txBody>
      </p:sp>
      <p:sp>
        <p:nvSpPr>
          <p:cNvPr id="7" name="Text 4"/>
          <p:cNvSpPr/>
          <p:nvPr/>
        </p:nvSpPr>
        <p:spPr>
          <a:xfrm>
            <a:off x="7315200" y="3275062"/>
            <a:ext cx="4185920" cy="5739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4F6F5"/>
                </a:solidFill>
                <a:latin typeface="IBM Plex Sans" pitchFamily="34" charset="0"/>
                <a:ea typeface="IBM Plex Sans" pitchFamily="34" charset="-122"/>
                <a:cs typeface="IBM Plex Sans" pitchFamily="34" charset="-120"/>
              </a:rPr>
              <a:t>points de marge perdus quand on remplace le coût standard par le prix d'achat réel</a:t>
            </a:r>
            <a:endParaRPr lang="en-US" sz="1600" dirty="0"/>
          </a:p>
        </p:txBody>
      </p:sp>
      <p:sp>
        <p:nvSpPr>
          <p:cNvPr id="8" name="Text 5"/>
          <p:cNvSpPr/>
          <p:nvPr/>
        </p:nvSpPr>
        <p:spPr>
          <a:xfrm>
            <a:off x="7315200" y="3925243"/>
            <a:ext cx="4185920"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D8D5"/>
                </a:solidFill>
                <a:latin typeface="IBM Plex Sans" pitchFamily="34" charset="0"/>
                <a:ea typeface="IBM Plex Sans" pitchFamily="34" charset="-122"/>
                <a:cs typeface="IBM Plex Sans" pitchFamily="34" charset="-120"/>
              </a:rPr>
              <a:t>L'écart se creuse : −10,4 pts en 2024, −14,2 pts au 1er semestre 2025</a:t>
            </a:r>
            <a:endParaRPr lang="en-US" sz="1300" dirty="0"/>
          </a:p>
        </p:txBody>
      </p:sp>
      <p:sp>
        <p:nvSpPr>
          <p:cNvPr id="9" name="Text 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8D5"/>
                </a:solidFill>
                <a:latin typeface="IBM Plex Sans" pitchFamily="34" charset="0"/>
                <a:ea typeface="IBM Plex Sans" pitchFamily="34" charset="-122"/>
                <a:cs typeface="IBM Plex Sans" pitchFamily="34" charset="-120"/>
              </a:rPr>
              <a:t>AdventureWorks · Résultats</a:t>
            </a:r>
            <a:endParaRPr lang="en-US" sz="1200" dirty="0"/>
          </a:p>
        </p:txBody>
      </p:sp>
      <p:sp>
        <p:nvSpPr>
          <p:cNvPr id="10" name="Text 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FD8D5"/>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D6E"/>
                </a:solidFill>
                <a:latin typeface="IBM Plex Sans" pitchFamily="34" charset="0"/>
                <a:ea typeface="IBM Plex Sans" pitchFamily="34" charset="-122"/>
                <a:cs typeface="IBM Plex Sans" pitchFamily="34" charset="-120"/>
              </a:rPr>
              <a:t>RÉPONSE À LA PROBLÉMATIQUE</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F2A2E"/>
                </a:solidFill>
                <a:latin typeface="Rubik" pitchFamily="34" charset="0"/>
                <a:ea typeface="Rubik" pitchFamily="34" charset="-122"/>
                <a:cs typeface="Rubik" pitchFamily="34" charset="-120"/>
              </a:rPr>
              <a:t>Ce qui pèse vraiment sur la marge</a:t>
            </a:r>
            <a:endParaRPr lang="en-US" sz="3200" dirty="0"/>
          </a:p>
        </p:txBody>
      </p:sp>
      <p:sp>
        <p:nvSpPr>
          <p:cNvPr id="4" name="Text 2"/>
          <p:cNvSpPr/>
          <p:nvPr/>
        </p:nvSpPr>
        <p:spPr>
          <a:xfrm>
            <a:off x="812800" y="1899841"/>
            <a:ext cx="55880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2F5D6E"/>
                </a:solidFill>
                <a:latin typeface="Rubik" pitchFamily="34" charset="0"/>
                <a:ea typeface="Rubik" pitchFamily="34" charset="-122"/>
                <a:cs typeface="Rubik" pitchFamily="34" charset="-120"/>
              </a:rPr>
              <a:t>1</a:t>
            </a:r>
            <a:endParaRPr lang="en-US" sz="3200" dirty="0"/>
          </a:p>
        </p:txBody>
      </p:sp>
      <p:sp>
        <p:nvSpPr>
          <p:cNvPr id="5" name="Text 3"/>
          <p:cNvSpPr/>
          <p:nvPr/>
        </p:nvSpPr>
        <p:spPr>
          <a:xfrm>
            <a:off x="1574800" y="1899841"/>
            <a:ext cx="1009853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A2E"/>
                </a:solidFill>
                <a:latin typeface="Rubik" pitchFamily="34" charset="0"/>
                <a:ea typeface="Rubik" pitchFamily="34" charset="-122"/>
                <a:cs typeface="Rubik" pitchFamily="34" charset="-120"/>
              </a:rPr>
              <a:t>Fournisseurs → marge : le levier est le prix d'achat</a:t>
            </a:r>
            <a:endParaRPr lang="en-US" sz="1800" dirty="0"/>
          </a:p>
        </p:txBody>
      </p:sp>
      <p:sp>
        <p:nvSpPr>
          <p:cNvPr id="6" name="Text 4"/>
          <p:cNvSpPr/>
          <p:nvPr/>
        </p:nvSpPr>
        <p:spPr>
          <a:xfrm>
            <a:off x="1574800" y="2224931"/>
            <a:ext cx="1009853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1"/>
                </a:solidFill>
                <a:latin typeface="IBM Plex Sans" pitchFamily="34" charset="0"/>
                <a:ea typeface="IBM Plex Sans" pitchFamily="34" charset="-122"/>
                <a:cs typeface="IBM Plex Sans" pitchFamily="34" charset="-120"/>
              </a:rPr>
              <a:t>Sur les produits revendus, le prix réel fait perdre 9,4 points de marge (14,2 au 1er semestre 2025) ; les composants passent en vente à perte.</a:t>
            </a:r>
            <a:endParaRPr lang="en-US" sz="1400" dirty="0"/>
          </a:p>
        </p:txBody>
      </p:sp>
      <p:sp>
        <p:nvSpPr>
          <p:cNvPr id="7" name="Text 5"/>
          <p:cNvSpPr/>
          <p:nvPr/>
        </p:nvSpPr>
        <p:spPr>
          <a:xfrm>
            <a:off x="812800" y="2951311"/>
            <a:ext cx="55880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2F5D6E"/>
                </a:solidFill>
                <a:latin typeface="Rubik" pitchFamily="34" charset="0"/>
                <a:ea typeface="Rubik" pitchFamily="34" charset="-122"/>
                <a:cs typeface="Rubik" pitchFamily="34" charset="-120"/>
              </a:rPr>
              <a:t>2</a:t>
            </a:r>
            <a:endParaRPr lang="en-US" sz="3200" dirty="0"/>
          </a:p>
        </p:txBody>
      </p:sp>
      <p:sp>
        <p:nvSpPr>
          <p:cNvPr id="8" name="Text 6"/>
          <p:cNvSpPr/>
          <p:nvPr/>
        </p:nvSpPr>
        <p:spPr>
          <a:xfrm>
            <a:off x="1574800" y="2951311"/>
            <a:ext cx="1009853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A2E"/>
                </a:solidFill>
                <a:latin typeface="Rubik" pitchFamily="34" charset="0"/>
                <a:ea typeface="Rubik" pitchFamily="34" charset="-122"/>
                <a:cs typeface="Rubik" pitchFamily="34" charset="-120"/>
              </a:rPr>
              <a:t>Stock → marge : du capital immobilisé</a:t>
            </a:r>
            <a:endParaRPr lang="en-US" sz="1800" dirty="0"/>
          </a:p>
        </p:txBody>
      </p:sp>
      <p:sp>
        <p:nvSpPr>
          <p:cNvPr id="9" name="Text 7"/>
          <p:cNvSpPr/>
          <p:nvPr/>
        </p:nvSpPr>
        <p:spPr>
          <a:xfrm>
            <a:off x="1574800" y="3276402"/>
            <a:ext cx="10098532" cy="523180"/>
          </a:xfrm>
          <a:prstGeom prst="rect">
            <a:avLst/>
          </a:prstGeom>
          <a:noFill/>
          <a:ln/>
        </p:spPr>
        <p:txBody>
          <a:bodyPr wrap="square" lIns="0" tIns="0" rIns="0" bIns="0" rtlCol="0" anchor="t">
            <a:normAutofit/>
          </a:bodyPr>
          <a:lstStyle/>
          <a:p>
            <a:r>
              <a:rPr lang="en-US" sz="1400" dirty="0">
                <a:solidFill>
                  <a:srgbClr val="4A5A61"/>
                </a:solidFill>
                <a:latin typeface="IBM Plex Sans" pitchFamily="34" charset="0"/>
                <a:ea typeface="IBM Plex Sans" pitchFamily="34" charset="-122"/>
                <a:cs typeface="IBM Plex Sans" pitchFamily="34" charset="-120"/>
              </a:rPr>
              <a:t>20,1 M€ en stock, 225 jours de couverture. Les </a:t>
            </a:r>
            <a:r>
              <a:rPr lang="en-US" sz="1400" dirty="0" err="1">
                <a:solidFill>
                  <a:srgbClr val="4A5A61"/>
                </a:solidFill>
                <a:latin typeface="IBM Plex Sans" pitchFamily="34" charset="0"/>
                <a:ea typeface="IBM Plex Sans" pitchFamily="34" charset="-122"/>
                <a:cs typeface="IBM Plex Sans" pitchFamily="34" charset="-120"/>
              </a:rPr>
              <a:t>composants</a:t>
            </a:r>
            <a:r>
              <a:rPr lang="en-US" sz="1400" dirty="0">
                <a:solidFill>
                  <a:srgbClr val="4A5A61"/>
                </a:solidFill>
                <a:latin typeface="IBM Plex Sans" pitchFamily="34" charset="0"/>
                <a:ea typeface="IBM Plex Sans" pitchFamily="34" charset="-122"/>
                <a:cs typeface="IBM Plex Sans" pitchFamily="34" charset="-120"/>
              </a:rPr>
              <a:t> </a:t>
            </a:r>
            <a:r>
              <a:rPr lang="en-US" sz="1400" dirty="0" err="1">
                <a:solidFill>
                  <a:srgbClr val="4A5A61"/>
                </a:solidFill>
                <a:latin typeface="IBM Plex Sans" pitchFamily="34" charset="0"/>
              </a:rPr>
              <a:t>cumulent</a:t>
            </a:r>
            <a:r>
              <a:rPr lang="en-US" sz="1400" dirty="0">
                <a:solidFill>
                  <a:srgbClr val="4A5A61"/>
                </a:solidFill>
                <a:latin typeface="IBM Plex Sans" pitchFamily="34" charset="0"/>
              </a:rPr>
              <a:t> </a:t>
            </a:r>
            <a:r>
              <a:rPr lang="fr-FR" sz="1400" dirty="0">
                <a:solidFill>
                  <a:srgbClr val="4A5A61"/>
                </a:solidFill>
                <a:latin typeface="IBM Plex Sans" pitchFamily="34" charset="0"/>
              </a:rPr>
              <a:t>la couverture la plus longue (436 j)</a:t>
            </a:r>
            <a:r>
              <a:rPr lang="en-US" sz="1400" dirty="0">
                <a:solidFill>
                  <a:srgbClr val="4A5A61"/>
                </a:solidFill>
                <a:latin typeface="IBM Plex Sans" pitchFamily="34" charset="0"/>
              </a:rPr>
              <a:t>et </a:t>
            </a:r>
            <a:r>
              <a:rPr lang="en-US" sz="1400" dirty="0">
                <a:solidFill>
                  <a:srgbClr val="4A5A61"/>
                </a:solidFill>
                <a:latin typeface="IBM Plex Sans" pitchFamily="34" charset="0"/>
                <a:ea typeface="IBM Plex Sans" pitchFamily="34" charset="-122"/>
                <a:cs typeface="IBM Plex Sans" pitchFamily="34" charset="-120"/>
              </a:rPr>
              <a:t>la marge la plus faible (4,2 %).</a:t>
            </a:r>
            <a:endParaRPr lang="en-US" sz="1400" dirty="0"/>
          </a:p>
        </p:txBody>
      </p:sp>
      <p:sp>
        <p:nvSpPr>
          <p:cNvPr id="10" name="Text 8"/>
          <p:cNvSpPr/>
          <p:nvPr/>
        </p:nvSpPr>
        <p:spPr>
          <a:xfrm>
            <a:off x="812800" y="4002782"/>
            <a:ext cx="55880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2F5D6E"/>
                </a:solidFill>
                <a:latin typeface="Rubik" pitchFamily="34" charset="0"/>
                <a:ea typeface="Rubik" pitchFamily="34" charset="-122"/>
                <a:cs typeface="Rubik" pitchFamily="34" charset="-120"/>
              </a:rPr>
              <a:t>3</a:t>
            </a:r>
            <a:endParaRPr lang="en-US" sz="3200" dirty="0"/>
          </a:p>
        </p:txBody>
      </p:sp>
      <p:sp>
        <p:nvSpPr>
          <p:cNvPr id="11" name="Text 9"/>
          <p:cNvSpPr/>
          <p:nvPr/>
        </p:nvSpPr>
        <p:spPr>
          <a:xfrm>
            <a:off x="1574800" y="4002782"/>
            <a:ext cx="1009853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A2E"/>
                </a:solidFill>
                <a:latin typeface="Rubik" pitchFamily="34" charset="0"/>
                <a:ea typeface="Rubik" pitchFamily="34" charset="-122"/>
                <a:cs typeface="Rubik" pitchFamily="34" charset="-120"/>
              </a:rPr>
              <a:t>Le délai n'est pas le facteur limitant</a:t>
            </a:r>
            <a:endParaRPr lang="en-US" sz="1800" dirty="0"/>
          </a:p>
        </p:txBody>
      </p:sp>
      <p:sp>
        <p:nvSpPr>
          <p:cNvPr id="12" name="Text 10"/>
          <p:cNvSpPr/>
          <p:nvPr/>
        </p:nvSpPr>
        <p:spPr>
          <a:xfrm>
            <a:off x="1574800" y="4327872"/>
            <a:ext cx="1009853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1"/>
                </a:solidFill>
                <a:latin typeface="IBM Plex Sans" pitchFamily="34" charset="0"/>
                <a:ea typeface="IBM Plex Sans" pitchFamily="34" charset="-122"/>
                <a:cs typeface="IBM Plex Sans" pitchFamily="34" charset="-120"/>
              </a:rPr>
              <a:t>Délais homogènes (9 jours). Le risque est la qualité : 3,1 % de rejet en moyenne, 3,4 % pour les « Gros volumes », qui forment tout le top 10.</a:t>
            </a:r>
            <a:endParaRPr lang="en-US" sz="14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3"/>
                </a:solidFill>
                <a:latin typeface="IBM Plex Sans" pitchFamily="34" charset="0"/>
                <a:ea typeface="IBM Plex Sans" pitchFamily="34" charset="-122"/>
                <a:cs typeface="IBM Plex Sans" pitchFamily="34" charset="-120"/>
              </a:rPr>
              <a:t>AdventureWorks · Conclusions</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B73"/>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D6E"/>
                </a:solidFill>
                <a:latin typeface="IBM Plex Sans" pitchFamily="34" charset="0"/>
                <a:ea typeface="IBM Plex Sans" pitchFamily="34" charset="-122"/>
                <a:cs typeface="IBM Plex Sans" pitchFamily="34" charset="-120"/>
              </a:rPr>
              <a:t>RECOMMANDATIONS</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F2A2E"/>
                </a:solidFill>
                <a:latin typeface="Rubik" pitchFamily="34" charset="0"/>
                <a:ea typeface="Rubik" pitchFamily="34" charset="-122"/>
                <a:cs typeface="Rubik" pitchFamily="34" charset="-120"/>
              </a:rPr>
              <a:t>Quatre actions prioritaires</a:t>
            </a:r>
            <a:endParaRPr lang="en-US" sz="3200" dirty="0"/>
          </a:p>
        </p:txBody>
      </p:sp>
      <p:sp>
        <p:nvSpPr>
          <p:cNvPr id="4" name="Shape 2"/>
          <p:cNvSpPr/>
          <p:nvPr/>
        </p:nvSpPr>
        <p:spPr>
          <a:xfrm>
            <a:off x="812800" y="1899841"/>
            <a:ext cx="10566400" cy="2944664"/>
          </a:xfrm>
          <a:prstGeom prst="roundRect">
            <a:avLst>
              <a:gd name="adj" fmla="val 2588"/>
            </a:avLst>
          </a:prstGeom>
          <a:solidFill>
            <a:srgbClr val="FBFCFB"/>
          </a:solidFill>
          <a:ln/>
        </p:spPr>
        <p:txBody>
          <a:bodyPr/>
          <a:lstStyle/>
          <a:p>
            <a:endParaRPr lang="fr-FR"/>
          </a:p>
        </p:txBody>
      </p:sp>
      <p:sp>
        <p:nvSpPr>
          <p:cNvPr id="5" name="Shape 3"/>
          <p:cNvSpPr/>
          <p:nvPr/>
        </p:nvSpPr>
        <p:spPr>
          <a:xfrm>
            <a:off x="812800" y="1899841"/>
            <a:ext cx="10566400" cy="2944664"/>
          </a:xfrm>
          <a:custGeom>
            <a:avLst/>
            <a:gdLst/>
            <a:ahLst/>
            <a:cxnLst/>
            <a:rect l="l" t="t" r="r" b="b"/>
            <a:pathLst>
              <a:path w="10566400" h="2944664">
                <a:moveTo>
                  <a:pt x="10490200" y="0"/>
                </a:moveTo>
                <a:lnTo>
                  <a:pt x="10490200" y="0"/>
                </a:lnTo>
                <a:arcTo wR="76200" hR="76200" stAng="16200000" swAng="5400000"/>
                <a:lnTo>
                  <a:pt x="10566400" y="2868464"/>
                </a:lnTo>
                <a:arcTo wR="76200" hR="76200" stAng="0" swAng="5400000"/>
                <a:lnTo>
                  <a:pt x="76200" y="2944664"/>
                </a:lnTo>
                <a:arcTo wR="76200" hR="76200" stAng="5400000" swAng="5400000"/>
                <a:lnTo>
                  <a:pt x="0" y="2868464"/>
                </a:lnTo>
                <a:arcTo wR="76200" hR="69850" stAng="10800000" swAng="-5400000"/>
                <a:lnTo>
                  <a:pt x="10490200" y="2938314"/>
                </a:lnTo>
                <a:arcTo wR="69850" hR="69850" stAng="5400000" swAng="-5400000"/>
                <a:lnTo>
                  <a:pt x="10560050" y="76200"/>
                </a:lnTo>
                <a:arcTo wR="69850" hR="76200" stAng="0" swAng="-5400000"/>
                <a:close/>
              </a:path>
            </a:pathLst>
          </a:custGeom>
          <a:solidFill>
            <a:srgbClr val="DCE3E0"/>
          </a:solidFill>
          <a:ln/>
        </p:spPr>
        <p:txBody>
          <a:bodyPr/>
          <a:lstStyle/>
          <a:p>
            <a:endParaRPr lang="fr-FR"/>
          </a:p>
        </p:txBody>
      </p:sp>
      <p:sp>
        <p:nvSpPr>
          <p:cNvPr id="6" name="Shape 4"/>
          <p:cNvSpPr/>
          <p:nvPr/>
        </p:nvSpPr>
        <p:spPr>
          <a:xfrm>
            <a:off x="812800" y="1899841"/>
            <a:ext cx="10566400" cy="2944664"/>
          </a:xfrm>
          <a:custGeom>
            <a:avLst/>
            <a:gdLst/>
            <a:ahLst/>
            <a:cxnLst/>
            <a:rect l="l" t="t" r="r" b="b"/>
            <a:pathLst>
              <a:path w="10566400" h="2944664">
                <a:moveTo>
                  <a:pt x="76200" y="2944664"/>
                </a:moveTo>
                <a:lnTo>
                  <a:pt x="76200" y="2944664"/>
                </a:lnTo>
                <a:arcTo wR="76200" hR="76200" stAng="5400000" swAng="5400000"/>
                <a:lnTo>
                  <a:pt x="0" y="76200"/>
                </a:lnTo>
                <a:arcTo wR="76200" hR="76200" stAng="10800000" swAng="5400000"/>
                <a:lnTo>
                  <a:pt x="10490200" y="0"/>
                </a:lnTo>
                <a:arcTo wR="76200" hR="76200" stAng="16200000" swAng="5400000"/>
                <a:lnTo>
                  <a:pt x="10566400" y="76200"/>
                </a:lnTo>
                <a:arcTo wR="76200" hR="63500" stAng="0" swAng="-5400000"/>
                <a:lnTo>
                  <a:pt x="76200" y="12700"/>
                </a:lnTo>
                <a:arcTo wR="63500" hR="63500" stAng="16200000" swAng="-5400000"/>
                <a:lnTo>
                  <a:pt x="12700" y="2868464"/>
                </a:lnTo>
                <a:arcTo wR="63500" hR="76200" stAng="10800000" swAng="-5400000"/>
                <a:close/>
              </a:path>
            </a:pathLst>
          </a:custGeom>
          <a:solidFill>
            <a:srgbClr val="141413">
              <a:alpha val="22000"/>
            </a:srgbClr>
          </a:solidFill>
          <a:ln/>
        </p:spPr>
        <p:txBody>
          <a:bodyPr/>
          <a:lstStyle/>
          <a:p>
            <a:endParaRPr lang="fr-FR"/>
          </a:p>
        </p:txBody>
      </p:sp>
      <p:graphicFrame>
        <p:nvGraphicFramePr>
          <p:cNvPr id="7" name="Table 0"/>
          <p:cNvGraphicFramePr>
            <a:graphicFrameLocks noGrp="1"/>
          </p:cNvGraphicFramePr>
          <p:nvPr>
            <p:extLst>
              <p:ext uri="{D42A27DB-BD31-4B8C-83A1-F6EECF244321}">
                <p14:modId xmlns:p14="http://schemas.microsoft.com/office/powerpoint/2010/main" val="1484922384"/>
              </p:ext>
            </p:extLst>
          </p:nvPr>
        </p:nvGraphicFramePr>
        <p:xfrm>
          <a:off x="825500" y="1912541"/>
          <a:ext cx="10547350" cy="2925611"/>
        </p:xfrm>
        <a:graphic>
          <a:graphicData uri="http://schemas.openxmlformats.org/drawingml/2006/table">
            <a:tbl>
              <a:tblPr/>
              <a:tblGrid>
                <a:gridCol w="3164205">
                  <a:extLst>
                    <a:ext uri="{9D8B030D-6E8A-4147-A177-3AD203B41FA5}">
                      <a16:colId xmlns:a16="http://schemas.microsoft.com/office/drawing/2014/main" val="20000"/>
                    </a:ext>
                  </a:extLst>
                </a:gridCol>
                <a:gridCol w="3797046">
                  <a:extLst>
                    <a:ext uri="{9D8B030D-6E8A-4147-A177-3AD203B41FA5}">
                      <a16:colId xmlns:a16="http://schemas.microsoft.com/office/drawing/2014/main" val="20001"/>
                    </a:ext>
                  </a:extLst>
                </a:gridCol>
                <a:gridCol w="3586099">
                  <a:extLst>
                    <a:ext uri="{9D8B030D-6E8A-4147-A177-3AD203B41FA5}">
                      <a16:colId xmlns:a16="http://schemas.microsoft.com/office/drawing/2014/main" val="20002"/>
                    </a:ext>
                  </a:extLst>
                </a:gridCol>
              </a:tblGrid>
              <a:tr h="386011">
                <a:tc>
                  <a:txBody>
                    <a:bodyPr/>
                    <a:lstStyle/>
                    <a:p>
                      <a:pPr marL="0" indent="0">
                        <a:lnSpc>
                          <a:spcPts val="1960"/>
                        </a:lnSpc>
                        <a:buNone/>
                      </a:pPr>
                      <a:r>
                        <a:rPr lang="en-US" sz="1400" b="1" dirty="0">
                          <a:solidFill>
                            <a:srgbClr val="F4F6F5"/>
                          </a:solidFill>
                          <a:latin typeface="IBM Plex Sans" pitchFamily="34" charset="0"/>
                          <a:ea typeface="IBM Plex Sans" pitchFamily="34" charset="-122"/>
                          <a:cs typeface="IBM Plex Sans" pitchFamily="34" charset="-120"/>
                        </a:rPr>
                        <a:t>Action</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1D323C"/>
                      </a:solidFill>
                      <a:prstDash val="solid"/>
                      <a:round/>
                      <a:headEnd type="none" w="med" len="med"/>
                      <a:tailEnd type="none" w="med" len="med"/>
                    </a:lnR>
                    <a:lnT w="0" cap="flat" cmpd="sng" algn="ctr">
                      <a:noFill/>
                    </a:lnT>
                    <a:lnB w="12700" cap="flat" cmpd="sng" algn="ctr">
                      <a:solidFill>
                        <a:srgbClr val="1D323C"/>
                      </a:solidFill>
                      <a:prstDash val="solid"/>
                      <a:round/>
                      <a:headEnd type="none" w="med" len="med"/>
                      <a:tailEnd type="none" w="med" len="med"/>
                    </a:lnB>
                    <a:solidFill>
                      <a:srgbClr val="1F3B47"/>
                    </a:solidFill>
                  </a:tcPr>
                </a:tc>
                <a:tc>
                  <a:txBody>
                    <a:bodyPr/>
                    <a:lstStyle/>
                    <a:p>
                      <a:pPr marL="0" indent="0">
                        <a:lnSpc>
                          <a:spcPts val="1960"/>
                        </a:lnSpc>
                        <a:buNone/>
                      </a:pPr>
                      <a:r>
                        <a:rPr lang="en-US" sz="1400" b="1" dirty="0">
                          <a:solidFill>
                            <a:srgbClr val="F4F6F5"/>
                          </a:solidFill>
                          <a:latin typeface="IBM Plex Sans" pitchFamily="34" charset="0"/>
                          <a:ea typeface="IBM Plex Sans" pitchFamily="34" charset="-122"/>
                          <a:cs typeface="IBM Plex Sans" pitchFamily="34" charset="-120"/>
                        </a:rPr>
                        <a:t>Cible</a:t>
                      </a:r>
                      <a:endParaRPr lang="en-US" sz="1400" dirty="0">
                        <a:latin typeface="IBM Plex Sans" charset="0"/>
                        <a:ea typeface="IBM Plex Sans" charset="0"/>
                        <a:cs typeface="IBM Plex Sans" charset="0"/>
                      </a:endParaRPr>
                    </a:p>
                  </a:txBody>
                  <a:tcPr marL="62230" marR="62230" marT="62230" marB="62230">
                    <a:lnL w="12700" cap="flat" cmpd="sng" algn="ctr">
                      <a:solidFill>
                        <a:srgbClr val="1D323C"/>
                      </a:solidFill>
                      <a:prstDash val="solid"/>
                      <a:round/>
                      <a:headEnd type="none" w="med" len="med"/>
                      <a:tailEnd type="none" w="med" len="med"/>
                    </a:lnL>
                    <a:lnR w="12700" cap="flat" cmpd="sng" algn="ctr">
                      <a:solidFill>
                        <a:srgbClr val="1D323C"/>
                      </a:solidFill>
                      <a:prstDash val="solid"/>
                      <a:round/>
                      <a:headEnd type="none" w="med" len="med"/>
                      <a:tailEnd type="none" w="med" len="med"/>
                    </a:lnR>
                    <a:lnT w="0" cap="flat" cmpd="sng" algn="ctr">
                      <a:noFill/>
                    </a:lnT>
                    <a:lnB w="12700" cap="flat" cmpd="sng" algn="ctr">
                      <a:solidFill>
                        <a:srgbClr val="1D323C"/>
                      </a:solidFill>
                      <a:prstDash val="solid"/>
                      <a:round/>
                      <a:headEnd type="none" w="med" len="med"/>
                      <a:tailEnd type="none" w="med" len="med"/>
                    </a:lnB>
                    <a:solidFill>
                      <a:srgbClr val="1F3B47"/>
                    </a:solidFill>
                  </a:tcPr>
                </a:tc>
                <a:tc>
                  <a:txBody>
                    <a:bodyPr/>
                    <a:lstStyle/>
                    <a:p>
                      <a:pPr marL="0" indent="0">
                        <a:lnSpc>
                          <a:spcPts val="1960"/>
                        </a:lnSpc>
                        <a:buNone/>
                      </a:pPr>
                      <a:r>
                        <a:rPr lang="en-US" sz="1400" b="1" dirty="0">
                          <a:solidFill>
                            <a:srgbClr val="F4F6F5"/>
                          </a:solidFill>
                          <a:latin typeface="IBM Plex Sans" pitchFamily="34" charset="0"/>
                          <a:ea typeface="IBM Plex Sans" pitchFamily="34" charset="-122"/>
                          <a:cs typeface="IBM Plex Sans" pitchFamily="34" charset="-120"/>
                        </a:rPr>
                        <a:t>Effet attendu</a:t>
                      </a:r>
                      <a:endParaRPr lang="en-US" sz="1400" dirty="0">
                        <a:latin typeface="IBM Plex Sans" charset="0"/>
                        <a:ea typeface="IBM Plex Sans" charset="0"/>
                        <a:cs typeface="IBM Plex Sans" charset="0"/>
                      </a:endParaRPr>
                    </a:p>
                  </a:txBody>
                  <a:tcPr marL="62230" marR="62230" marT="62230" marB="62230">
                    <a:lnL w="12700" cap="flat" cmpd="sng" algn="ctr">
                      <a:solidFill>
                        <a:srgbClr val="1D323C"/>
                      </a:solidFill>
                      <a:prstDash val="solid"/>
                      <a:round/>
                      <a:headEnd type="none" w="med" len="med"/>
                      <a:tailEnd type="none" w="med" len="med"/>
                    </a:lnL>
                    <a:lnR w="12700" cap="flat" cmpd="sng" algn="ctr">
                      <a:solidFill>
                        <a:srgbClr val="1D323C"/>
                      </a:solidFill>
                      <a:prstDash val="solid"/>
                      <a:round/>
                      <a:headEnd type="none" w="med" len="med"/>
                      <a:tailEnd type="none" w="med" len="med"/>
                    </a:lnR>
                    <a:lnT w="0" cap="flat" cmpd="sng" algn="ctr">
                      <a:noFill/>
                    </a:lnT>
                    <a:lnB w="12700" cap="flat" cmpd="sng" algn="ctr">
                      <a:solidFill>
                        <a:srgbClr val="1D323C"/>
                      </a:solidFill>
                      <a:prstDash val="solid"/>
                      <a:round/>
                      <a:headEnd type="none" w="med" len="med"/>
                      <a:tailEnd type="none" w="med" len="med"/>
                    </a:lnB>
                    <a:solidFill>
                      <a:srgbClr val="1F3B47"/>
                    </a:solidFill>
                  </a:tcPr>
                </a:tc>
                <a:extLst>
                  <a:ext uri="{0D108BD9-81ED-4DB2-BD59-A6C34878D82A}">
                    <a16:rowId xmlns:a16="http://schemas.microsoft.com/office/drawing/2014/main" val="10000"/>
                  </a:ext>
                </a:extLst>
              </a:tr>
              <a:tr h="634900">
                <a:tc>
                  <a:txBody>
                    <a:bodyPr/>
                    <a:lstStyle/>
                    <a:p>
                      <a:pPr marL="0" indent="0">
                        <a:lnSpc>
                          <a:spcPts val="1960"/>
                        </a:lnSpc>
                        <a:buNone/>
                      </a:pPr>
                      <a:r>
                        <a:rPr lang="en-US" sz="1400" dirty="0">
                          <a:solidFill>
                            <a:srgbClr val="1F2A2E"/>
                          </a:solidFill>
                          <a:latin typeface="IBM Plex Sans" pitchFamily="34" charset="0"/>
                          <a:ea typeface="IBM Plex Sans" pitchFamily="34" charset="-122"/>
                          <a:cs typeface="IBM Plex Sans" pitchFamily="34" charset="-120"/>
                        </a:rPr>
                        <a:t>Renégocier les prix d'achat</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8C9C8"/>
                      </a:solidFill>
                      <a:prstDash val="solid"/>
                      <a:round/>
                      <a:headEnd type="none" w="med" len="med"/>
                      <a:tailEnd type="none" w="med" len="med"/>
                    </a:lnR>
                    <a:lnT w="12700" cap="flat" cmpd="sng" algn="ctr">
                      <a:solidFill>
                        <a:srgbClr val="1D323C"/>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marL="0" indent="0">
                        <a:lnSpc>
                          <a:spcPct val="100000"/>
                        </a:lnSpc>
                        <a:buNone/>
                      </a:pPr>
                      <a:r>
                        <a:rPr lang="fr-FR" sz="1400" dirty="0"/>
                        <a:t>Composants (+75 % vs coût standard)</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D323C"/>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marL="0" indent="0">
                        <a:lnSpc>
                          <a:spcPts val="1960"/>
                        </a:lnSpc>
                        <a:buNone/>
                      </a:pPr>
                      <a:r>
                        <a:rPr lang="en-US" sz="1400" dirty="0" err="1">
                          <a:solidFill>
                            <a:srgbClr val="1F2A2E"/>
                          </a:solidFill>
                          <a:latin typeface="IBM Plex Sans" pitchFamily="34" charset="0"/>
                          <a:ea typeface="IBM Plex Sans" pitchFamily="34" charset="-122"/>
                          <a:cs typeface="IBM Plex Sans" pitchFamily="34" charset="-120"/>
                        </a:rPr>
                        <a:t>Récupérer</a:t>
                      </a:r>
                      <a:r>
                        <a:rPr lang="en-US" sz="1400" dirty="0">
                          <a:solidFill>
                            <a:srgbClr val="1F2A2E"/>
                          </a:solidFill>
                          <a:latin typeface="IBM Plex Sans" pitchFamily="34" charset="0"/>
                          <a:ea typeface="IBM Plex Sans" pitchFamily="34" charset="-122"/>
                          <a:cs typeface="IBM Plex Sans" pitchFamily="34" charset="-120"/>
                        </a:rPr>
                        <a:t> </a:t>
                      </a:r>
                      <a:r>
                        <a:rPr lang="en-US" sz="1400" dirty="0" err="1">
                          <a:solidFill>
                            <a:srgbClr val="1F2A2E"/>
                          </a:solidFill>
                          <a:latin typeface="IBM Plex Sans" pitchFamily="34" charset="0"/>
                          <a:ea typeface="IBM Plex Sans" pitchFamily="34" charset="-122"/>
                          <a:cs typeface="IBM Plex Sans" pitchFamily="34" charset="-120"/>
                        </a:rPr>
                        <a:t>une</a:t>
                      </a:r>
                      <a:r>
                        <a:rPr lang="en-US" sz="1400" dirty="0">
                          <a:solidFill>
                            <a:srgbClr val="1F2A2E"/>
                          </a:solidFill>
                          <a:latin typeface="IBM Plex Sans" pitchFamily="34" charset="0"/>
                          <a:ea typeface="IBM Plex Sans" pitchFamily="34" charset="-122"/>
                          <a:cs typeface="IBM Plex Sans" pitchFamily="34" charset="-120"/>
                        </a:rPr>
                        <a:t> </a:t>
                      </a:r>
                      <a:r>
                        <a:rPr lang="en-US" sz="1400" dirty="0" err="1">
                          <a:solidFill>
                            <a:srgbClr val="1F2A2E"/>
                          </a:solidFill>
                          <a:latin typeface="IBM Plex Sans" pitchFamily="34" charset="0"/>
                          <a:ea typeface="IBM Plex Sans" pitchFamily="34" charset="-122"/>
                          <a:cs typeface="IBM Plex Sans" pitchFamily="34" charset="-120"/>
                        </a:rPr>
                        <a:t>partie</a:t>
                      </a:r>
                      <a:r>
                        <a:rPr lang="en-US" sz="1400" dirty="0">
                          <a:solidFill>
                            <a:srgbClr val="1F2A2E"/>
                          </a:solidFill>
                          <a:latin typeface="IBM Plex Sans" pitchFamily="34" charset="0"/>
                          <a:ea typeface="IBM Plex Sans" pitchFamily="34" charset="-122"/>
                          <a:cs typeface="IBM Plex Sans" pitchFamily="34" charset="-120"/>
                        </a:rPr>
                        <a:t> des 9,4 points de marge</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D323C"/>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extLst>
                  <a:ext uri="{0D108BD9-81ED-4DB2-BD59-A6C34878D82A}">
                    <a16:rowId xmlns:a16="http://schemas.microsoft.com/office/drawing/2014/main" val="10001"/>
                  </a:ext>
                </a:extLst>
              </a:tr>
              <a:tr h="634900">
                <a:tc>
                  <a:txBody>
                    <a:bodyPr/>
                    <a:lstStyle/>
                    <a:p>
                      <a:pPr marL="0" indent="0">
                        <a:lnSpc>
                          <a:spcPts val="1960"/>
                        </a:lnSpc>
                        <a:buNone/>
                      </a:pPr>
                      <a:r>
                        <a:rPr lang="en-US" sz="1400" dirty="0">
                          <a:solidFill>
                            <a:srgbClr val="1F2A2E"/>
                          </a:solidFill>
                          <a:latin typeface="IBM Plex Sans" pitchFamily="34" charset="0"/>
                          <a:ea typeface="IBM Plex Sans" pitchFamily="34" charset="-122"/>
                          <a:cs typeface="IBM Plex Sans" pitchFamily="34" charset="-120"/>
                        </a:rPr>
                        <a:t>Plan qualité fournisseurs</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marL="0" indent="0">
                        <a:lnSpc>
                          <a:spcPts val="1960"/>
                        </a:lnSpc>
                        <a:buNone/>
                      </a:pPr>
                      <a:r>
                        <a:rPr lang="en-US" sz="1400" dirty="0">
                          <a:solidFill>
                            <a:srgbClr val="1F2A2E"/>
                          </a:solidFill>
                          <a:latin typeface="IBM Plex Sans" pitchFamily="34" charset="0"/>
                          <a:ea typeface="IBM Plex Sans" pitchFamily="34" charset="-122"/>
                          <a:cs typeface="IBM Plex Sans" pitchFamily="34" charset="-120"/>
                        </a:rPr>
                        <a:t>Segment « Gros volumes » (top 10), Superior Bicycles en tête</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marL="0" indent="0">
                        <a:lnSpc>
                          <a:spcPts val="1960"/>
                        </a:lnSpc>
                        <a:buNone/>
                      </a:pPr>
                      <a:r>
                        <a:rPr lang="en-US" sz="1400" dirty="0">
                          <a:solidFill>
                            <a:srgbClr val="1F2A2E"/>
                          </a:solidFill>
                          <a:latin typeface="IBM Plex Sans" pitchFamily="34" charset="0"/>
                          <a:ea typeface="IBM Plex Sans" pitchFamily="34" charset="-122"/>
                          <a:cs typeface="IBM Plex Sans" pitchFamily="34" charset="-120"/>
                        </a:rPr>
                        <a:t>Moins de rejets et de coûts cachés</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extLst>
                  <a:ext uri="{0D108BD9-81ED-4DB2-BD59-A6C34878D82A}">
                    <a16:rowId xmlns:a16="http://schemas.microsoft.com/office/drawing/2014/main" val="10002"/>
                  </a:ext>
                </a:extLst>
              </a:tr>
              <a:tr h="634900">
                <a:tc>
                  <a:txBody>
                    <a:bodyPr/>
                    <a:lstStyle/>
                    <a:p>
                      <a:pPr marL="0" indent="0">
                        <a:lnSpc>
                          <a:spcPts val="1960"/>
                        </a:lnSpc>
                        <a:buNone/>
                      </a:pPr>
                      <a:r>
                        <a:rPr lang="en-US" sz="1400" dirty="0">
                          <a:solidFill>
                            <a:srgbClr val="1F2A2E"/>
                          </a:solidFill>
                          <a:latin typeface="IBM Plex Sans" pitchFamily="34" charset="0"/>
                          <a:ea typeface="IBM Plex Sans" pitchFamily="34" charset="-122"/>
                          <a:cs typeface="IBM Plex Sans" pitchFamily="34" charset="-120"/>
                        </a:rPr>
                        <a:t>Ajuster le réapprovisionnement</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marL="0" indent="0">
                        <a:lnSpc>
                          <a:spcPct val="100000"/>
                        </a:lnSpc>
                        <a:buNone/>
                      </a:pPr>
                      <a:r>
                        <a:rPr lang="fr-FR" sz="1400" dirty="0"/>
                        <a:t>Composants (436 j) ; 19 produits à risque liés à 5 fournisseurs « Peu d’historique »</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marL="0" indent="0">
                        <a:lnSpc>
                          <a:spcPct val="100000"/>
                        </a:lnSpc>
                        <a:buNone/>
                      </a:pPr>
                      <a:r>
                        <a:rPr lang="fr-FR" sz="1400" dirty="0"/>
                        <a:t>Libérer du stock, éviter les ruptures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extLst>
                  <a:ext uri="{0D108BD9-81ED-4DB2-BD59-A6C34878D82A}">
                    <a16:rowId xmlns:a16="http://schemas.microsoft.com/office/drawing/2014/main" val="10003"/>
                  </a:ext>
                </a:extLst>
              </a:tr>
              <a:tr h="634900">
                <a:tc>
                  <a:txBody>
                    <a:bodyPr/>
                    <a:lstStyle/>
                    <a:p>
                      <a:pPr marL="0" indent="0">
                        <a:lnSpc>
                          <a:spcPts val="1960"/>
                        </a:lnSpc>
                        <a:buNone/>
                      </a:pPr>
                      <a:r>
                        <a:rPr lang="en-US" sz="1400" dirty="0">
                          <a:solidFill>
                            <a:srgbClr val="1F2A2E"/>
                          </a:solidFill>
                          <a:latin typeface="IBM Plex Sans" pitchFamily="34" charset="0"/>
                          <a:ea typeface="IBM Plex Sans" pitchFamily="34" charset="-122"/>
                          <a:cs typeface="IBM Plex Sans" pitchFamily="34" charset="-120"/>
                        </a:rPr>
                        <a:t>Revoir prix et assortiment</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marL="0" indent="0">
                        <a:lnSpc>
                          <a:spcPts val="1960"/>
                        </a:lnSpc>
                        <a:buNone/>
                      </a:pPr>
                      <a:r>
                        <a:rPr lang="en-US" sz="1400" dirty="0">
                          <a:solidFill>
                            <a:srgbClr val="1F2A2E"/>
                          </a:solidFill>
                          <a:latin typeface="IBM Plex Sans" pitchFamily="34" charset="0"/>
                          <a:ea typeface="IBM Plex Sans" pitchFamily="34" charset="-122"/>
                          <a:cs typeface="IBM Plex Sans" pitchFamily="34" charset="-120"/>
                        </a:rPr>
                        <a:t>Maillots (−20 %), 29 produits finis jamais vendus</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marL="0" indent="0">
                        <a:lnSpc>
                          <a:spcPct val="100000"/>
                        </a:lnSpc>
                        <a:buNone/>
                      </a:pPr>
                      <a:r>
                        <a:rPr lang="en-US" sz="1400" dirty="0">
                          <a:solidFill>
                            <a:srgbClr val="1F2A2E"/>
                          </a:solidFill>
                          <a:latin typeface="IBM Plex Sans" pitchFamily="34" charset="0"/>
                          <a:ea typeface="IBM Plex Sans" pitchFamily="34" charset="-122"/>
                          <a:cs typeface="IBM Plex Sans" pitchFamily="34" charset="-120"/>
                        </a:rPr>
                        <a:t>Supprimer les ventes à </a:t>
                      </a:r>
                      <a:r>
                        <a:rPr lang="en-US" sz="1400" dirty="0" err="1">
                          <a:solidFill>
                            <a:srgbClr val="1F2A2E"/>
                          </a:solidFill>
                          <a:latin typeface="IBM Plex Sans" pitchFamily="34" charset="0"/>
                          <a:ea typeface="IBM Plex Sans" pitchFamily="34" charset="-122"/>
                          <a:cs typeface="IBM Plex Sans" pitchFamily="34" charset="-120"/>
                        </a:rPr>
                        <a:t>perte</a:t>
                      </a:r>
                      <a:r>
                        <a:rPr lang="fr-FR" sz="1400" dirty="0">
                          <a:solidFill>
                            <a:srgbClr val="1F2A2E"/>
                          </a:solidFill>
                          <a:latin typeface="IBM Plex Sans" pitchFamily="34" charset="0"/>
                          <a:ea typeface="IBM Plex Sans" pitchFamily="34" charset="-122"/>
                          <a:cs typeface="IBM Plex Sans" pitchFamily="34" charset="-120"/>
                        </a:rPr>
                        <a:t>, </a:t>
                      </a:r>
                      <a:r>
                        <a:rPr lang="fr-FR" sz="1400" dirty="0"/>
                        <a:t>réduire le stock dormant,</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Text 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3"/>
                </a:solidFill>
                <a:latin typeface="IBM Plex Sans" pitchFamily="34" charset="0"/>
                <a:ea typeface="IBM Plex Sans" pitchFamily="34" charset="-122"/>
                <a:cs typeface="IBM Plex Sans" pitchFamily="34" charset="-120"/>
              </a:rPr>
              <a:t>AdventureWorks · Conclusions</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B73"/>
                </a:solidFill>
                <a:latin typeface="IBM Plex Sans" pitchFamily="34" charset="0"/>
                <a:ea typeface="IBM Plex Sans" pitchFamily="34" charset="-122"/>
                <a:cs typeface="IBM Plex Sans" pitchFamily="34" charset="-120"/>
              </a:rPr>
              <a:t>15</a:t>
            </a:r>
            <a:endParaRPr lang="en-US" sz="1200" dirty="0"/>
          </a:p>
        </p:txBody>
      </p:sp>
    </p:spTree>
    <p:extLst>
      <p:ext uri="{BB962C8B-B14F-4D97-AF65-F5344CB8AC3E}">
        <p14:creationId xmlns:p14="http://schemas.microsoft.com/office/powerpoint/2010/main" val="572793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D6E"/>
                </a:solidFill>
                <a:latin typeface="IBM Plex Sans" pitchFamily="34" charset="0"/>
                <a:ea typeface="IBM Plex Sans" pitchFamily="34" charset="-122"/>
                <a:cs typeface="IBM Plex Sans" pitchFamily="34" charset="-120"/>
              </a:rPr>
              <a:t>MACHINE LEARNING · SEGMENTATION</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F2A2E"/>
                </a:solidFill>
                <a:latin typeface="Rubik" pitchFamily="34" charset="0"/>
                <a:ea typeface="Rubik" pitchFamily="34" charset="-122"/>
                <a:cs typeface="Rubik" pitchFamily="34" charset="-120"/>
              </a:rPr>
              <a:t>104 fournisseurs, cinq segments</a:t>
            </a:r>
            <a:endParaRPr lang="en-US" sz="3200" dirty="0"/>
          </a:p>
        </p:txBody>
      </p:sp>
      <p:sp>
        <p:nvSpPr>
          <p:cNvPr id="4" name="Shape 2"/>
          <p:cNvSpPr/>
          <p:nvPr/>
        </p:nvSpPr>
        <p:spPr>
          <a:xfrm>
            <a:off x="815975" y="1826816"/>
            <a:ext cx="3414167" cy="1708051"/>
          </a:xfrm>
          <a:prstGeom prst="roundRect">
            <a:avLst>
              <a:gd name="adj" fmla="val 5762"/>
            </a:avLst>
          </a:prstGeom>
          <a:solidFill>
            <a:srgbClr val="FBFCFB"/>
          </a:solidFill>
          <a:ln w="6350">
            <a:solidFill>
              <a:srgbClr val="DCE3E0"/>
            </a:solidFill>
            <a:prstDash val="solid"/>
          </a:ln>
        </p:spPr>
        <p:txBody>
          <a:bodyPr/>
          <a:lstStyle/>
          <a:p>
            <a:endParaRPr lang="fr-FR"/>
          </a:p>
        </p:txBody>
      </p:sp>
      <p:sp>
        <p:nvSpPr>
          <p:cNvPr id="5" name="Text 3"/>
          <p:cNvSpPr/>
          <p:nvPr/>
        </p:nvSpPr>
        <p:spPr>
          <a:xfrm>
            <a:off x="1022350" y="2033191"/>
            <a:ext cx="3091459"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A2E"/>
                </a:solidFill>
                <a:latin typeface="Rubik" pitchFamily="34" charset="0"/>
                <a:ea typeface="Rubik" pitchFamily="34" charset="-122"/>
                <a:cs typeface="Rubik" pitchFamily="34" charset="-120"/>
              </a:rPr>
              <a:t>Généralistes</a:t>
            </a:r>
            <a:endParaRPr lang="en-US" sz="1600" dirty="0"/>
          </a:p>
        </p:txBody>
      </p:sp>
      <p:sp>
        <p:nvSpPr>
          <p:cNvPr id="6" name="Text 4"/>
          <p:cNvSpPr/>
          <p:nvPr/>
        </p:nvSpPr>
        <p:spPr>
          <a:xfrm>
            <a:off x="1022350" y="2340521"/>
            <a:ext cx="3091459"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F5D6E"/>
                </a:solidFill>
                <a:latin typeface="Rubik" pitchFamily="34" charset="0"/>
                <a:ea typeface="Rubik" pitchFamily="34" charset="-122"/>
                <a:cs typeface="Rubik" pitchFamily="34" charset="-120"/>
              </a:rPr>
              <a:t>13</a:t>
            </a:r>
            <a:endParaRPr lang="en-US" sz="2800" dirty="0"/>
          </a:p>
        </p:txBody>
      </p:sp>
      <p:sp>
        <p:nvSpPr>
          <p:cNvPr id="7" name="Text 5"/>
          <p:cNvSpPr/>
          <p:nvPr/>
        </p:nvSpPr>
        <p:spPr>
          <a:xfrm>
            <a:off x="1022350" y="2901851"/>
            <a:ext cx="3091459" cy="452041"/>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
        <p:nvSpPr>
          <p:cNvPr id="8" name="Shape 6"/>
          <p:cNvSpPr/>
          <p:nvPr/>
        </p:nvSpPr>
        <p:spPr>
          <a:xfrm>
            <a:off x="4388892" y="1826816"/>
            <a:ext cx="3414216" cy="1708051"/>
          </a:xfrm>
          <a:prstGeom prst="roundRect">
            <a:avLst>
              <a:gd name="adj" fmla="val 5762"/>
            </a:avLst>
          </a:prstGeom>
          <a:solidFill>
            <a:srgbClr val="FBFCFB"/>
          </a:solidFill>
          <a:ln w="6350">
            <a:solidFill>
              <a:srgbClr val="DCE3E0"/>
            </a:solidFill>
            <a:prstDash val="solid"/>
          </a:ln>
        </p:spPr>
        <p:txBody>
          <a:bodyPr/>
          <a:lstStyle/>
          <a:p>
            <a:endParaRPr lang="fr-FR"/>
          </a:p>
        </p:txBody>
      </p:sp>
      <p:sp>
        <p:nvSpPr>
          <p:cNvPr id="9" name="Text 7"/>
          <p:cNvSpPr/>
          <p:nvPr/>
        </p:nvSpPr>
        <p:spPr>
          <a:xfrm>
            <a:off x="4595267" y="2033191"/>
            <a:ext cx="309151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A2E"/>
                </a:solidFill>
                <a:latin typeface="Rubik" pitchFamily="34" charset="0"/>
                <a:ea typeface="Rubik" pitchFamily="34" charset="-122"/>
                <a:cs typeface="Rubik" pitchFamily="34" charset="-120"/>
              </a:rPr>
              <a:t>Gros volumes</a:t>
            </a:r>
            <a:endParaRPr lang="en-US" sz="1600" dirty="0"/>
          </a:p>
        </p:txBody>
      </p:sp>
      <p:sp>
        <p:nvSpPr>
          <p:cNvPr id="10" name="Text 8"/>
          <p:cNvSpPr/>
          <p:nvPr/>
        </p:nvSpPr>
        <p:spPr>
          <a:xfrm>
            <a:off x="4595267" y="2340521"/>
            <a:ext cx="3091510"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F5D6E"/>
                </a:solidFill>
                <a:latin typeface="Rubik" pitchFamily="34" charset="0"/>
                <a:ea typeface="Rubik" pitchFamily="34" charset="-122"/>
                <a:cs typeface="Rubik" pitchFamily="34" charset="-120"/>
              </a:rPr>
              <a:t>44</a:t>
            </a:r>
            <a:endParaRPr lang="en-US" sz="2800" dirty="0"/>
          </a:p>
        </p:txBody>
      </p:sp>
      <p:sp>
        <p:nvSpPr>
          <p:cNvPr id="11" name="Text 9"/>
          <p:cNvSpPr/>
          <p:nvPr/>
        </p:nvSpPr>
        <p:spPr>
          <a:xfrm>
            <a:off x="4595267" y="2901851"/>
            <a:ext cx="3091510" cy="452041"/>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
        <p:nvSpPr>
          <p:cNvPr id="12" name="Shape 10"/>
          <p:cNvSpPr/>
          <p:nvPr/>
        </p:nvSpPr>
        <p:spPr>
          <a:xfrm>
            <a:off x="7961858" y="1826816"/>
            <a:ext cx="3414167" cy="1708051"/>
          </a:xfrm>
          <a:prstGeom prst="roundRect">
            <a:avLst>
              <a:gd name="adj" fmla="val 5762"/>
            </a:avLst>
          </a:prstGeom>
          <a:solidFill>
            <a:srgbClr val="FBFCFB"/>
          </a:solidFill>
          <a:ln w="6350">
            <a:solidFill>
              <a:srgbClr val="DCE3E0"/>
            </a:solidFill>
            <a:prstDash val="solid"/>
          </a:ln>
        </p:spPr>
        <p:txBody>
          <a:bodyPr/>
          <a:lstStyle/>
          <a:p>
            <a:endParaRPr lang="fr-FR"/>
          </a:p>
        </p:txBody>
      </p:sp>
      <p:sp>
        <p:nvSpPr>
          <p:cNvPr id="13" name="Text 11"/>
          <p:cNvSpPr/>
          <p:nvPr/>
        </p:nvSpPr>
        <p:spPr>
          <a:xfrm>
            <a:off x="8168233" y="2033191"/>
            <a:ext cx="3091459"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A2E"/>
                </a:solidFill>
                <a:latin typeface="Rubik" pitchFamily="34" charset="0"/>
                <a:ea typeface="Rubik" pitchFamily="34" charset="-122"/>
                <a:cs typeface="Rubik" pitchFamily="34" charset="-120"/>
              </a:rPr>
              <a:t>Petites séries</a:t>
            </a:r>
            <a:endParaRPr lang="en-US" sz="1600" dirty="0"/>
          </a:p>
        </p:txBody>
      </p:sp>
      <p:sp>
        <p:nvSpPr>
          <p:cNvPr id="14" name="Text 12"/>
          <p:cNvSpPr/>
          <p:nvPr/>
        </p:nvSpPr>
        <p:spPr>
          <a:xfrm>
            <a:off x="8168233" y="2340521"/>
            <a:ext cx="3091459"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F5D6E"/>
                </a:solidFill>
                <a:latin typeface="Rubik" pitchFamily="34" charset="0"/>
                <a:ea typeface="Rubik" pitchFamily="34" charset="-122"/>
                <a:cs typeface="Rubik" pitchFamily="34" charset="-120"/>
              </a:rPr>
              <a:t>22</a:t>
            </a:r>
            <a:endParaRPr lang="en-US" sz="2800" dirty="0"/>
          </a:p>
        </p:txBody>
      </p:sp>
      <p:sp>
        <p:nvSpPr>
          <p:cNvPr id="15" name="Text 13"/>
          <p:cNvSpPr/>
          <p:nvPr/>
        </p:nvSpPr>
        <p:spPr>
          <a:xfrm>
            <a:off x="8168233" y="2901851"/>
            <a:ext cx="3204617" cy="2387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
        <p:nvSpPr>
          <p:cNvPr id="16" name="Shape 14"/>
          <p:cNvSpPr/>
          <p:nvPr/>
        </p:nvSpPr>
        <p:spPr>
          <a:xfrm>
            <a:off x="812800" y="3766641"/>
            <a:ext cx="5207000" cy="645120"/>
          </a:xfrm>
          <a:prstGeom prst="roundRect">
            <a:avLst>
              <a:gd name="adj" fmla="val 15749"/>
            </a:avLst>
          </a:prstGeom>
          <a:solidFill>
            <a:srgbClr val="EAEFED"/>
          </a:solidFill>
          <a:ln/>
        </p:spPr>
        <p:txBody>
          <a:bodyPr/>
          <a:lstStyle/>
          <a:p>
            <a:endParaRPr lang="fr-FR"/>
          </a:p>
        </p:txBody>
      </p:sp>
      <p:sp>
        <p:nvSpPr>
          <p:cNvPr id="17" name="Text 15"/>
          <p:cNvSpPr/>
          <p:nvPr/>
        </p:nvSpPr>
        <p:spPr>
          <a:xfrm>
            <a:off x="1016000" y="3893641"/>
            <a:ext cx="384274"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5C6B73"/>
                </a:solidFill>
                <a:latin typeface="Rubik" pitchFamily="34" charset="0"/>
                <a:ea typeface="Rubik" pitchFamily="34" charset="-122"/>
                <a:cs typeface="Rubik" pitchFamily="34" charset="-120"/>
              </a:rPr>
              <a:t>18</a:t>
            </a:r>
            <a:endParaRPr lang="en-US" sz="2200" dirty="0"/>
          </a:p>
        </p:txBody>
      </p:sp>
      <p:sp>
        <p:nvSpPr>
          <p:cNvPr id="18" name="Text 16"/>
          <p:cNvSpPr/>
          <p:nvPr/>
        </p:nvSpPr>
        <p:spPr>
          <a:xfrm>
            <a:off x="1488629" y="3977779"/>
            <a:ext cx="3496806" cy="248245"/>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F2A2E"/>
                </a:solidFill>
                <a:latin typeface="IBM Plex Sans" pitchFamily="34" charset="0"/>
                <a:ea typeface="IBM Plex Sans" pitchFamily="34" charset="-122"/>
                <a:cs typeface="IBM Plex Sans" pitchFamily="34" charset="-120"/>
              </a:rPr>
              <a:t>Sans commande</a:t>
            </a:r>
            <a:r>
              <a:rPr lang="en-US" sz="1300" dirty="0">
                <a:solidFill>
                  <a:srgbClr val="1F2A2E"/>
                </a:solidFill>
                <a:latin typeface="IBM Plex Sans" pitchFamily="34" charset="0"/>
                <a:ea typeface="IBM Plex Sans" pitchFamily="34" charset="-122"/>
                <a:cs typeface="IBM Plex Sans" pitchFamily="34" charset="-120"/>
              </a:rPr>
              <a:t> : aucune ligne d'achat</a:t>
            </a:r>
            <a:endParaRPr lang="en-US" sz="1300" dirty="0"/>
          </a:p>
        </p:txBody>
      </p:sp>
      <p:sp>
        <p:nvSpPr>
          <p:cNvPr id="19" name="Shape 17"/>
          <p:cNvSpPr/>
          <p:nvPr/>
        </p:nvSpPr>
        <p:spPr>
          <a:xfrm>
            <a:off x="6172200" y="3766641"/>
            <a:ext cx="5207000" cy="645120"/>
          </a:xfrm>
          <a:prstGeom prst="roundRect">
            <a:avLst>
              <a:gd name="adj" fmla="val 15749"/>
            </a:avLst>
          </a:prstGeom>
          <a:solidFill>
            <a:srgbClr val="EAEFED"/>
          </a:solidFill>
          <a:ln/>
        </p:spPr>
        <p:txBody>
          <a:bodyPr/>
          <a:lstStyle/>
          <a:p>
            <a:endParaRPr lang="fr-FR"/>
          </a:p>
        </p:txBody>
      </p:sp>
      <p:sp>
        <p:nvSpPr>
          <p:cNvPr id="20" name="Text 18"/>
          <p:cNvSpPr/>
          <p:nvPr/>
        </p:nvSpPr>
        <p:spPr>
          <a:xfrm>
            <a:off x="6375400" y="3893641"/>
            <a:ext cx="206722"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5C6B73"/>
                </a:solidFill>
                <a:latin typeface="Rubik" pitchFamily="34" charset="0"/>
                <a:ea typeface="Rubik" pitchFamily="34" charset="-122"/>
                <a:cs typeface="Rubik" pitchFamily="34" charset="-120"/>
              </a:rPr>
              <a:t>7</a:t>
            </a:r>
            <a:endParaRPr lang="en-US" sz="2200" dirty="0"/>
          </a:p>
        </p:txBody>
      </p:sp>
      <p:sp>
        <p:nvSpPr>
          <p:cNvPr id="21" name="Text 19"/>
          <p:cNvSpPr/>
          <p:nvPr/>
        </p:nvSpPr>
        <p:spPr>
          <a:xfrm>
            <a:off x="6683722" y="3977779"/>
            <a:ext cx="4695478" cy="248245"/>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F2A2E"/>
                </a:solidFill>
                <a:latin typeface="IBM Plex Sans" pitchFamily="34" charset="0"/>
                <a:ea typeface="IBM Plex Sans" pitchFamily="34" charset="-122"/>
                <a:cs typeface="IBM Plex Sans" pitchFamily="34" charset="-120"/>
              </a:rPr>
              <a:t>Peu d'historique</a:t>
            </a:r>
            <a:r>
              <a:rPr lang="en-US" sz="1300" dirty="0">
                <a:solidFill>
                  <a:srgbClr val="1F2A2E"/>
                </a:solidFill>
                <a:latin typeface="IBM Plex Sans" pitchFamily="34" charset="0"/>
                <a:ea typeface="IBM Plex Sans" pitchFamily="34" charset="-122"/>
                <a:cs typeface="IBM Plex Sans" pitchFamily="34" charset="-120"/>
              </a:rPr>
              <a:t> : moins de 30 lignes (3,4 % des achats)</a:t>
            </a:r>
            <a:endParaRPr lang="en-US" sz="1300" dirty="0"/>
          </a:p>
        </p:txBody>
      </p:sp>
      <p:sp>
        <p:nvSpPr>
          <p:cNvPr id="22" name="Shape 20"/>
          <p:cNvSpPr/>
          <p:nvPr/>
        </p:nvSpPr>
        <p:spPr>
          <a:xfrm>
            <a:off x="825500" y="4640362"/>
            <a:ext cx="0" cy="231130"/>
          </a:xfrm>
          <a:prstGeom prst="line">
            <a:avLst/>
          </a:prstGeom>
          <a:noFill/>
          <a:ln w="25400">
            <a:solidFill>
              <a:srgbClr val="2F5D6E"/>
            </a:solidFill>
            <a:prstDash val="solid"/>
          </a:ln>
        </p:spPr>
        <p:txBody>
          <a:bodyPr/>
          <a:lstStyle/>
          <a:p>
            <a:endParaRPr lang="fr-FR"/>
          </a:p>
        </p:txBody>
      </p:sp>
      <p:sp>
        <p:nvSpPr>
          <p:cNvPr id="23" name="Text 21"/>
          <p:cNvSpPr/>
          <p:nvPr/>
        </p:nvSpPr>
        <p:spPr>
          <a:xfrm>
            <a:off x="990600" y="4640362"/>
            <a:ext cx="10700258"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2A2E"/>
                </a:solidFill>
                <a:latin typeface="IBM Plex Sans" pitchFamily="34" charset="0"/>
                <a:ea typeface="IBM Plex Sans" pitchFamily="34" charset="-122"/>
                <a:cs typeface="IBM Plex Sans" pitchFamily="34" charset="-120"/>
              </a:rPr>
              <a:t>Segmentation hybride</a:t>
            </a:r>
            <a:r>
              <a:rPr lang="en-US" sz="1300" dirty="0">
                <a:solidFill>
                  <a:srgbClr val="1F2A2E"/>
                </a:solidFill>
                <a:latin typeface="IBM Plex Sans" pitchFamily="34" charset="0"/>
                <a:ea typeface="IBM Plex Sans" pitchFamily="34" charset="-122"/>
                <a:cs typeface="IBM Plex Sans" pitchFamily="34" charset="-120"/>
              </a:rPr>
              <a:t> : K-Means (K = 3) sur les 79 fournisseurs ayant au moins 30 lignes d'achat, règles métier pour les 25 autres.</a:t>
            </a:r>
            <a:endParaRPr lang="en-US" sz="1300" dirty="0"/>
          </a:p>
        </p:txBody>
      </p:sp>
      <p:sp>
        <p:nvSpPr>
          <p:cNvPr id="24" name="Text 2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3"/>
                </a:solidFill>
                <a:latin typeface="IBM Plex Sans" pitchFamily="34" charset="0"/>
                <a:ea typeface="IBM Plex Sans" pitchFamily="34" charset="-122"/>
                <a:cs typeface="IBM Plex Sans" pitchFamily="34" charset="-120"/>
              </a:rPr>
              <a:t>AdventureWorks · Conclusions</a:t>
            </a:r>
            <a:endParaRPr lang="en-US" sz="1200" dirty="0"/>
          </a:p>
        </p:txBody>
      </p:sp>
      <p:sp>
        <p:nvSpPr>
          <p:cNvPr id="25" name="Text 2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B73"/>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D6E"/>
                </a:solidFill>
                <a:latin typeface="IBM Plex Sans" pitchFamily="34" charset="0"/>
                <a:ea typeface="IBM Plex Sans" pitchFamily="34" charset="-122"/>
                <a:cs typeface="IBM Plex Sans" pitchFamily="34" charset="-120"/>
              </a:rPr>
              <a:t>LIMITES ET PERSPECTIVES</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F2A2E"/>
                </a:solidFill>
                <a:latin typeface="Rubik" pitchFamily="34" charset="0"/>
                <a:ea typeface="Rubik" pitchFamily="34" charset="-122"/>
                <a:cs typeface="Rubik" pitchFamily="34" charset="-120"/>
              </a:rPr>
              <a:t>Ce que les données ne permettent pas encore</a:t>
            </a:r>
            <a:endParaRPr lang="en-US" sz="3200" dirty="0"/>
          </a:p>
        </p:txBody>
      </p:sp>
      <p:sp>
        <p:nvSpPr>
          <p:cNvPr id="4" name="Shape 2"/>
          <p:cNvSpPr/>
          <p:nvPr/>
        </p:nvSpPr>
        <p:spPr>
          <a:xfrm>
            <a:off x="815975" y="1852216"/>
            <a:ext cx="5200650" cy="1182340"/>
          </a:xfrm>
          <a:prstGeom prst="roundRect">
            <a:avLst>
              <a:gd name="adj" fmla="val 8325"/>
            </a:avLst>
          </a:prstGeom>
          <a:solidFill>
            <a:srgbClr val="FBFCFB"/>
          </a:solidFill>
          <a:ln w="6350">
            <a:solidFill>
              <a:srgbClr val="DCE3E0"/>
            </a:solidFill>
            <a:prstDash val="solid"/>
          </a:ln>
        </p:spPr>
        <p:txBody>
          <a:bodyPr/>
          <a:lstStyle/>
          <a:p>
            <a:endParaRPr lang="fr-FR"/>
          </a:p>
        </p:txBody>
      </p:sp>
      <p:sp>
        <p:nvSpPr>
          <p:cNvPr id="5" name="Text 3"/>
          <p:cNvSpPr/>
          <p:nvPr/>
        </p:nvSpPr>
        <p:spPr>
          <a:xfrm>
            <a:off x="1022350" y="2058591"/>
            <a:ext cx="493153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A2E"/>
                </a:solidFill>
                <a:latin typeface="Rubik" pitchFamily="34" charset="0"/>
                <a:ea typeface="Rubik" pitchFamily="34" charset="-122"/>
                <a:cs typeface="Rubik" pitchFamily="34" charset="-120"/>
              </a:rPr>
              <a:t>Coût standard fixe</a:t>
            </a:r>
            <a:endParaRPr lang="en-US" sz="1600" dirty="0"/>
          </a:p>
        </p:txBody>
      </p:sp>
      <p:sp>
        <p:nvSpPr>
          <p:cNvPr id="6" name="Text 4"/>
          <p:cNvSpPr/>
          <p:nvPr/>
        </p:nvSpPr>
        <p:spPr>
          <a:xfrm>
            <a:off x="1022350" y="2365921"/>
            <a:ext cx="4931537" cy="487660"/>
          </a:xfrm>
          <a:prstGeom prst="rect">
            <a:avLst/>
          </a:prstGeom>
          <a:noFill/>
          <a:ln/>
        </p:spPr>
        <p:txBody>
          <a:bodyPr wrap="square" lIns="0" tIns="0" rIns="0" bIns="0" rtlCol="0" anchor="t">
            <a:normAutofit fontScale="92500" lnSpcReduction="20000"/>
          </a:bodyPr>
          <a:lstStyle/>
          <a:p>
            <a:r>
              <a:rPr lang="fr-FR" sz="1400" dirty="0"/>
              <a:t>Pas d’historique des coûts : la marge globale est calculée au coût standard actuel ; le prix réel n’est mesurable que sur les produits revendus.</a:t>
            </a:r>
            <a:endParaRPr lang="en-US" sz="1300" dirty="0"/>
          </a:p>
        </p:txBody>
      </p:sp>
      <p:sp>
        <p:nvSpPr>
          <p:cNvPr id="7" name="Shape 5"/>
          <p:cNvSpPr/>
          <p:nvPr/>
        </p:nvSpPr>
        <p:spPr>
          <a:xfrm>
            <a:off x="6175375" y="1852216"/>
            <a:ext cx="5200650" cy="1182340"/>
          </a:xfrm>
          <a:prstGeom prst="roundRect">
            <a:avLst>
              <a:gd name="adj" fmla="val 8325"/>
            </a:avLst>
          </a:prstGeom>
          <a:solidFill>
            <a:srgbClr val="FBFCFB"/>
          </a:solidFill>
          <a:ln w="6350">
            <a:solidFill>
              <a:srgbClr val="DCE3E0"/>
            </a:solidFill>
            <a:prstDash val="solid"/>
          </a:ln>
        </p:spPr>
        <p:txBody>
          <a:bodyPr/>
          <a:lstStyle/>
          <a:p>
            <a:endParaRPr lang="fr-FR"/>
          </a:p>
        </p:txBody>
      </p:sp>
      <p:sp>
        <p:nvSpPr>
          <p:cNvPr id="8" name="Text 6"/>
          <p:cNvSpPr/>
          <p:nvPr/>
        </p:nvSpPr>
        <p:spPr>
          <a:xfrm>
            <a:off x="6381750" y="2058591"/>
            <a:ext cx="493153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A2E"/>
                </a:solidFill>
                <a:latin typeface="Rubik" pitchFamily="34" charset="0"/>
                <a:ea typeface="Rubik" pitchFamily="34" charset="-122"/>
                <a:cs typeface="Rubik" pitchFamily="34" charset="-120"/>
              </a:rPr>
              <a:t>Stock à date</a:t>
            </a:r>
            <a:endParaRPr lang="en-US" sz="1600" dirty="0"/>
          </a:p>
        </p:txBody>
      </p:sp>
      <p:sp>
        <p:nvSpPr>
          <p:cNvPr id="9" name="Text 7"/>
          <p:cNvSpPr/>
          <p:nvPr/>
        </p:nvSpPr>
        <p:spPr>
          <a:xfrm>
            <a:off x="6381750" y="2365921"/>
            <a:ext cx="493153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1"/>
                </a:solidFill>
                <a:latin typeface="IBM Plex Sans" pitchFamily="34" charset="0"/>
                <a:ea typeface="IBM Plex Sans" pitchFamily="34" charset="-122"/>
                <a:cs typeface="IBM Plex Sans" pitchFamily="34" charset="-120"/>
              </a:rPr>
              <a:t>Pas de stock moyen : la couverture est calculée sur l'ensemble de la période.</a:t>
            </a:r>
            <a:endParaRPr lang="en-US" sz="1300" dirty="0"/>
          </a:p>
        </p:txBody>
      </p:sp>
      <p:sp>
        <p:nvSpPr>
          <p:cNvPr id="10" name="Shape 8"/>
          <p:cNvSpPr/>
          <p:nvPr/>
        </p:nvSpPr>
        <p:spPr>
          <a:xfrm>
            <a:off x="815975" y="3193306"/>
            <a:ext cx="5200650" cy="1182340"/>
          </a:xfrm>
          <a:prstGeom prst="roundRect">
            <a:avLst>
              <a:gd name="adj" fmla="val 8325"/>
            </a:avLst>
          </a:prstGeom>
          <a:solidFill>
            <a:srgbClr val="FBFCFB"/>
          </a:solidFill>
          <a:ln w="6350">
            <a:solidFill>
              <a:srgbClr val="DCE3E0"/>
            </a:solidFill>
            <a:prstDash val="solid"/>
          </a:ln>
        </p:spPr>
        <p:txBody>
          <a:bodyPr/>
          <a:lstStyle/>
          <a:p>
            <a:endParaRPr lang="fr-FR" dirty="0"/>
          </a:p>
        </p:txBody>
      </p:sp>
      <p:sp>
        <p:nvSpPr>
          <p:cNvPr id="11" name="Text 9"/>
          <p:cNvSpPr/>
          <p:nvPr/>
        </p:nvSpPr>
        <p:spPr>
          <a:xfrm>
            <a:off x="1022350" y="3399681"/>
            <a:ext cx="493153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A2E"/>
                </a:solidFill>
                <a:latin typeface="Rubik" pitchFamily="34" charset="0"/>
                <a:ea typeface="Rubik" pitchFamily="34" charset="-122"/>
                <a:cs typeface="Rubik" pitchFamily="34" charset="-120"/>
              </a:rPr>
              <a:t>Nomenclature </a:t>
            </a:r>
            <a:r>
              <a:rPr lang="en-US" sz="1600" b="1" dirty="0" err="1">
                <a:solidFill>
                  <a:srgbClr val="1F2A2E"/>
                </a:solidFill>
                <a:latin typeface="Rubik" pitchFamily="34" charset="0"/>
                <a:ea typeface="Rubik" pitchFamily="34" charset="-122"/>
                <a:cs typeface="Rubik" pitchFamily="34" charset="-120"/>
              </a:rPr>
              <a:t>manquante</a:t>
            </a:r>
            <a:endParaRPr lang="en-US" sz="1600" dirty="0"/>
          </a:p>
        </p:txBody>
      </p:sp>
      <p:sp>
        <p:nvSpPr>
          <p:cNvPr id="12" name="Text 10"/>
          <p:cNvSpPr/>
          <p:nvPr/>
        </p:nvSpPr>
        <p:spPr>
          <a:xfrm>
            <a:off x="1022350" y="3707011"/>
            <a:ext cx="493153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1"/>
                </a:solidFill>
                <a:latin typeface="IBM Plex Sans" pitchFamily="34" charset="0"/>
                <a:ea typeface="IBM Plex Sans" pitchFamily="34" charset="-122"/>
                <a:cs typeface="IBM Plex Sans" pitchFamily="34" charset="-120"/>
              </a:rPr>
              <a:t>Achats en cartons ou bidons, nomenclature : aucun facteur de conversion disponible.</a:t>
            </a:r>
            <a:endParaRPr lang="en-US" sz="1300" dirty="0"/>
          </a:p>
        </p:txBody>
      </p:sp>
      <p:sp>
        <p:nvSpPr>
          <p:cNvPr id="13" name="Shape 11"/>
          <p:cNvSpPr/>
          <p:nvPr/>
        </p:nvSpPr>
        <p:spPr>
          <a:xfrm>
            <a:off x="6175375" y="3193306"/>
            <a:ext cx="5200650" cy="1182340"/>
          </a:xfrm>
          <a:prstGeom prst="roundRect">
            <a:avLst>
              <a:gd name="adj" fmla="val 8325"/>
            </a:avLst>
          </a:prstGeom>
          <a:solidFill>
            <a:srgbClr val="FBFCFB"/>
          </a:solidFill>
          <a:ln w="6350">
            <a:solidFill>
              <a:srgbClr val="DCE3E0"/>
            </a:solidFill>
            <a:prstDash val="solid"/>
          </a:ln>
        </p:spPr>
        <p:txBody>
          <a:bodyPr/>
          <a:lstStyle/>
          <a:p>
            <a:endParaRPr lang="fr-FR"/>
          </a:p>
        </p:txBody>
      </p:sp>
      <p:sp>
        <p:nvSpPr>
          <p:cNvPr id="14" name="Text 12"/>
          <p:cNvSpPr/>
          <p:nvPr/>
        </p:nvSpPr>
        <p:spPr>
          <a:xfrm>
            <a:off x="6381750" y="3399681"/>
            <a:ext cx="493153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A2E"/>
                </a:solidFill>
                <a:latin typeface="Rubik" pitchFamily="34" charset="0"/>
                <a:ea typeface="Rubik" pitchFamily="34" charset="-122"/>
                <a:cs typeface="Rubik" pitchFamily="34" charset="-120"/>
              </a:rPr>
              <a:t>Périodes décalées</a:t>
            </a:r>
            <a:endParaRPr lang="en-US" sz="1600" dirty="0"/>
          </a:p>
        </p:txBody>
      </p:sp>
      <p:sp>
        <p:nvSpPr>
          <p:cNvPr id="15" name="Text 13"/>
          <p:cNvSpPr/>
          <p:nvPr/>
        </p:nvSpPr>
        <p:spPr>
          <a:xfrm>
            <a:off x="6381750" y="3707011"/>
            <a:ext cx="493153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1"/>
                </a:solidFill>
                <a:latin typeface="IBM Plex Sans" pitchFamily="34" charset="0"/>
                <a:ea typeface="IBM Plex Sans" pitchFamily="34" charset="-122"/>
                <a:cs typeface="IBM Plex Sans" pitchFamily="34" charset="-120"/>
              </a:rPr>
              <a:t>Ventes de mai 2022 à juin 2025, achats jusqu'en septembre 2025 : comparaisons N-1 à période équivalente uniquement.</a:t>
            </a:r>
            <a:endParaRPr lang="en-US" sz="1300" dirty="0"/>
          </a:p>
        </p:txBody>
      </p:sp>
      <p:sp>
        <p:nvSpPr>
          <p:cNvPr id="16" name="Shape 14"/>
          <p:cNvSpPr/>
          <p:nvPr/>
        </p:nvSpPr>
        <p:spPr>
          <a:xfrm>
            <a:off x="812800" y="4632821"/>
            <a:ext cx="10566400" cy="853380"/>
          </a:xfrm>
          <a:prstGeom prst="roundRect">
            <a:avLst>
              <a:gd name="adj" fmla="val 11906"/>
            </a:avLst>
          </a:prstGeom>
          <a:solidFill>
            <a:srgbClr val="1F3B47"/>
          </a:solidFill>
          <a:ln/>
        </p:spPr>
        <p:txBody>
          <a:bodyPr/>
          <a:lstStyle/>
          <a:p>
            <a:endParaRPr lang="fr-FR"/>
          </a:p>
        </p:txBody>
      </p:sp>
      <p:pic>
        <p:nvPicPr>
          <p:cNvPr id="17" name="Image 0" descr="Lightbulb"/>
          <p:cNvPicPr>
            <a:picLocks noChangeAspect="1"/>
          </p:cNvPicPr>
          <p:nvPr/>
        </p:nvPicPr>
        <p:blipFill>
          <a:blip r:embed="rId3"/>
          <a:srcRect/>
          <a:stretch/>
        </p:blipFill>
        <p:spPr>
          <a:xfrm>
            <a:off x="1066800" y="4907111"/>
            <a:ext cx="304800" cy="304800"/>
          </a:xfrm>
          <a:prstGeom prst="rect">
            <a:avLst/>
          </a:prstGeom>
        </p:spPr>
      </p:pic>
      <p:sp>
        <p:nvSpPr>
          <p:cNvPr id="18" name="Text 15"/>
          <p:cNvSpPr/>
          <p:nvPr/>
        </p:nvSpPr>
        <p:spPr>
          <a:xfrm>
            <a:off x="1524000" y="4810621"/>
            <a:ext cx="9889236" cy="52318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4F6F5"/>
                </a:solidFill>
                <a:latin typeface="IBM Plex Sans" pitchFamily="34" charset="0"/>
                <a:ea typeface="IBM Plex Sans" pitchFamily="34" charset="-122"/>
                <a:cs typeface="IBM Plex Sans" pitchFamily="34" charset="-120"/>
              </a:rPr>
              <a:t>Perspectives</a:t>
            </a:r>
            <a:r>
              <a:rPr lang="en-US" sz="1400" dirty="0">
                <a:solidFill>
                  <a:srgbClr val="F4F6F5"/>
                </a:solidFill>
                <a:latin typeface="IBM Plex Sans" pitchFamily="34" charset="0"/>
                <a:ea typeface="IBM Plex Sans" pitchFamily="34" charset="-122"/>
                <a:cs typeface="IBM Plex Sans" pitchFamily="34" charset="-120"/>
              </a:rPr>
              <a:t> : intégrer l'historique des coûts et des facteurs de conversion d'unités pour relier le prix des composants à la marge des vélos.</a:t>
            </a:r>
            <a:endParaRPr lang="en-US" sz="1400" dirty="0"/>
          </a:p>
        </p:txBody>
      </p:sp>
      <p:sp>
        <p:nvSpPr>
          <p:cNvPr id="19" name="Text 1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3"/>
                </a:solidFill>
                <a:latin typeface="IBM Plex Sans" pitchFamily="34" charset="0"/>
                <a:ea typeface="IBM Plex Sans" pitchFamily="34" charset="-122"/>
                <a:cs typeface="IBM Plex Sans" pitchFamily="34" charset="-120"/>
              </a:rPr>
              <a:t>AdventureWorks · Conclusions</a:t>
            </a:r>
            <a:endParaRPr lang="en-US" sz="1200" dirty="0"/>
          </a:p>
        </p:txBody>
      </p:sp>
      <p:sp>
        <p:nvSpPr>
          <p:cNvPr id="20" name="Text 1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B73"/>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E764F4-61C4-75BF-B050-070A20729B21}"/>
              </a:ext>
            </a:extLst>
          </p:cNvPr>
          <p:cNvSpPr>
            <a:spLocks noGrp="1"/>
          </p:cNvSpPr>
          <p:nvPr>
            <p:ph type="title"/>
          </p:nvPr>
        </p:nvSpPr>
        <p:spPr>
          <a:xfrm>
            <a:off x="812800" y="1130300"/>
            <a:ext cx="10566400" cy="495300"/>
          </a:xfrm>
        </p:spPr>
        <p:txBody>
          <a:bodyPr wrap="square" lIns="0" tIns="0" rIns="0" bIns="0" anchor="t">
            <a:noAutofit/>
          </a:bodyPr>
          <a:lstStyle/>
          <a:p>
            <a:pPr marL="0" indent="0" algn="l">
              <a:lnSpc>
                <a:spcPts val="3680"/>
              </a:lnSpc>
              <a:buNone/>
            </a:pPr>
            <a:r>
              <a:rPr lang="fr-FR" sz="3200" b="1" dirty="0">
                <a:solidFill>
                  <a:srgbClr val="1F2A2E"/>
                </a:solidFill>
                <a:latin typeface="Rubik" pitchFamily="34" charset="0"/>
                <a:ea typeface="Rubik" pitchFamily="34" charset="-122"/>
                <a:cs typeface="Rubik" pitchFamily="34" charset="-120"/>
              </a:rPr>
              <a:t>Réponse à la question centrale</a:t>
            </a:r>
          </a:p>
        </p:txBody>
      </p:sp>
      <p:sp>
        <p:nvSpPr>
          <p:cNvPr id="3" name="Espace réservé du texte 2">
            <a:extLst>
              <a:ext uri="{FF2B5EF4-FFF2-40B4-BE49-F238E27FC236}">
                <a16:creationId xmlns:a16="http://schemas.microsoft.com/office/drawing/2014/main" id="{871C5273-3BD3-13EF-CCCE-4714F7904440}"/>
              </a:ext>
            </a:extLst>
          </p:cNvPr>
          <p:cNvSpPr>
            <a:spLocks noGrp="1"/>
          </p:cNvSpPr>
          <p:nvPr>
            <p:ph type="body" idx="101"/>
          </p:nvPr>
        </p:nvSpPr>
        <p:spPr>
          <a:xfrm>
            <a:off x="812800" y="1803400"/>
            <a:ext cx="10566400" cy="304800"/>
          </a:xfrm>
        </p:spPr>
        <p:txBody>
          <a:bodyPr wrap="square" lIns="0" tIns="0" rIns="0" bIns="0" anchor="t">
            <a:noAutofit/>
          </a:bodyPr>
          <a:lstStyle/>
          <a:p>
            <a:pPr marL="0" indent="0" algn="l">
              <a:lnSpc>
                <a:spcPts val="2000"/>
              </a:lnSpc>
              <a:buNone/>
            </a:pPr>
            <a:r>
              <a:rPr lang="fr-FR" sz="1600" i="1" dirty="0">
                <a:solidFill>
                  <a:srgbClr val="545D60"/>
                </a:solidFill>
                <a:latin typeface="IBM Plex Sans" pitchFamily="34" charset="0"/>
                <a:ea typeface="IBM Plex Sans" pitchFamily="34" charset="-122"/>
                <a:cs typeface="IBM Plex Sans" pitchFamily="34" charset="-120"/>
              </a:rPr>
              <a:t>« Comment la performance des fournisseurs et la rotation des stocks influencent-elles la marge commerciale ? »</a:t>
            </a:r>
          </a:p>
        </p:txBody>
      </p:sp>
      <p:sp>
        <p:nvSpPr>
          <p:cNvPr id="9" name="Text 4">
            <a:extLst>
              <a:ext uri="{FF2B5EF4-FFF2-40B4-BE49-F238E27FC236}">
                <a16:creationId xmlns:a16="http://schemas.microsoft.com/office/drawing/2014/main" id="{EA55EAF2-A7E3-481B-49D5-53C52DB97F33}"/>
              </a:ext>
            </a:extLst>
          </p:cNvPr>
          <p:cNvSpPr/>
          <p:nvPr/>
        </p:nvSpPr>
        <p:spPr>
          <a:xfrm>
            <a:off x="1574800" y="2362200"/>
            <a:ext cx="9804400" cy="609600"/>
          </a:xfrm>
          <a:prstGeom prst="rect">
            <a:avLst/>
          </a:prstGeom>
          <a:noFill/>
          <a:ln/>
        </p:spPr>
        <p:txBody>
          <a:bodyPr wrap="square" lIns="0" tIns="0" rIns="0" bIns="0" rtlCol="0" anchor="ctr">
            <a:noAutofit/>
          </a:bodyPr>
          <a:lstStyle/>
          <a:p>
            <a:pPr marL="0" indent="0" algn="l">
              <a:lnSpc>
                <a:spcPts val="1900"/>
              </a:lnSpc>
              <a:buNone/>
            </a:pPr>
            <a:r>
              <a:rPr lang="fr-FR" sz="1400" b="1" dirty="0">
                <a:solidFill>
                  <a:srgbClr val="1F2A2E"/>
                </a:solidFill>
                <a:latin typeface="IBM Plex Sans" pitchFamily="34" charset="0"/>
                <a:ea typeface="IBM Plex Sans" pitchFamily="34" charset="-122"/>
                <a:cs typeface="IBM Plex Sans" pitchFamily="34" charset="-120"/>
              </a:rPr>
              <a:t>Performance fournisseurs</a:t>
            </a:r>
            <a:r>
              <a:rPr lang="fr-FR" sz="1400" dirty="0">
                <a:solidFill>
                  <a:srgbClr val="1F2A2E"/>
                </a:solidFill>
                <a:latin typeface="IBM Plex Sans" pitchFamily="34" charset="0"/>
                <a:ea typeface="IBM Plex Sans" pitchFamily="34" charset="-122"/>
                <a:cs typeface="IBM Plex Sans" pitchFamily="34" charset="-120"/>
              </a:rPr>
              <a:t> — Délais maîtrisés (9,1 j) ; l’impact passe par le prix d’achat des composants, nettement supérieur au coût standard.</a:t>
            </a:r>
          </a:p>
        </p:txBody>
      </p:sp>
      <p:sp>
        <p:nvSpPr>
          <p:cNvPr id="15" name="Text 8">
            <a:extLst>
              <a:ext uri="{FF2B5EF4-FFF2-40B4-BE49-F238E27FC236}">
                <a16:creationId xmlns:a16="http://schemas.microsoft.com/office/drawing/2014/main" id="{3F55A3AF-051B-07DF-907A-B612923B78E6}"/>
              </a:ext>
            </a:extLst>
          </p:cNvPr>
          <p:cNvSpPr/>
          <p:nvPr/>
        </p:nvSpPr>
        <p:spPr>
          <a:xfrm>
            <a:off x="1574800" y="3175000"/>
            <a:ext cx="9804400" cy="609600"/>
          </a:xfrm>
          <a:prstGeom prst="rect">
            <a:avLst/>
          </a:prstGeom>
          <a:noFill/>
          <a:ln/>
        </p:spPr>
        <p:txBody>
          <a:bodyPr wrap="square" lIns="0" tIns="0" rIns="0" bIns="0" rtlCol="0" anchor="ctr">
            <a:noAutofit/>
          </a:bodyPr>
          <a:lstStyle/>
          <a:p>
            <a:pPr marL="0" indent="0" algn="l">
              <a:lnSpc>
                <a:spcPts val="1900"/>
              </a:lnSpc>
              <a:buNone/>
            </a:pPr>
            <a:r>
              <a:rPr lang="fr-FR" sz="1400" b="1" dirty="0">
                <a:solidFill>
                  <a:srgbClr val="1F2A2E"/>
                </a:solidFill>
                <a:latin typeface="IBM Plex Sans" pitchFamily="34" charset="0"/>
                <a:ea typeface="IBM Plex Sans" pitchFamily="34" charset="-122"/>
                <a:cs typeface="IBM Plex Sans" pitchFamily="34" charset="-120"/>
              </a:rPr>
              <a:t>Rotation des stocks</a:t>
            </a:r>
            <a:r>
              <a:rPr lang="fr-FR" sz="1400" dirty="0">
                <a:solidFill>
                  <a:srgbClr val="1F2A2E"/>
                </a:solidFill>
                <a:latin typeface="IBM Plex Sans" pitchFamily="34" charset="0"/>
                <a:ea typeface="IBM Plex Sans" pitchFamily="34" charset="-122"/>
                <a:cs typeface="IBM Plex Sans" pitchFamily="34" charset="-120"/>
              </a:rPr>
              <a:t> — Les composants cumulent rotation la plus lente (0,8), marge la plus faible (4,2 %) et capital immobilisé (436 j de couverture).</a:t>
            </a:r>
          </a:p>
        </p:txBody>
      </p:sp>
      <p:sp>
        <p:nvSpPr>
          <p:cNvPr id="21" name="Text 12">
            <a:extLst>
              <a:ext uri="{FF2B5EF4-FFF2-40B4-BE49-F238E27FC236}">
                <a16:creationId xmlns:a16="http://schemas.microsoft.com/office/drawing/2014/main" id="{1B6C96EE-548F-CED2-541E-C75A61B651E3}"/>
              </a:ext>
            </a:extLst>
          </p:cNvPr>
          <p:cNvSpPr/>
          <p:nvPr/>
        </p:nvSpPr>
        <p:spPr>
          <a:xfrm>
            <a:off x="1574800" y="3987800"/>
            <a:ext cx="9804400" cy="609600"/>
          </a:xfrm>
          <a:prstGeom prst="rect">
            <a:avLst/>
          </a:prstGeom>
          <a:noFill/>
          <a:ln/>
        </p:spPr>
        <p:txBody>
          <a:bodyPr wrap="square" lIns="0" tIns="0" rIns="0" bIns="0" rtlCol="0" anchor="ctr">
            <a:noAutofit/>
          </a:bodyPr>
          <a:lstStyle/>
          <a:p>
            <a:pPr marL="0" indent="0" algn="l">
              <a:lnSpc>
                <a:spcPts val="1900"/>
              </a:lnSpc>
              <a:buNone/>
            </a:pPr>
            <a:r>
              <a:rPr lang="fr-FR" sz="1400" b="1" dirty="0">
                <a:solidFill>
                  <a:srgbClr val="1F2A2E"/>
                </a:solidFill>
                <a:latin typeface="IBM Plex Sans" pitchFamily="34" charset="0"/>
                <a:ea typeface="IBM Plex Sans" pitchFamily="34" charset="-122"/>
                <a:cs typeface="IBM Plex Sans" pitchFamily="34" charset="-120"/>
              </a:rPr>
              <a:t>Marge commerciale</a:t>
            </a:r>
            <a:r>
              <a:rPr lang="fr-FR" sz="1400" dirty="0">
                <a:solidFill>
                  <a:srgbClr val="1F2A2E"/>
                </a:solidFill>
                <a:latin typeface="IBM Plex Sans" pitchFamily="34" charset="0"/>
                <a:ea typeface="IBM Plex Sans" pitchFamily="34" charset="-122"/>
                <a:cs typeface="IBM Plex Sans" pitchFamily="34" charset="-120"/>
              </a:rPr>
              <a:t> — Les ventes à perte (−5,0 M€) proviennent à 100 % du canal revendeurs, dont 96 % sur les produits fabriqués (vélos).</a:t>
            </a:r>
          </a:p>
        </p:txBody>
      </p:sp>
      <p:sp>
        <p:nvSpPr>
          <p:cNvPr id="22" name="Organigramme : Connecteur 21">
            <a:extLst>
              <a:ext uri="{FF2B5EF4-FFF2-40B4-BE49-F238E27FC236}">
                <a16:creationId xmlns:a16="http://schemas.microsoft.com/office/drawing/2014/main" id="{F91267BA-64A9-7026-3A89-7DB11DB2F4A7}"/>
              </a:ext>
            </a:extLst>
          </p:cNvPr>
          <p:cNvSpPr/>
          <p:nvPr/>
        </p:nvSpPr>
        <p:spPr>
          <a:xfrm>
            <a:off x="812800" y="2413000"/>
            <a:ext cx="508000" cy="508000"/>
          </a:xfrm>
          <a:prstGeom prst="flowChartConnector">
            <a:avLst/>
          </a:prstGeom>
          <a:solidFill>
            <a:srgbClr val="2F5D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Organigramme : Connecteur 23">
            <a:extLst>
              <a:ext uri="{FF2B5EF4-FFF2-40B4-BE49-F238E27FC236}">
                <a16:creationId xmlns:a16="http://schemas.microsoft.com/office/drawing/2014/main" id="{7C888A53-BC4D-3BFA-0D99-74EE7FE2D4AC}"/>
              </a:ext>
            </a:extLst>
          </p:cNvPr>
          <p:cNvSpPr/>
          <p:nvPr/>
        </p:nvSpPr>
        <p:spPr>
          <a:xfrm>
            <a:off x="812800" y="3225800"/>
            <a:ext cx="508000" cy="508000"/>
          </a:xfrm>
          <a:prstGeom prst="flowChartConnector">
            <a:avLst/>
          </a:prstGeom>
          <a:solidFill>
            <a:srgbClr val="2F5D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6" name="Image 1" descr="icon_package.png">
            <a:extLst>
              <a:ext uri="{FF2B5EF4-FFF2-40B4-BE49-F238E27FC236}">
                <a16:creationId xmlns:a16="http://schemas.microsoft.com/office/drawing/2014/main" id="{6F1DF7A4-E214-2999-7EBD-10E8EFF89579}"/>
              </a:ext>
            </a:extLst>
          </p:cNvPr>
          <p:cNvPicPr>
            <a:picLocks noChangeAspect="1"/>
          </p:cNvPicPr>
          <p:nvPr/>
        </p:nvPicPr>
        <p:blipFill>
          <a:blip r:embed="rId2"/>
          <a:stretch>
            <a:fillRect/>
          </a:stretch>
        </p:blipFill>
        <p:spPr>
          <a:xfrm>
            <a:off x="927100" y="3340100"/>
            <a:ext cx="279400" cy="279400"/>
          </a:xfrm>
          <a:prstGeom prst="rect">
            <a:avLst/>
          </a:prstGeom>
        </p:spPr>
      </p:pic>
      <p:sp>
        <p:nvSpPr>
          <p:cNvPr id="28" name="Organigramme : Connecteur 27">
            <a:extLst>
              <a:ext uri="{FF2B5EF4-FFF2-40B4-BE49-F238E27FC236}">
                <a16:creationId xmlns:a16="http://schemas.microsoft.com/office/drawing/2014/main" id="{9894A1CB-551E-A35B-6B35-A5921F95F219}"/>
              </a:ext>
            </a:extLst>
          </p:cNvPr>
          <p:cNvSpPr/>
          <p:nvPr/>
        </p:nvSpPr>
        <p:spPr>
          <a:xfrm>
            <a:off x="812800" y="4038600"/>
            <a:ext cx="508000" cy="508000"/>
          </a:xfrm>
          <a:prstGeom prst="flowChartConnector">
            <a:avLst/>
          </a:prstGeom>
          <a:solidFill>
            <a:srgbClr val="2F5D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 name="Image 2" descr="icon_trenddown.png">
            <a:extLst>
              <a:ext uri="{FF2B5EF4-FFF2-40B4-BE49-F238E27FC236}">
                <a16:creationId xmlns:a16="http://schemas.microsoft.com/office/drawing/2014/main" id="{96AF44E5-E630-9538-05E2-83EB3B712035}"/>
              </a:ext>
            </a:extLst>
          </p:cNvPr>
          <p:cNvPicPr>
            <a:picLocks noChangeAspect="1"/>
          </p:cNvPicPr>
          <p:nvPr/>
        </p:nvPicPr>
        <p:blipFill>
          <a:blip r:embed="rId3"/>
          <a:stretch>
            <a:fillRect/>
          </a:stretch>
        </p:blipFill>
        <p:spPr>
          <a:xfrm>
            <a:off x="927100" y="4152900"/>
            <a:ext cx="279400" cy="279400"/>
          </a:xfrm>
          <a:prstGeom prst="rect">
            <a:avLst/>
          </a:prstGeom>
        </p:spPr>
      </p:pic>
      <p:pic>
        <p:nvPicPr>
          <p:cNvPr id="32" name="Image 0" descr="icon_users.png">
            <a:extLst>
              <a:ext uri="{FF2B5EF4-FFF2-40B4-BE49-F238E27FC236}">
                <a16:creationId xmlns:a16="http://schemas.microsoft.com/office/drawing/2014/main" id="{098E82CA-7747-1B34-F5A6-10F52D94C520}"/>
              </a:ext>
            </a:extLst>
          </p:cNvPr>
          <p:cNvPicPr>
            <a:picLocks noChangeAspect="1"/>
          </p:cNvPicPr>
          <p:nvPr/>
        </p:nvPicPr>
        <p:blipFill>
          <a:blip r:embed="rId4"/>
          <a:stretch>
            <a:fillRect/>
          </a:stretch>
        </p:blipFill>
        <p:spPr>
          <a:xfrm>
            <a:off x="927100" y="2527300"/>
            <a:ext cx="279400" cy="279400"/>
          </a:xfrm>
          <a:prstGeom prst="rect">
            <a:avLst/>
          </a:prstGeom>
        </p:spPr>
      </p:pic>
      <p:sp>
        <p:nvSpPr>
          <p:cNvPr id="35" name="Rectangle 34">
            <a:extLst>
              <a:ext uri="{FF2B5EF4-FFF2-40B4-BE49-F238E27FC236}">
                <a16:creationId xmlns:a16="http://schemas.microsoft.com/office/drawing/2014/main" id="{2E7B3468-9F8A-26B6-CC09-70D2FE0AE3F0}"/>
              </a:ext>
            </a:extLst>
          </p:cNvPr>
          <p:cNvSpPr/>
          <p:nvPr/>
        </p:nvSpPr>
        <p:spPr>
          <a:xfrm>
            <a:off x="812800" y="4775200"/>
            <a:ext cx="10566400" cy="1143000"/>
          </a:xfrm>
          <a:prstGeom prst="rect">
            <a:avLst/>
          </a:prstGeom>
          <a:solidFill>
            <a:srgbClr val="1F3B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6" name="ZoneTexte 35">
            <a:extLst>
              <a:ext uri="{FF2B5EF4-FFF2-40B4-BE49-F238E27FC236}">
                <a16:creationId xmlns:a16="http://schemas.microsoft.com/office/drawing/2014/main" id="{FF8E70CF-4FC5-BA13-94F9-8E9F74A743A0}"/>
              </a:ext>
            </a:extLst>
          </p:cNvPr>
          <p:cNvSpPr txBox="1"/>
          <p:nvPr/>
        </p:nvSpPr>
        <p:spPr>
          <a:xfrm>
            <a:off x="1066800" y="4927600"/>
            <a:ext cx="10058400" cy="838200"/>
          </a:xfrm>
          <a:prstGeom prst="rect">
            <a:avLst/>
          </a:prstGeom>
          <a:noFill/>
        </p:spPr>
        <p:txBody>
          <a:bodyPr wrap="square" lIns="0" tIns="0" rIns="0" bIns="0" rtlCol="0" anchor="ctr">
            <a:noAutofit/>
          </a:bodyPr>
          <a:lstStyle/>
          <a:p>
            <a:pPr marL="0" indent="0" algn="l">
              <a:lnSpc>
                <a:spcPts val="2000"/>
              </a:lnSpc>
              <a:buNone/>
            </a:pPr>
            <a:r>
              <a:rPr lang="fr-FR" sz="1400" b="1" dirty="0">
                <a:solidFill>
                  <a:srgbClr val="F4F6F5"/>
                </a:solidFill>
                <a:latin typeface="IBM Plex Sans" pitchFamily="34" charset="0"/>
                <a:ea typeface="IBM Plex Sans" pitchFamily="34" charset="-122"/>
                <a:cs typeface="IBM Plex Sans" pitchFamily="34" charset="-120"/>
              </a:rPr>
              <a:t>La marge est détruite par deux mécanismes distincts : </a:t>
            </a:r>
            <a:r>
              <a:rPr lang="fr-FR" sz="1400" dirty="0">
                <a:solidFill>
                  <a:srgbClr val="F4F6F5"/>
                </a:solidFill>
                <a:latin typeface="IBM Plex Sans" pitchFamily="34" charset="0"/>
                <a:ea typeface="IBM Plex Sans" pitchFamily="34" charset="-122"/>
                <a:cs typeface="IBM Plex Sans" pitchFamily="34" charset="-120"/>
              </a:rPr>
              <a:t>(1) côté vente, des prix revendeurs inférieurs au coût standard (−5,0 M€, dont 96 % sur les produits fabriqués, principalement les vélos) ; (2) côté achat, des prix d’achat des composants largement supérieurs au coût standard, qui rendent leur revente déficitaire au coût réel.</a:t>
            </a:r>
          </a:p>
        </p:txBody>
      </p:sp>
      <p:sp>
        <p:nvSpPr>
          <p:cNvPr id="60"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D6E"/>
                </a:solidFill>
                <a:latin typeface="IBM Plex Sans" pitchFamily="34" charset="0"/>
                <a:ea typeface="IBM Plex Sans" pitchFamily="34" charset="-122"/>
                <a:cs typeface="IBM Plex Sans" pitchFamily="34" charset="-120"/>
              </a:rPr>
              <a:t>SYNTHÈSE</a:t>
            </a:r>
            <a:endParaRPr lang="en-US" sz="1200" dirty="0"/>
          </a:p>
        </p:txBody>
      </p:sp>
      <p:sp>
        <p:nvSpPr>
          <p:cNvPr id="61" name="Text 1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3"/>
                </a:solidFill>
                <a:latin typeface="IBM Plex Sans" pitchFamily="34" charset="0"/>
                <a:ea typeface="IBM Plex Sans" pitchFamily="34" charset="-122"/>
                <a:cs typeface="IBM Plex Sans" pitchFamily="34" charset="-120"/>
              </a:rPr>
              <a:t>AdventureWorks · Conclusions</a:t>
            </a:r>
            <a:endParaRPr lang="en-US" sz="1200" dirty="0"/>
          </a:p>
        </p:txBody>
      </p:sp>
      <p:sp>
        <p:nvSpPr>
          <p:cNvPr id="62" name="Text 1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B73"/>
                </a:solidFill>
                <a:latin typeface="IBM Plex Sans" pitchFamily="34" charset="0"/>
                <a:ea typeface="IBM Plex Sans" pitchFamily="34" charset="-122"/>
                <a:cs typeface="IBM Plex Sans" pitchFamily="34" charset="-120"/>
              </a:rPr>
              <a:t>19</a:t>
            </a:r>
            <a:endParaRPr lang="en-US" sz="1200" dirty="0"/>
          </a:p>
        </p:txBody>
      </p:sp>
    </p:spTree>
    <p:extLst>
      <p:ext uri="{BB962C8B-B14F-4D97-AF65-F5344CB8AC3E}">
        <p14:creationId xmlns:p14="http://schemas.microsoft.com/office/powerpoint/2010/main" val="1160205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F3B47"/>
        </a:solidFill>
        <a:effectLst/>
      </p:bgPr>
    </p:bg>
    <p:spTree>
      <p:nvGrpSpPr>
        <p:cNvPr id="1" name=""/>
        <p:cNvGrpSpPr/>
        <p:nvPr/>
      </p:nvGrpSpPr>
      <p:grpSpPr>
        <a:xfrm>
          <a:off x="0" y="0"/>
          <a:ext cx="0" cy="0"/>
          <a:chOff x="0" y="0"/>
          <a:chExt cx="0" cy="0"/>
        </a:xfrm>
      </p:grpSpPr>
      <p:sp>
        <p:nvSpPr>
          <p:cNvPr id="2" name="Shape 0"/>
          <p:cNvSpPr/>
          <p:nvPr/>
        </p:nvSpPr>
        <p:spPr>
          <a:xfrm>
            <a:off x="812800" y="812800"/>
            <a:ext cx="762000" cy="50800"/>
          </a:xfrm>
          <a:prstGeom prst="roundRect">
            <a:avLst>
              <a:gd name="adj" fmla="val 50000"/>
            </a:avLst>
          </a:prstGeom>
          <a:solidFill>
            <a:srgbClr val="7DBE9A"/>
          </a:solidFill>
          <a:ln/>
        </p:spPr>
        <p:txBody>
          <a:bodyPr/>
          <a:lstStyle/>
          <a:p>
            <a:endParaRPr lang="fr-FR"/>
          </a:p>
        </p:txBody>
      </p:sp>
      <p:sp>
        <p:nvSpPr>
          <p:cNvPr id="3" name="Text 1"/>
          <p:cNvSpPr>
            <a:spLocks noGrp="1"/>
          </p:cNvSpPr>
          <p:nvPr>
            <p:ph type="title"/>
          </p:nvPr>
        </p:nvSpPr>
        <p:spPr>
          <a:xfrm>
            <a:off x="812800" y="2440980"/>
            <a:ext cx="10883392" cy="863600"/>
          </a:xfrm>
          <a:prstGeom prst="rect">
            <a:avLst/>
          </a:prstGeom>
          <a:noFill/>
          <a:ln/>
        </p:spPr>
        <p:txBody>
          <a:bodyPr wrap="square" lIns="0" tIns="0" rIns="0" bIns="0" rtlCol="0" anchor="t">
            <a:normAutofit/>
          </a:bodyPr>
          <a:lstStyle/>
          <a:p>
            <a:pPr marL="0" indent="0" algn="l">
              <a:lnSpc>
                <a:spcPts val="6600"/>
              </a:lnSpc>
              <a:buNone/>
            </a:pPr>
            <a:r>
              <a:rPr lang="en-US" sz="6000" b="1" i="0" dirty="0">
                <a:solidFill>
                  <a:srgbClr val="F4F6F5"/>
                </a:solidFill>
                <a:latin typeface="Rubik" pitchFamily="34" charset="0"/>
                <a:ea typeface="Rubik" pitchFamily="34" charset="-122"/>
                <a:cs typeface="Rubik" pitchFamily="34" charset="-120"/>
              </a:rPr>
              <a:t>Merci </a:t>
            </a:r>
            <a:r>
              <a:rPr lang="fr-FR" sz="6000" b="1" i="0" dirty="0">
                <a:solidFill>
                  <a:srgbClr val="F4F6F5"/>
                </a:solidFill>
                <a:latin typeface="Rubik" pitchFamily="34" charset="0"/>
                <a:ea typeface="Rubik" pitchFamily="34" charset="-122"/>
                <a:cs typeface="Rubik" pitchFamily="34" charset="-120"/>
              </a:rPr>
              <a:t>à tous</a:t>
            </a:r>
            <a:endParaRPr lang="en-US" sz="6000" dirty="0"/>
          </a:p>
        </p:txBody>
      </p:sp>
      <p:sp>
        <p:nvSpPr>
          <p:cNvPr id="4" name="Text 2"/>
          <p:cNvSpPr/>
          <p:nvPr/>
        </p:nvSpPr>
        <p:spPr>
          <a:xfrm>
            <a:off x="812800" y="3431580"/>
            <a:ext cx="10883392" cy="452090"/>
          </a:xfrm>
          <a:prstGeom prst="rect">
            <a:avLst/>
          </a:prstGeom>
          <a:noFill/>
          <a:ln/>
        </p:spPr>
        <p:txBody>
          <a:bodyPr wrap="square" lIns="0" tIns="0" rIns="0" bIns="0" rtlCol="0" anchor="t">
            <a:normAutofit/>
          </a:bodyPr>
          <a:lstStyle/>
          <a:p>
            <a:pPr marL="0" indent="0" algn="l">
              <a:lnSpc>
                <a:spcPts val="3360"/>
              </a:lnSpc>
              <a:buNone/>
            </a:pPr>
            <a:endParaRPr lang="en-US" sz="2400" dirty="0"/>
          </a:p>
        </p:txBody>
      </p:sp>
      <p:sp>
        <p:nvSpPr>
          <p:cNvPr id="5" name="Text 3"/>
          <p:cNvSpPr/>
          <p:nvPr/>
        </p:nvSpPr>
        <p:spPr>
          <a:xfrm>
            <a:off x="812800" y="543565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4F6F5"/>
                </a:solidFill>
                <a:latin typeface="IBM Plex Sans" pitchFamily="34" charset="0"/>
                <a:ea typeface="IBM Plex Sans" pitchFamily="34" charset="-122"/>
                <a:cs typeface="IBM Plex Sans" pitchFamily="34" charset="-120"/>
              </a:rPr>
              <a:t>Xiaoqing ZHOU GRANDCOING</a:t>
            </a:r>
            <a:endParaRPr lang="en-US" sz="1600" dirty="0"/>
          </a:p>
        </p:txBody>
      </p:sp>
      <p:sp>
        <p:nvSpPr>
          <p:cNvPr id="6" name="Text 4"/>
          <p:cNvSpPr/>
          <p:nvPr/>
        </p:nvSpPr>
        <p:spPr>
          <a:xfrm>
            <a:off x="812800" y="5796310"/>
            <a:ext cx="10883392" cy="274290"/>
          </a:xfrm>
          <a:prstGeom prst="rect">
            <a:avLst/>
          </a:prstGeom>
          <a:noFill/>
          <a:ln/>
        </p:spPr>
        <p:txBody>
          <a:bodyPr wrap="square" lIns="0" tIns="0" rIns="0" bIns="0" rtlCol="0" anchor="t">
            <a:normAutofit/>
          </a:bodyPr>
          <a:lstStyle/>
          <a:p>
            <a:pPr>
              <a:lnSpc>
                <a:spcPts val="1960"/>
              </a:lnSpc>
            </a:pPr>
            <a:r>
              <a:rPr lang="en-US" sz="1400" dirty="0" err="1">
                <a:solidFill>
                  <a:srgbClr val="BFD8D5"/>
                </a:solidFill>
                <a:latin typeface="IBM Plex Sans" pitchFamily="34" charset="0"/>
              </a:rPr>
              <a:t>Portefolio</a:t>
            </a:r>
            <a:r>
              <a:rPr lang="en-US" sz="1400" dirty="0">
                <a:solidFill>
                  <a:srgbClr val="BFD8D5"/>
                </a:solidFill>
                <a:latin typeface="IBM Plex Sans" pitchFamily="34" charset="0"/>
              </a:rPr>
              <a:t> : https://xiaoqinggdc.github.io/</a:t>
            </a:r>
            <a:endParaRPr lang="en-US" sz="1400" dirty="0"/>
          </a:p>
        </p:txBody>
      </p:sp>
    </p:spTree>
  </p:cSld>
  <p:clrMapOvr>
    <a:masterClrMapping/>
  </p:clrMapOvr>
</p:sld>
</file>

<file path=ppt/theme/theme1.xml><?xml version="1.0" encoding="utf-8"?>
<a:theme xmlns:a="http://schemas.openxmlformats.org/drawingml/2006/main" name="Soutenance AdventureWorks">
  <a:themeElements>
    <a:clrScheme name="Soutenance AdventureWorks">
      <a:dk1>
        <a:srgbClr val="1F2A2E"/>
      </a:dk1>
      <a:lt1>
        <a:srgbClr val="F4F6F5"/>
      </a:lt1>
      <a:dk2>
        <a:srgbClr val="545D60"/>
      </a:dk2>
      <a:lt2>
        <a:srgbClr val="DFE2E1"/>
      </a:lt2>
      <a:accent1>
        <a:srgbClr val="2F5D6E"/>
      </a:accent1>
      <a:accent2>
        <a:srgbClr val="1F3B47"/>
      </a:accent2>
      <a:accent3>
        <a:srgbClr val="7DBE9A"/>
      </a:accent3>
      <a:accent4>
        <a:srgbClr val="C0504D"/>
      </a:accent4>
      <a:accent5>
        <a:srgbClr val="A33E3B"/>
      </a:accent5>
      <a:accent6>
        <a:srgbClr val="4A5A61"/>
      </a:accent6>
      <a:hlink>
        <a:srgbClr val="0563C1"/>
      </a:hlink>
      <a:folHlink>
        <a:srgbClr val="954F72"/>
      </a:folHlink>
    </a:clrScheme>
    <a:fontScheme name="Soutenance AdventureWorks">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F528ECA-4B34-4A8A-984F-C963C4E83B8C}">
  <we:reference id="wa200010725" version="1.0.0.1" store="en-US" storeType="OMEX"/>
  <we:alternateReferences>
    <we:reference id="wa200010725" version="1.0.0.1" store="en-US" storeType="OMEX"/>
  </we:alternateReferences>
  <we:properties>
    <we:property name="claude.fileId" value="&quot;ef50f183-ead3-4ce3-8000-eed2aae1c7c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523</TotalTime>
  <Words>3207</Words>
  <Application>Microsoft Office PowerPoint</Application>
  <PresentationFormat>Grand écran</PresentationFormat>
  <Paragraphs>378</Paragraphs>
  <Slides>19</Slides>
  <Notes>18</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19</vt:i4>
      </vt:variant>
    </vt:vector>
  </HeadingPairs>
  <TitlesOfParts>
    <vt:vector size="23" baseType="lpstr">
      <vt:lpstr>Rubik</vt:lpstr>
      <vt:lpstr>Arial</vt:lpstr>
      <vt:lpstr>IBM Plex Sans</vt:lpstr>
      <vt:lpstr>Soutenance AdventureWorks</vt:lpstr>
      <vt:lpstr>Performance fournisseurs,  rotation des stocks et marge commerciale</vt:lpstr>
      <vt:lpstr>« Comment la performance des fournisseurs et la rotation des stocks influencent-elles la marge commerciale, de l'achat jusqu'à la vente ? »</vt:lpstr>
      <vt:lpstr>Sept étapes, de la question à la décision</vt:lpstr>
      <vt:lpstr>AdventureWorks 2025 : 15 tables, 3 domaines</vt:lpstr>
      <vt:lpstr>Un pipeline 100 % local, du CSV au dashboard</vt:lpstr>
      <vt:lpstr>504 produits, 4 flux différents</vt:lpstr>
      <vt:lpstr>Un modèle en constellation centré sur le produit </vt:lpstr>
      <vt:lpstr>Six indicateurs pour suivre la chaîne</vt:lpstr>
      <vt:lpstr>Quatre pages, une question par page</vt:lpstr>
      <vt:lpstr>Des délais stables, une qualité inégale</vt:lpstr>
      <vt:lpstr>Un stock lourd qui tourne lentement</vt:lpstr>
      <vt:lpstr>Un gros chiffre d'affaires, une marge fine</vt:lpstr>
      <vt:lpstr>Le prix d'achat réel érode la marge</vt:lpstr>
      <vt:lpstr>Ce qui pèse vraiment sur la marge</vt:lpstr>
      <vt:lpstr>Quatre actions prioritaires</vt:lpstr>
      <vt:lpstr>104 fournisseurs, cinq segments</vt:lpstr>
      <vt:lpstr>Ce que les données ne permettent pas encore</vt:lpstr>
      <vt:lpstr>Réponse à la question centrale</vt:lpstr>
      <vt:lpstr>Merci à tous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AdventureWorks</dc:title>
  <dc:subject/>
  <dc:creator>Xiaoqing Grandcoing</dc:creator>
  <cp:lastModifiedBy>Xiaoqing Grandcoing</cp:lastModifiedBy>
  <cp:revision>14</cp:revision>
  <dcterms:created xsi:type="dcterms:W3CDTF">2026-10-11T21:50:27Z</dcterms:created>
  <dcterms:modified xsi:type="dcterms:W3CDTF">2026-10-15T07:59:02Z</dcterms:modified>
</cp:coreProperties>
</file>